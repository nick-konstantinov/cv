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</p:sldIdLst>
  <p:sldSz cx="4203700" cy="6775450"/>
  <p:notesSz cx="4203700" cy="67754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14801" y="2074799"/>
            <a:ext cx="3567747" cy="14055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29602" y="3748024"/>
            <a:ext cx="2938145" cy="16732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5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4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5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209867" y="1539367"/>
            <a:ext cx="1825847" cy="44173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2161635" y="1539367"/>
            <a:ext cx="1825847" cy="44173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5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98854" y="203053"/>
            <a:ext cx="2381885" cy="5314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422247" y="3291527"/>
            <a:ext cx="2448560" cy="16725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1427099" y="6224397"/>
            <a:ext cx="1343152" cy="334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209867" y="6224397"/>
            <a:ext cx="965390" cy="334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3022092" y="6224397"/>
            <a:ext cx="965390" cy="334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hyperlink" Target="mailto:dkranprom@mail.ru" TargetMode="External"/><Relationship Id="rId4" Type="http://schemas.openxmlformats.org/officeDocument/2006/relationships/hyperlink" Target="mailto:prompodgotovka@mail.ru" TargetMode="External"/><Relationship Id="rId5" Type="http://schemas.openxmlformats.org/officeDocument/2006/relationships/image" Target="../media/image2.png"/><Relationship Id="rId6" Type="http://schemas.openxmlformats.org/officeDocument/2006/relationships/hyperlink" Target="https://maps.app.goo.gl/7D56cp5SSvFk8hJo9" TargetMode="External"/><Relationship Id="rId7" Type="http://schemas.openxmlformats.org/officeDocument/2006/relationships/hyperlink" Target="mailto:nick.konstantinov.job@gmail.com" TargetMode="External"/><Relationship Id="rId8" Type="http://schemas.openxmlformats.org/officeDocument/2006/relationships/hyperlink" Target="https://t.me/nick_konstantinov" TargetMode="External"/><Relationship Id="rId9" Type="http://schemas.openxmlformats.org/officeDocument/2006/relationships/hyperlink" Target="https://www.linkedin.com/in/mikita-kanstantsinau-81b656262/" TargetMode="External"/><Relationship Id="rId10" Type="http://schemas.openxmlformats.org/officeDocument/2006/relationships/hyperlink" Target="https://github.com/nick-konstantinov" TargetMode="External"/><Relationship Id="rId11" Type="http://schemas.openxmlformats.org/officeDocument/2006/relationships/image" Target="../media/image3.png"/><Relationship Id="rId12" Type="http://schemas.openxmlformats.org/officeDocument/2006/relationships/image" Target="../media/image4.png"/><Relationship Id="rId13" Type="http://schemas.openxmlformats.org/officeDocument/2006/relationships/image" Target="../media/image5.png"/><Relationship Id="rId14" Type="http://schemas.openxmlformats.org/officeDocument/2006/relationships/image" Target="../media/image6.png"/><Relationship Id="rId15" Type="http://schemas.openxmlformats.org/officeDocument/2006/relationships/image" Target="../media/image7.pn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image10.png"/><Relationship Id="rId19" Type="http://schemas.openxmlformats.org/officeDocument/2006/relationships/image" Target="../media/image11.png"/><Relationship Id="rId20" Type="http://schemas.openxmlformats.org/officeDocument/2006/relationships/image" Target="../media/image12.png"/><Relationship Id="rId21" Type="http://schemas.openxmlformats.org/officeDocument/2006/relationships/hyperlink" Target="https://nick-konstantinov.github.io/Shelter/pages/main/index.html" TargetMode="External"/><Relationship Id="rId22" Type="http://schemas.openxmlformats.org/officeDocument/2006/relationships/image" Target="../media/image13.png"/><Relationship Id="rId23" Type="http://schemas.openxmlformats.org/officeDocument/2006/relationships/hyperlink" Target="https://nick-konstantinov.github.io/Blub/" TargetMode="External"/><Relationship Id="rId24" Type="http://schemas.openxmlformats.org/officeDocument/2006/relationships/image" Target="../media/image14.png"/><Relationship Id="rId25" Type="http://schemas.openxmlformats.org/officeDocument/2006/relationships/hyperlink" Target="https://nick-konstantinov.github.io/Book-shop/index.html" TargetMode="External"/><Relationship Id="rId26" Type="http://schemas.openxmlformats.org/officeDocument/2006/relationships/image" Target="../media/image15.png"/><Relationship Id="rId27" Type="http://schemas.openxmlformats.org/officeDocument/2006/relationships/hyperlink" Target="https://nick-konstantinov.github.io/English-for-kids/task-2-english-for-kids/index.html" TargetMode="External"/><Relationship Id="rId28" Type="http://schemas.openxmlformats.org/officeDocument/2006/relationships/image" Target="../media/image16.png"/><Relationship Id="rId29" Type="http://schemas.openxmlformats.org/officeDocument/2006/relationships/hyperlink" Target="https://nick-konstantinov.github.io/Shopping-list/" TargetMode="External"/><Relationship Id="rId30" Type="http://schemas.openxmlformats.org/officeDocument/2006/relationships/image" Target="../media/image17.png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hyperlink" Target="mailto:dkranprom@mail.ru" TargetMode="External"/><Relationship Id="rId4" Type="http://schemas.openxmlformats.org/officeDocument/2006/relationships/hyperlink" Target="mailto:prompodgotovka@mail.ru" TargetMode="External"/><Relationship Id="rId5" Type="http://schemas.openxmlformats.org/officeDocument/2006/relationships/image" Target="../media/image19.png"/><Relationship Id="rId6" Type="http://schemas.openxmlformats.org/officeDocument/2006/relationships/hyperlink" Target="https://maps.app.goo.gl/7D56cp5SSvFk8hJo9" TargetMode="External"/><Relationship Id="rId7" Type="http://schemas.openxmlformats.org/officeDocument/2006/relationships/hyperlink" Target="mailto:nick.konstantinov.job@gmail.com" TargetMode="External"/><Relationship Id="rId8" Type="http://schemas.openxmlformats.org/officeDocument/2006/relationships/hyperlink" Target="https://t.me/nick_konstantinov" TargetMode="External"/><Relationship Id="rId9" Type="http://schemas.openxmlformats.org/officeDocument/2006/relationships/hyperlink" Target="https://www.linkedin.com/in/mikita-kanstantsinau-81b656262/" TargetMode="External"/><Relationship Id="rId10" Type="http://schemas.openxmlformats.org/officeDocument/2006/relationships/hyperlink" Target="https://github.com/nick-konstantinov" TargetMode="External"/><Relationship Id="rId11" Type="http://schemas.openxmlformats.org/officeDocument/2006/relationships/image" Target="../media/image3.png"/><Relationship Id="rId12" Type="http://schemas.openxmlformats.org/officeDocument/2006/relationships/image" Target="../media/image4.png"/><Relationship Id="rId13" Type="http://schemas.openxmlformats.org/officeDocument/2006/relationships/image" Target="../media/image5.png"/><Relationship Id="rId14" Type="http://schemas.openxmlformats.org/officeDocument/2006/relationships/image" Target="../media/image6.png"/><Relationship Id="rId15" Type="http://schemas.openxmlformats.org/officeDocument/2006/relationships/image" Target="../media/image7.pn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image10.png"/><Relationship Id="rId19" Type="http://schemas.openxmlformats.org/officeDocument/2006/relationships/image" Target="../media/image11.png"/><Relationship Id="rId20" Type="http://schemas.openxmlformats.org/officeDocument/2006/relationships/image" Target="../media/image12.png"/><Relationship Id="rId21" Type="http://schemas.openxmlformats.org/officeDocument/2006/relationships/hyperlink" Target="https://nick-konstantinov.github.io/Shelter/pages/main/index.html" TargetMode="External"/><Relationship Id="rId22" Type="http://schemas.openxmlformats.org/officeDocument/2006/relationships/image" Target="../media/image20.png"/><Relationship Id="rId23" Type="http://schemas.openxmlformats.org/officeDocument/2006/relationships/hyperlink" Target="https://nick-konstantinov.github.io/Blub/" TargetMode="External"/><Relationship Id="rId24" Type="http://schemas.openxmlformats.org/officeDocument/2006/relationships/image" Target="../media/image21.png"/><Relationship Id="rId25" Type="http://schemas.openxmlformats.org/officeDocument/2006/relationships/hyperlink" Target="https://nick-konstantinov.github.io/Book-shop/index.html" TargetMode="External"/><Relationship Id="rId26" Type="http://schemas.openxmlformats.org/officeDocument/2006/relationships/image" Target="../media/image22.png"/><Relationship Id="rId27" Type="http://schemas.openxmlformats.org/officeDocument/2006/relationships/hyperlink" Target="https://nick-konstantinov.github.io/English-for-kids/task-2-english-for-kids/index.html" TargetMode="External"/><Relationship Id="rId28" Type="http://schemas.openxmlformats.org/officeDocument/2006/relationships/image" Target="../media/image23.png"/><Relationship Id="rId29" Type="http://schemas.openxmlformats.org/officeDocument/2006/relationships/hyperlink" Target="https://nick-konstantinov.github.io/Shopping-list/" TargetMode="External"/><Relationship Id="rId30" Type="http://schemas.openxmlformats.org/officeDocument/2006/relationships/image" Target="../media/image24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"/>
          <p:cNvSpPr/>
          <p:nvPr/>
        </p:nvSpPr>
        <p:spPr>
          <a:xfrm>
            <a:off x="-2209" y="-1333"/>
            <a:ext cx="4201160" cy="6695440"/>
          </a:xfrm>
          <a:custGeom>
            <a:avLst/>
            <a:gdLst/>
            <a:ahLst/>
            <a:cxnLst/>
            <a:rect l="l" t="t" r="r" b="b"/>
            <a:pathLst>
              <a:path w="4201160" h="6695440">
                <a:moveTo>
                  <a:pt x="4198213" y="0"/>
                </a:moveTo>
                <a:lnTo>
                  <a:pt x="2768" y="0"/>
                </a:lnTo>
                <a:lnTo>
                  <a:pt x="1866" y="368"/>
                </a:lnTo>
                <a:lnTo>
                  <a:pt x="381" y="1854"/>
                </a:lnTo>
                <a:lnTo>
                  <a:pt x="0" y="2768"/>
                </a:lnTo>
                <a:lnTo>
                  <a:pt x="0" y="6691007"/>
                </a:lnTo>
                <a:lnTo>
                  <a:pt x="0" y="6692061"/>
                </a:lnTo>
                <a:lnTo>
                  <a:pt x="381" y="6692963"/>
                </a:lnTo>
                <a:lnTo>
                  <a:pt x="1866" y="6694462"/>
                </a:lnTo>
                <a:lnTo>
                  <a:pt x="2768" y="6694830"/>
                </a:lnTo>
                <a:lnTo>
                  <a:pt x="4198213" y="6694830"/>
                </a:lnTo>
                <a:lnTo>
                  <a:pt x="4199115" y="6694462"/>
                </a:lnTo>
                <a:lnTo>
                  <a:pt x="4200613" y="6692963"/>
                </a:lnTo>
                <a:lnTo>
                  <a:pt x="4200982" y="6692061"/>
                </a:lnTo>
                <a:lnTo>
                  <a:pt x="4200982" y="2768"/>
                </a:lnTo>
                <a:lnTo>
                  <a:pt x="4200613" y="1854"/>
                </a:lnTo>
                <a:lnTo>
                  <a:pt x="4199115" y="368"/>
                </a:lnTo>
                <a:lnTo>
                  <a:pt x="4198213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3" name="object 3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167" y="4646467"/>
            <a:ext cx="87838" cy="87838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167" y="4860335"/>
            <a:ext cx="87838" cy="87838"/>
          </a:xfrm>
          <a:prstGeom prst="rect">
            <a:avLst/>
          </a:prstGeom>
        </p:spPr>
      </p:pic>
      <p:sp>
        <p:nvSpPr>
          <p:cNvPr id="5" name="object 5" descr=""/>
          <p:cNvSpPr txBox="1"/>
          <p:nvPr/>
        </p:nvSpPr>
        <p:spPr>
          <a:xfrm>
            <a:off x="61468" y="4458091"/>
            <a:ext cx="932180" cy="58356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212725">
              <a:lnSpc>
                <a:spcPct val="100000"/>
              </a:lnSpc>
              <a:spcBef>
                <a:spcPts val="90"/>
              </a:spcBef>
            </a:pPr>
            <a:r>
              <a:rPr dirty="0" sz="850" spc="-10" b="1">
                <a:latin typeface="Tahoma"/>
                <a:cs typeface="Tahoma"/>
              </a:rPr>
              <a:t>LANGUAGES</a:t>
            </a:r>
            <a:endParaRPr sz="850">
              <a:latin typeface="Tahoma"/>
              <a:cs typeface="Tahoma"/>
            </a:endParaRPr>
          </a:p>
          <a:p>
            <a:pPr marL="107950">
              <a:lnSpc>
                <a:spcPct val="100000"/>
              </a:lnSpc>
              <a:spcBef>
                <a:spcPts val="434"/>
              </a:spcBef>
            </a:pPr>
            <a:r>
              <a:rPr dirty="0" sz="450" spc="-10" b="1">
                <a:latin typeface="Tahoma"/>
                <a:cs typeface="Tahoma"/>
              </a:rPr>
              <a:t>English: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dirty="0" sz="450" spc="-65">
                <a:latin typeface="Verdana"/>
                <a:cs typeface="Verdana"/>
              </a:rPr>
              <a:t>B1</a:t>
            </a:r>
            <a:r>
              <a:rPr dirty="0" sz="450" spc="-4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(Intermediate)</a:t>
            </a:r>
            <a:endParaRPr sz="450">
              <a:latin typeface="Verdana"/>
              <a:cs typeface="Verdana"/>
            </a:endParaRPr>
          </a:p>
          <a:p>
            <a:pPr marL="107950">
              <a:lnSpc>
                <a:spcPct val="100000"/>
              </a:lnSpc>
              <a:spcBef>
                <a:spcPts val="420"/>
              </a:spcBef>
            </a:pPr>
            <a:r>
              <a:rPr dirty="0" sz="450" spc="-10" b="1">
                <a:latin typeface="Tahoma"/>
                <a:cs typeface="Tahoma"/>
              </a:rPr>
              <a:t>Russian: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 sz="450" spc="-10">
                <a:latin typeface="Verdana"/>
                <a:cs typeface="Verdana"/>
              </a:rPr>
              <a:t>Native</a:t>
            </a:r>
            <a:endParaRPr sz="450">
              <a:latin typeface="Verdana"/>
              <a:cs typeface="Verdana"/>
            </a:endParaRPr>
          </a:p>
        </p:txBody>
      </p:sp>
      <p:sp>
        <p:nvSpPr>
          <p:cNvPr id="6" name="object 6" descr=""/>
          <p:cNvSpPr/>
          <p:nvPr/>
        </p:nvSpPr>
        <p:spPr>
          <a:xfrm>
            <a:off x="1258087" y="1048905"/>
            <a:ext cx="4445" cy="5492115"/>
          </a:xfrm>
          <a:custGeom>
            <a:avLst/>
            <a:gdLst/>
            <a:ahLst/>
            <a:cxnLst/>
            <a:rect l="l" t="t" r="r" b="b"/>
            <a:pathLst>
              <a:path w="4444" h="5492115">
                <a:moveTo>
                  <a:pt x="3819" y="0"/>
                </a:moveTo>
                <a:lnTo>
                  <a:pt x="0" y="0"/>
                </a:lnTo>
                <a:lnTo>
                  <a:pt x="0" y="5491822"/>
                </a:lnTo>
                <a:lnTo>
                  <a:pt x="3819" y="5491822"/>
                </a:lnTo>
                <a:lnTo>
                  <a:pt x="38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 descr=""/>
          <p:cNvSpPr txBox="1"/>
          <p:nvPr/>
        </p:nvSpPr>
        <p:spPr>
          <a:xfrm>
            <a:off x="1325587" y="973385"/>
            <a:ext cx="2780665" cy="1372235"/>
          </a:xfrm>
          <a:prstGeom prst="rect">
            <a:avLst/>
          </a:prstGeom>
        </p:spPr>
        <p:txBody>
          <a:bodyPr wrap="square" lIns="0" tIns="4762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dirty="0" sz="850" spc="-10" b="1">
                <a:latin typeface="Tahoma"/>
                <a:cs typeface="Tahoma"/>
              </a:rPr>
              <a:t>PROFILE</a:t>
            </a:r>
            <a:endParaRPr sz="850">
              <a:latin typeface="Tahoma"/>
              <a:cs typeface="Tahoma"/>
            </a:endParaRPr>
          </a:p>
          <a:p>
            <a:pPr marL="12700" marR="5080">
              <a:lnSpc>
                <a:spcPct val="122500"/>
              </a:lnSpc>
              <a:spcBef>
                <a:spcPts val="70"/>
              </a:spcBef>
            </a:pPr>
            <a:r>
              <a:rPr dirty="0" sz="450">
                <a:latin typeface="Verdana"/>
                <a:cs typeface="Verdana"/>
              </a:rPr>
              <a:t>Hello,</a:t>
            </a:r>
            <a:r>
              <a:rPr dirty="0" sz="450" spc="5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I´m</a:t>
            </a:r>
            <a:r>
              <a:rPr dirty="0" sz="450" spc="7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</a:t>
            </a:r>
            <a:r>
              <a:rPr dirty="0" sz="450" spc="4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software</a:t>
            </a:r>
            <a:r>
              <a:rPr dirty="0" sz="450" spc="9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development</a:t>
            </a:r>
            <a:r>
              <a:rPr dirty="0" sz="450" spc="10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engineer.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I´m</a:t>
            </a:r>
            <a:r>
              <a:rPr dirty="0" sz="450" spc="7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interested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in</a:t>
            </a:r>
            <a:r>
              <a:rPr dirty="0" sz="450" spc="8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animating</a:t>
            </a:r>
            <a:r>
              <a:rPr dirty="0" sz="450" spc="7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static</a:t>
            </a:r>
            <a:r>
              <a:rPr dirty="0" sz="450" spc="7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artists`</a:t>
            </a:r>
            <a:r>
              <a:rPr dirty="0" sz="450" spc="90">
                <a:latin typeface="Verdana"/>
                <a:cs typeface="Verdana"/>
              </a:rPr>
              <a:t> </a:t>
            </a:r>
            <a:r>
              <a:rPr dirty="0" sz="450" spc="-25">
                <a:latin typeface="Verdana"/>
                <a:cs typeface="Verdana"/>
              </a:rPr>
              <a:t>or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designers`</a:t>
            </a:r>
            <a:r>
              <a:rPr dirty="0" sz="450" spc="8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templates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to</a:t>
            </a:r>
            <a:r>
              <a:rPr dirty="0" sz="450" spc="70">
                <a:latin typeface="Verdana"/>
                <a:cs typeface="Verdana"/>
              </a:rPr>
              <a:t> </a:t>
            </a:r>
            <a:r>
              <a:rPr dirty="0" sz="450" spc="-20">
                <a:latin typeface="Verdana"/>
                <a:cs typeface="Verdana"/>
              </a:rPr>
              <a:t>life.</a:t>
            </a:r>
            <a:r>
              <a:rPr dirty="0" sz="450" spc="5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And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 spc="-45">
                <a:latin typeface="Verdana"/>
                <a:cs typeface="Verdana"/>
              </a:rPr>
              <a:t>I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also</a:t>
            </a:r>
            <a:r>
              <a:rPr dirty="0" sz="450" spc="7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enjoy</a:t>
            </a:r>
            <a:r>
              <a:rPr dirty="0" sz="450" spc="9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creating</a:t>
            </a:r>
            <a:r>
              <a:rPr dirty="0" sz="450" spc="7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convenient</a:t>
            </a:r>
            <a:r>
              <a:rPr dirty="0" sz="450" spc="9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and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interactive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interfaces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for</a:t>
            </a:r>
            <a:r>
              <a:rPr dirty="0" sz="450" spc="-1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websites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and</a:t>
            </a:r>
            <a:r>
              <a:rPr dirty="0" sz="450" spc="2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applications.</a:t>
            </a:r>
            <a:endParaRPr sz="450">
              <a:latin typeface="Verdana"/>
              <a:cs typeface="Verdana"/>
            </a:endParaRPr>
          </a:p>
          <a:p>
            <a:pPr marL="12700" marR="86995">
              <a:lnSpc>
                <a:spcPct val="122500"/>
              </a:lnSpc>
              <a:spcBef>
                <a:spcPts val="210"/>
              </a:spcBef>
            </a:pPr>
            <a:r>
              <a:rPr dirty="0" sz="450">
                <a:latin typeface="Verdana"/>
                <a:cs typeface="Verdana"/>
              </a:rPr>
              <a:t>Many</a:t>
            </a:r>
            <a:r>
              <a:rPr dirty="0" sz="450" spc="8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years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of</a:t>
            </a:r>
            <a:r>
              <a:rPr dirty="0" sz="450" spc="4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experience</a:t>
            </a:r>
            <a:r>
              <a:rPr dirty="0" sz="450" spc="9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as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</a:t>
            </a:r>
            <a:r>
              <a:rPr dirty="0" sz="450" spc="4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teacher</a:t>
            </a:r>
            <a:r>
              <a:rPr dirty="0" sz="450" spc="4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allowed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me</a:t>
            </a:r>
            <a:r>
              <a:rPr dirty="0" sz="450" spc="9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to</a:t>
            </a:r>
            <a:r>
              <a:rPr dirty="0" sz="450" spc="7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develop</a:t>
            </a:r>
            <a:r>
              <a:rPr dirty="0" sz="450" spc="7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communication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skills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 spc="-25">
                <a:latin typeface="Verdana"/>
                <a:cs typeface="Verdana"/>
              </a:rPr>
              <a:t>and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the</a:t>
            </a:r>
            <a:r>
              <a:rPr dirty="0" sz="450" spc="6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ability</a:t>
            </a:r>
            <a:r>
              <a:rPr dirty="0" sz="450" spc="6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to</a:t>
            </a:r>
            <a:r>
              <a:rPr dirty="0" sz="450" spc="4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express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my</a:t>
            </a:r>
            <a:r>
              <a:rPr dirty="0" sz="450" spc="6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thoughts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and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ideas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clearly,</a:t>
            </a:r>
            <a:r>
              <a:rPr dirty="0" sz="450" spc="3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and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my</a:t>
            </a:r>
            <a:r>
              <a:rPr dirty="0" sz="450" spc="6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experience</a:t>
            </a:r>
            <a:r>
              <a:rPr dirty="0" sz="450" spc="6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as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an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engineer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allowed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me</a:t>
            </a:r>
            <a:r>
              <a:rPr dirty="0" sz="450" spc="25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to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ﬁnd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effective</a:t>
            </a:r>
            <a:r>
              <a:rPr dirty="0" sz="450" spc="3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solutions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to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complex</a:t>
            </a:r>
            <a:r>
              <a:rPr dirty="0" sz="450" spc="35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problems.</a:t>
            </a:r>
            <a:r>
              <a:rPr dirty="0" sz="450">
                <a:latin typeface="Verdana"/>
                <a:cs typeface="Verdana"/>
              </a:rPr>
              <a:t> As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chief</a:t>
            </a:r>
            <a:r>
              <a:rPr dirty="0" sz="450" spc="-1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engineer,</a:t>
            </a:r>
            <a:r>
              <a:rPr dirty="0" sz="450">
                <a:latin typeface="Verdana"/>
                <a:cs typeface="Verdana"/>
              </a:rPr>
              <a:t> </a:t>
            </a:r>
            <a:r>
              <a:rPr dirty="0" sz="450" spc="-50">
                <a:latin typeface="Verdana"/>
                <a:cs typeface="Verdana"/>
              </a:rPr>
              <a:t>I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successfully</a:t>
            </a:r>
            <a:r>
              <a:rPr dirty="0" sz="450" spc="9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managed</a:t>
            </a:r>
            <a:r>
              <a:rPr dirty="0" sz="450" spc="8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</a:t>
            </a:r>
            <a:r>
              <a:rPr dirty="0" sz="450" spc="4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team</a:t>
            </a:r>
            <a:r>
              <a:rPr dirty="0" sz="450" spc="7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of</a:t>
            </a:r>
            <a:r>
              <a:rPr dirty="0" sz="450" spc="4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specialists,</a:t>
            </a:r>
            <a:r>
              <a:rPr dirty="0" sz="450" spc="6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distributing</a:t>
            </a:r>
            <a:r>
              <a:rPr dirty="0" sz="450" spc="7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tasks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and</a:t>
            </a:r>
            <a:r>
              <a:rPr dirty="0" sz="450" spc="8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responsibilities.</a:t>
            </a:r>
            <a:endParaRPr sz="450">
              <a:latin typeface="Verdana"/>
              <a:cs typeface="Verdana"/>
            </a:endParaRPr>
          </a:p>
          <a:p>
            <a:pPr marL="12700" marR="18415">
              <a:lnSpc>
                <a:spcPct val="122500"/>
              </a:lnSpc>
              <a:spcBef>
                <a:spcPts val="210"/>
              </a:spcBef>
            </a:pPr>
            <a:r>
              <a:rPr dirty="0" sz="450" spc="-45">
                <a:latin typeface="Verdana"/>
                <a:cs typeface="Verdana"/>
              </a:rPr>
              <a:t>I</a:t>
            </a:r>
            <a:r>
              <a:rPr dirty="0" sz="450" spc="5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consider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my</a:t>
            </a:r>
            <a:r>
              <a:rPr dirty="0" sz="450" spc="6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strengths</a:t>
            </a:r>
            <a:r>
              <a:rPr dirty="0" sz="450" spc="5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are</a:t>
            </a:r>
            <a:r>
              <a:rPr dirty="0" sz="450" spc="6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the</a:t>
            </a:r>
            <a:r>
              <a:rPr dirty="0" sz="450" spc="6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ability</a:t>
            </a:r>
            <a:r>
              <a:rPr dirty="0" sz="450" spc="6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to</a:t>
            </a:r>
            <a:r>
              <a:rPr dirty="0" sz="450" spc="4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work</a:t>
            </a:r>
            <a:r>
              <a:rPr dirty="0" sz="450" spc="6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in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team,</a:t>
            </a:r>
            <a:r>
              <a:rPr dirty="0" sz="450" spc="2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involvement</a:t>
            </a:r>
            <a:r>
              <a:rPr dirty="0" sz="450" spc="7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in</a:t>
            </a:r>
            <a:r>
              <a:rPr dirty="0" sz="450" spc="5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the</a:t>
            </a:r>
            <a:r>
              <a:rPr dirty="0" sz="450" spc="6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process</a:t>
            </a:r>
            <a:r>
              <a:rPr dirty="0" sz="450" spc="50">
                <a:latin typeface="Verdana"/>
                <a:cs typeface="Verdana"/>
              </a:rPr>
              <a:t> </a:t>
            </a:r>
            <a:r>
              <a:rPr dirty="0" sz="450" spc="-25">
                <a:latin typeface="Verdana"/>
                <a:cs typeface="Verdana"/>
              </a:rPr>
              <a:t>of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working</a:t>
            </a:r>
            <a:r>
              <a:rPr dirty="0" sz="450" spc="4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on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project</a:t>
            </a:r>
            <a:r>
              <a:rPr dirty="0" sz="450" spc="7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and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the</a:t>
            </a:r>
            <a:r>
              <a:rPr dirty="0" sz="450" spc="6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ability</a:t>
            </a:r>
            <a:r>
              <a:rPr dirty="0" sz="450" spc="6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to</a:t>
            </a:r>
            <a:r>
              <a:rPr dirty="0" sz="450" spc="5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put</a:t>
            </a:r>
            <a:r>
              <a:rPr dirty="0" sz="450" spc="7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myself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in</a:t>
            </a:r>
            <a:r>
              <a:rPr dirty="0" sz="450" spc="6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the</a:t>
            </a:r>
            <a:r>
              <a:rPr dirty="0" sz="450" spc="6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shoes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of</a:t>
            </a:r>
            <a:r>
              <a:rPr dirty="0" sz="450" spc="2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the</a:t>
            </a:r>
            <a:r>
              <a:rPr dirty="0" sz="450" spc="6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customer</a:t>
            </a:r>
            <a:r>
              <a:rPr dirty="0" sz="450" spc="2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or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the</a:t>
            </a:r>
            <a:r>
              <a:rPr dirty="0" sz="450" spc="65">
                <a:latin typeface="Verdana"/>
                <a:cs typeface="Verdana"/>
              </a:rPr>
              <a:t> </a:t>
            </a:r>
            <a:r>
              <a:rPr dirty="0" sz="450" spc="-25">
                <a:latin typeface="Verdana"/>
                <a:cs typeface="Verdana"/>
              </a:rPr>
              <a:t>end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user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in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order</a:t>
            </a:r>
            <a:r>
              <a:rPr dirty="0" sz="450" spc="2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to</a:t>
            </a:r>
            <a:r>
              <a:rPr dirty="0" sz="450" spc="5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improve</a:t>
            </a:r>
            <a:r>
              <a:rPr dirty="0" sz="450" spc="6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the</a:t>
            </a:r>
            <a:r>
              <a:rPr dirty="0" sz="450" spc="6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product</a:t>
            </a:r>
            <a:r>
              <a:rPr dirty="0" sz="450" spc="75">
                <a:latin typeface="Verdana"/>
                <a:cs typeface="Verdana"/>
              </a:rPr>
              <a:t> </a:t>
            </a:r>
            <a:r>
              <a:rPr dirty="0" sz="450" spc="-45">
                <a:latin typeface="Verdana"/>
                <a:cs typeface="Verdana"/>
              </a:rPr>
              <a:t>I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create.</a:t>
            </a:r>
            <a:endParaRPr sz="450">
              <a:latin typeface="Verdana"/>
              <a:cs typeface="Verdana"/>
            </a:endParaRPr>
          </a:p>
          <a:p>
            <a:pPr algn="just" marL="12700" marR="94615">
              <a:lnSpc>
                <a:spcPct val="122500"/>
              </a:lnSpc>
              <a:spcBef>
                <a:spcPts val="210"/>
              </a:spcBef>
            </a:pPr>
            <a:r>
              <a:rPr dirty="0" sz="450" spc="15">
                <a:latin typeface="Verdana"/>
                <a:cs typeface="Verdana"/>
              </a:rPr>
              <a:t>At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 spc="30">
                <a:latin typeface="Verdana"/>
                <a:cs typeface="Verdana"/>
              </a:rPr>
              <a:t>the</a:t>
            </a:r>
            <a:r>
              <a:rPr dirty="0" sz="450" spc="-30">
                <a:latin typeface="Verdana"/>
                <a:cs typeface="Verdana"/>
              </a:rPr>
              <a:t> </a:t>
            </a:r>
            <a:r>
              <a:rPr dirty="0" sz="450" spc="40">
                <a:latin typeface="Verdana"/>
                <a:cs typeface="Verdana"/>
              </a:rPr>
              <a:t>moment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 spc="30">
                <a:latin typeface="Verdana"/>
                <a:cs typeface="Verdana"/>
              </a:rPr>
              <a:t>my</a:t>
            </a:r>
            <a:r>
              <a:rPr dirty="0" sz="450" spc="-30">
                <a:latin typeface="Verdana"/>
                <a:cs typeface="Verdana"/>
              </a:rPr>
              <a:t> </a:t>
            </a:r>
            <a:r>
              <a:rPr dirty="0" sz="450" spc="15">
                <a:latin typeface="Verdana"/>
                <a:cs typeface="Verdana"/>
              </a:rPr>
              <a:t>goal</a:t>
            </a:r>
            <a:r>
              <a:rPr dirty="0" sz="450" spc="-5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is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 spc="25">
                <a:latin typeface="Verdana"/>
                <a:cs typeface="Verdana"/>
              </a:rPr>
              <a:t>to</a:t>
            </a:r>
            <a:r>
              <a:rPr dirty="0" sz="450" spc="-40">
                <a:latin typeface="Verdana"/>
                <a:cs typeface="Verdana"/>
              </a:rPr>
              <a:t> </a:t>
            </a:r>
            <a:r>
              <a:rPr dirty="0" sz="450" spc="35">
                <a:latin typeface="Verdana"/>
                <a:cs typeface="Verdana"/>
              </a:rPr>
              <a:t>become</a:t>
            </a:r>
            <a:r>
              <a:rPr dirty="0" sz="450" spc="-30">
                <a:latin typeface="Verdana"/>
                <a:cs typeface="Verdana"/>
              </a:rPr>
              <a:t> </a:t>
            </a:r>
            <a:r>
              <a:rPr dirty="0" sz="450" spc="5">
                <a:latin typeface="Verdana"/>
                <a:cs typeface="Verdana"/>
              </a:rPr>
              <a:t>a</a:t>
            </a:r>
            <a:r>
              <a:rPr dirty="0" sz="450" spc="-55">
                <a:latin typeface="Verdana"/>
                <a:cs typeface="Verdana"/>
              </a:rPr>
              <a:t> </a:t>
            </a:r>
            <a:r>
              <a:rPr dirty="0" sz="450" spc="15">
                <a:latin typeface="Verdana"/>
                <a:cs typeface="Verdana"/>
              </a:rPr>
              <a:t>successful</a:t>
            </a:r>
            <a:r>
              <a:rPr dirty="0" sz="450" spc="-5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frontend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 spc="25">
                <a:latin typeface="Verdana"/>
                <a:cs typeface="Verdana"/>
              </a:rPr>
              <a:t>developer</a:t>
            </a:r>
            <a:r>
              <a:rPr dirty="0" sz="450" spc="-55">
                <a:latin typeface="Verdana"/>
                <a:cs typeface="Verdana"/>
              </a:rPr>
              <a:t> </a:t>
            </a:r>
            <a:r>
              <a:rPr dirty="0" sz="450" spc="40">
                <a:latin typeface="Verdana"/>
                <a:cs typeface="Verdana"/>
              </a:rPr>
              <a:t>who</a:t>
            </a:r>
            <a:r>
              <a:rPr dirty="0" sz="450" spc="-40">
                <a:latin typeface="Verdana"/>
                <a:cs typeface="Verdana"/>
              </a:rPr>
              <a:t> </a:t>
            </a:r>
            <a:r>
              <a:rPr dirty="0" sz="450" spc="15">
                <a:latin typeface="Verdana"/>
                <a:cs typeface="Verdana"/>
              </a:rPr>
              <a:t>can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handle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25">
                <a:latin typeface="Verdana"/>
                <a:cs typeface="Verdana"/>
              </a:rPr>
              <a:t>complex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tasks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 spc="25">
                <a:latin typeface="Verdana"/>
                <a:cs typeface="Verdana"/>
              </a:rPr>
              <a:t>on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 spc="15">
                <a:latin typeface="Verdana"/>
                <a:cs typeface="Verdana"/>
              </a:rPr>
              <a:t>different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 spc="5">
                <a:latin typeface="Verdana"/>
                <a:cs typeface="Verdana"/>
              </a:rPr>
              <a:t>projects.</a:t>
            </a:r>
            <a:r>
              <a:rPr dirty="0" sz="450" spc="-5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To</a:t>
            </a:r>
            <a:r>
              <a:rPr dirty="0" sz="450" spc="-40">
                <a:latin typeface="Verdana"/>
                <a:cs typeface="Verdana"/>
              </a:rPr>
              <a:t> </a:t>
            </a:r>
            <a:r>
              <a:rPr dirty="0" sz="450" spc="35">
                <a:latin typeface="Verdana"/>
                <a:cs typeface="Verdana"/>
              </a:rPr>
              <a:t>do</a:t>
            </a:r>
            <a:r>
              <a:rPr dirty="0" sz="450" spc="-4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this,</a:t>
            </a:r>
            <a:r>
              <a:rPr dirty="0" sz="450" spc="-50">
                <a:latin typeface="Verdana"/>
                <a:cs typeface="Verdana"/>
              </a:rPr>
              <a:t> </a:t>
            </a:r>
            <a:r>
              <a:rPr dirty="0" sz="450" spc="-45">
                <a:latin typeface="Verdana"/>
                <a:cs typeface="Verdana"/>
              </a:rPr>
              <a:t>I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 spc="25">
                <a:latin typeface="Verdana"/>
                <a:cs typeface="Verdana"/>
              </a:rPr>
              <a:t>continue</a:t>
            </a:r>
            <a:r>
              <a:rPr dirty="0" sz="450" spc="-30">
                <a:latin typeface="Verdana"/>
                <a:cs typeface="Verdana"/>
              </a:rPr>
              <a:t> </a:t>
            </a:r>
            <a:r>
              <a:rPr dirty="0" sz="450" spc="25">
                <a:latin typeface="Verdana"/>
                <a:cs typeface="Verdana"/>
              </a:rPr>
              <a:t>studying</a:t>
            </a:r>
            <a:r>
              <a:rPr dirty="0" sz="450" spc="-40">
                <a:latin typeface="Verdana"/>
                <a:cs typeface="Verdana"/>
              </a:rPr>
              <a:t> </a:t>
            </a:r>
            <a:r>
              <a:rPr dirty="0" sz="450" spc="15">
                <a:latin typeface="Verdana"/>
                <a:cs typeface="Verdana"/>
              </a:rPr>
              <a:t>hard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 spc="25">
                <a:latin typeface="Verdana"/>
                <a:cs typeface="Verdana"/>
              </a:rPr>
              <a:t>and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every</a:t>
            </a:r>
            <a:r>
              <a:rPr dirty="0" sz="450" spc="-3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day</a:t>
            </a:r>
            <a:r>
              <a:rPr dirty="0" sz="450" spc="-30">
                <a:latin typeface="Verdana"/>
                <a:cs typeface="Verdana"/>
              </a:rPr>
              <a:t> </a:t>
            </a:r>
            <a:r>
              <a:rPr dirty="0" sz="450" spc="-45">
                <a:latin typeface="Verdana"/>
                <a:cs typeface="Verdana"/>
              </a:rPr>
              <a:t>I</a:t>
            </a:r>
            <a:r>
              <a:rPr dirty="0" sz="450" spc="-40">
                <a:latin typeface="Verdana"/>
                <a:cs typeface="Verdana"/>
              </a:rPr>
              <a:t> </a:t>
            </a:r>
            <a:r>
              <a:rPr dirty="0" sz="450" spc="5">
                <a:latin typeface="Verdana"/>
                <a:cs typeface="Verdana"/>
              </a:rPr>
              <a:t>learn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 spc="30">
                <a:latin typeface="Verdana"/>
                <a:cs typeface="Verdana"/>
              </a:rPr>
              <a:t>something</a:t>
            </a:r>
            <a:r>
              <a:rPr dirty="0" sz="450" spc="-40">
                <a:latin typeface="Verdana"/>
                <a:cs typeface="Verdana"/>
              </a:rPr>
              <a:t> </a:t>
            </a:r>
            <a:r>
              <a:rPr dirty="0" sz="450" spc="45">
                <a:latin typeface="Verdana"/>
                <a:cs typeface="Verdana"/>
              </a:rPr>
              <a:t>new</a:t>
            </a:r>
            <a:r>
              <a:rPr dirty="0" sz="450" spc="-40">
                <a:latin typeface="Verdana"/>
                <a:cs typeface="Verdana"/>
              </a:rPr>
              <a:t> </a:t>
            </a:r>
            <a:r>
              <a:rPr dirty="0" sz="450" spc="25">
                <a:latin typeface="Verdana"/>
                <a:cs typeface="Verdana"/>
              </a:rPr>
              <a:t>and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 spc="30">
                <a:latin typeface="Verdana"/>
                <a:cs typeface="Verdana"/>
              </a:rPr>
              <a:t>hone</a:t>
            </a:r>
            <a:r>
              <a:rPr dirty="0" sz="450" spc="-30">
                <a:latin typeface="Verdana"/>
                <a:cs typeface="Verdana"/>
              </a:rPr>
              <a:t> </a:t>
            </a:r>
            <a:r>
              <a:rPr dirty="0" sz="450" spc="30">
                <a:latin typeface="Verdana"/>
                <a:cs typeface="Verdana"/>
              </a:rPr>
              <a:t>my</a:t>
            </a:r>
            <a:r>
              <a:rPr dirty="0" sz="450" spc="-30">
                <a:latin typeface="Verdana"/>
                <a:cs typeface="Verdana"/>
              </a:rPr>
              <a:t> </a:t>
            </a:r>
            <a:r>
              <a:rPr dirty="0" sz="450" spc="30">
                <a:latin typeface="Verdana"/>
                <a:cs typeface="Verdana"/>
              </a:rPr>
              <a:t>knowledge</a:t>
            </a:r>
            <a:r>
              <a:rPr dirty="0" sz="450" spc="-30">
                <a:latin typeface="Verdana"/>
                <a:cs typeface="Verdana"/>
              </a:rPr>
              <a:t> </a:t>
            </a:r>
            <a:r>
              <a:rPr dirty="0" sz="450" spc="15">
                <a:latin typeface="Verdana"/>
                <a:cs typeface="Verdana"/>
              </a:rPr>
              <a:t>in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 spc="5">
                <a:latin typeface="Verdana"/>
                <a:cs typeface="Verdana"/>
              </a:rPr>
              <a:t>practice.</a:t>
            </a:r>
            <a:endParaRPr sz="450">
              <a:latin typeface="Verdana"/>
              <a:cs typeface="Verdana"/>
            </a:endParaRPr>
          </a:p>
        </p:txBody>
      </p:sp>
      <p:sp>
        <p:nvSpPr>
          <p:cNvPr id="8" name="object 8" descr=""/>
          <p:cNvSpPr txBox="1"/>
          <p:nvPr/>
        </p:nvSpPr>
        <p:spPr>
          <a:xfrm>
            <a:off x="1325587" y="4908744"/>
            <a:ext cx="1155065" cy="15430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850" b="1">
                <a:latin typeface="Tahoma"/>
                <a:cs typeface="Tahoma"/>
              </a:rPr>
              <a:t>WORK</a:t>
            </a:r>
            <a:r>
              <a:rPr dirty="0" sz="850" spc="195" b="1">
                <a:latin typeface="Tahoma"/>
                <a:cs typeface="Tahoma"/>
              </a:rPr>
              <a:t> </a:t>
            </a:r>
            <a:r>
              <a:rPr dirty="0" sz="850" spc="-10" b="1">
                <a:latin typeface="Tahoma"/>
                <a:cs typeface="Tahoma"/>
              </a:rPr>
              <a:t>EXPERIENCE</a:t>
            </a:r>
            <a:endParaRPr sz="850">
              <a:latin typeface="Tahoma"/>
              <a:cs typeface="Tahoma"/>
            </a:endParaRPr>
          </a:p>
        </p:txBody>
      </p:sp>
      <p:sp>
        <p:nvSpPr>
          <p:cNvPr id="9" name="object 9" descr=""/>
          <p:cNvSpPr txBox="1"/>
          <p:nvPr/>
        </p:nvSpPr>
        <p:spPr>
          <a:xfrm>
            <a:off x="1325587" y="6111752"/>
            <a:ext cx="822960" cy="42989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850" spc="-10" b="1">
                <a:latin typeface="Tahoma"/>
                <a:cs typeface="Tahoma"/>
              </a:rPr>
              <a:t>REFERENCES</a:t>
            </a:r>
            <a:endParaRPr sz="850">
              <a:latin typeface="Tahoma"/>
              <a:cs typeface="Tahoma"/>
            </a:endParaRPr>
          </a:p>
          <a:p>
            <a:pPr marL="20320">
              <a:lnSpc>
                <a:spcPct val="100000"/>
              </a:lnSpc>
              <a:spcBef>
                <a:spcPts val="405"/>
              </a:spcBef>
            </a:pPr>
            <a:r>
              <a:rPr dirty="0" sz="450" b="1">
                <a:latin typeface="Tahoma"/>
                <a:cs typeface="Tahoma"/>
              </a:rPr>
              <a:t>Andrian</a:t>
            </a:r>
            <a:r>
              <a:rPr dirty="0" sz="450" spc="5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Chernenkov</a:t>
            </a:r>
            <a:endParaRPr sz="450">
              <a:latin typeface="Tahoma"/>
              <a:cs typeface="Tahoma"/>
            </a:endParaRPr>
          </a:p>
          <a:p>
            <a:pPr marL="20320">
              <a:lnSpc>
                <a:spcPct val="100000"/>
              </a:lnSpc>
              <a:spcBef>
                <a:spcPts val="100"/>
              </a:spcBef>
            </a:pPr>
            <a:r>
              <a:rPr dirty="0" sz="350">
                <a:latin typeface="Verdana"/>
                <a:cs typeface="Verdana"/>
              </a:rPr>
              <a:t>LLC</a:t>
            </a:r>
            <a:r>
              <a:rPr dirty="0" sz="350" spc="35">
                <a:latin typeface="Verdana"/>
                <a:cs typeface="Verdana"/>
              </a:rPr>
              <a:t> </a:t>
            </a:r>
            <a:r>
              <a:rPr dirty="0" sz="350">
                <a:latin typeface="Verdana"/>
                <a:cs typeface="Verdana"/>
              </a:rPr>
              <a:t>«Prompodgotovka»</a:t>
            </a:r>
            <a:r>
              <a:rPr dirty="0" sz="350" spc="40">
                <a:latin typeface="Verdana"/>
                <a:cs typeface="Verdana"/>
              </a:rPr>
              <a:t> </a:t>
            </a:r>
            <a:r>
              <a:rPr dirty="0" sz="350" spc="-50">
                <a:latin typeface="Verdana"/>
                <a:cs typeface="Verdana"/>
              </a:rPr>
              <a:t>/</a:t>
            </a:r>
            <a:r>
              <a:rPr dirty="0" sz="350" spc="25">
                <a:latin typeface="Verdana"/>
                <a:cs typeface="Verdana"/>
              </a:rPr>
              <a:t> </a:t>
            </a:r>
            <a:r>
              <a:rPr dirty="0" sz="350" spc="-10">
                <a:latin typeface="Verdana"/>
                <a:cs typeface="Verdana"/>
              </a:rPr>
              <a:t>Director</a:t>
            </a:r>
            <a:endParaRPr sz="350">
              <a:latin typeface="Verdana"/>
              <a:cs typeface="Verdana"/>
            </a:endParaRPr>
          </a:p>
          <a:p>
            <a:pPr marL="20320">
              <a:lnSpc>
                <a:spcPct val="100000"/>
              </a:lnSpc>
              <a:spcBef>
                <a:spcPts val="220"/>
              </a:spcBef>
            </a:pPr>
            <a:r>
              <a:rPr dirty="0" sz="400" b="1">
                <a:latin typeface="Tahoma"/>
                <a:cs typeface="Tahoma"/>
              </a:rPr>
              <a:t>Email:</a:t>
            </a:r>
            <a:r>
              <a:rPr dirty="0" sz="400" spc="50" b="1">
                <a:latin typeface="Tahoma"/>
                <a:cs typeface="Tahoma"/>
              </a:rPr>
              <a:t> </a:t>
            </a:r>
            <a:r>
              <a:rPr dirty="0" sz="400" spc="-10">
                <a:latin typeface="Verdana"/>
                <a:cs typeface="Verdana"/>
                <a:hlinkClick r:id="rId3"/>
              </a:rPr>
              <a:t>dkranprom@mail.ru</a:t>
            </a:r>
            <a:endParaRPr sz="400">
              <a:latin typeface="Verdana"/>
              <a:cs typeface="Verdana"/>
            </a:endParaRPr>
          </a:p>
        </p:txBody>
      </p:sp>
      <p:sp>
        <p:nvSpPr>
          <p:cNvPr id="10" name="object 10" descr=""/>
          <p:cNvSpPr txBox="1"/>
          <p:nvPr/>
        </p:nvSpPr>
        <p:spPr>
          <a:xfrm>
            <a:off x="2721461" y="6276925"/>
            <a:ext cx="1116965" cy="264795"/>
          </a:xfrm>
          <a:prstGeom prst="rect">
            <a:avLst/>
          </a:prstGeom>
        </p:spPr>
        <p:txBody>
          <a:bodyPr wrap="square" lIns="0" tIns="266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10"/>
              </a:spcBef>
            </a:pPr>
            <a:r>
              <a:rPr dirty="0" sz="450" b="1">
                <a:latin typeface="Tahoma"/>
                <a:cs typeface="Tahoma"/>
              </a:rPr>
              <a:t>Stanislav</a:t>
            </a:r>
            <a:r>
              <a:rPr dirty="0" sz="450" spc="25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Shevtsov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350">
                <a:latin typeface="Verdana"/>
                <a:cs typeface="Verdana"/>
              </a:rPr>
              <a:t>PEI</a:t>
            </a:r>
            <a:r>
              <a:rPr dirty="0" sz="350" spc="25">
                <a:latin typeface="Verdana"/>
                <a:cs typeface="Verdana"/>
              </a:rPr>
              <a:t> </a:t>
            </a:r>
            <a:r>
              <a:rPr dirty="0" sz="350">
                <a:latin typeface="Verdana"/>
                <a:cs typeface="Verdana"/>
              </a:rPr>
              <a:t>«Prompodgotovka–Obrazovanie»</a:t>
            </a:r>
            <a:r>
              <a:rPr dirty="0" sz="350" spc="25">
                <a:latin typeface="Verdana"/>
                <a:cs typeface="Verdana"/>
              </a:rPr>
              <a:t> </a:t>
            </a:r>
            <a:r>
              <a:rPr dirty="0" sz="350" spc="-50">
                <a:latin typeface="Verdana"/>
                <a:cs typeface="Verdana"/>
              </a:rPr>
              <a:t>/</a:t>
            </a:r>
            <a:r>
              <a:rPr dirty="0" sz="350" spc="15">
                <a:latin typeface="Verdana"/>
                <a:cs typeface="Verdana"/>
              </a:rPr>
              <a:t> </a:t>
            </a:r>
            <a:r>
              <a:rPr dirty="0" sz="350" spc="-10">
                <a:latin typeface="Verdana"/>
                <a:cs typeface="Verdana"/>
              </a:rPr>
              <a:t>Director</a:t>
            </a:r>
            <a:endParaRPr sz="3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dirty="0" sz="400" b="1">
                <a:latin typeface="Tahoma"/>
                <a:cs typeface="Tahoma"/>
              </a:rPr>
              <a:t>Email:</a:t>
            </a:r>
            <a:r>
              <a:rPr dirty="0" sz="400" spc="150" b="1">
                <a:latin typeface="Tahoma"/>
                <a:cs typeface="Tahoma"/>
              </a:rPr>
              <a:t> </a:t>
            </a:r>
            <a:r>
              <a:rPr dirty="0" sz="400" spc="-10">
                <a:latin typeface="Verdana"/>
                <a:cs typeface="Verdana"/>
                <a:hlinkClick r:id="rId4"/>
              </a:rPr>
              <a:t>prompodgotovka@mail.ru</a:t>
            </a:r>
            <a:endParaRPr sz="400">
              <a:latin typeface="Verdana"/>
              <a:cs typeface="Verdana"/>
            </a:endParaRPr>
          </a:p>
        </p:txBody>
      </p:sp>
      <p:pic>
        <p:nvPicPr>
          <p:cNvPr id="11" name="object 11" descr="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2465" y="208563"/>
            <a:ext cx="688044" cy="688044"/>
          </a:xfrm>
          <a:prstGeom prst="rect">
            <a:avLst/>
          </a:prstGeom>
        </p:spPr>
      </p:pic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ts val="1964"/>
              </a:lnSpc>
              <a:spcBef>
                <a:spcPts val="135"/>
              </a:spcBef>
            </a:pPr>
            <a:r>
              <a:rPr dirty="0" spc="85">
                <a:latin typeface="Verdana"/>
                <a:cs typeface="Verdana"/>
              </a:rPr>
              <a:t>MIKITA</a:t>
            </a:r>
          </a:p>
          <a:p>
            <a:pPr marL="16510">
              <a:lnSpc>
                <a:spcPts val="1964"/>
              </a:lnSpc>
              <a:tabLst>
                <a:tab pos="2368550" algn="l"/>
              </a:tabLst>
            </a:pPr>
            <a:r>
              <a:rPr dirty="0" u="sng" spc="204" b="1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KANSTANTSINAU</a:t>
            </a:r>
            <a:r>
              <a:rPr dirty="0" u="sng" b="1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</a:p>
        </p:txBody>
      </p:sp>
      <p:sp>
        <p:nvSpPr>
          <p:cNvPr id="13" name="object 13" descr=""/>
          <p:cNvSpPr txBox="1"/>
          <p:nvPr/>
        </p:nvSpPr>
        <p:spPr>
          <a:xfrm>
            <a:off x="1325587" y="776507"/>
            <a:ext cx="920115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>
                <a:latin typeface="Microsoft Sans Serif"/>
                <a:cs typeface="Microsoft Sans Serif"/>
              </a:rPr>
              <a:t>F</a:t>
            </a:r>
            <a:r>
              <a:rPr dirty="0" sz="450" spc="-35">
                <a:latin typeface="Microsoft Sans Serif"/>
                <a:cs typeface="Microsoft Sans Serif"/>
              </a:rPr>
              <a:t> </a:t>
            </a:r>
            <a:r>
              <a:rPr dirty="0" sz="450" spc="-60">
                <a:latin typeface="Microsoft Sans Serif"/>
                <a:cs typeface="Microsoft Sans Serif"/>
              </a:rPr>
              <a:t>R</a:t>
            </a:r>
            <a:r>
              <a:rPr dirty="0" sz="450" spc="-25">
                <a:latin typeface="Microsoft Sans Serif"/>
                <a:cs typeface="Microsoft Sans Serif"/>
              </a:rPr>
              <a:t> </a:t>
            </a:r>
            <a:r>
              <a:rPr dirty="0" sz="450" spc="60">
                <a:latin typeface="Microsoft Sans Serif"/>
                <a:cs typeface="Microsoft Sans Serif"/>
              </a:rPr>
              <a:t>O</a:t>
            </a:r>
            <a:r>
              <a:rPr dirty="0" sz="450" spc="-10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N</a:t>
            </a:r>
            <a:r>
              <a:rPr dirty="0" sz="450" spc="-30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T</a:t>
            </a:r>
            <a:r>
              <a:rPr dirty="0" sz="450" spc="-10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E</a:t>
            </a:r>
            <a:r>
              <a:rPr dirty="0" sz="450" spc="-30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N</a:t>
            </a:r>
            <a:r>
              <a:rPr dirty="0" sz="450" spc="-30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D</a:t>
            </a:r>
            <a:r>
              <a:rPr dirty="0" sz="450" spc="210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D</a:t>
            </a:r>
            <a:r>
              <a:rPr dirty="0" sz="450" spc="-35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E</a:t>
            </a:r>
            <a:r>
              <a:rPr dirty="0" sz="450" spc="-25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V</a:t>
            </a:r>
            <a:r>
              <a:rPr dirty="0" sz="450" spc="-5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E</a:t>
            </a:r>
            <a:r>
              <a:rPr dirty="0" sz="450" spc="-30">
                <a:latin typeface="Microsoft Sans Serif"/>
                <a:cs typeface="Microsoft Sans Serif"/>
              </a:rPr>
              <a:t> </a:t>
            </a:r>
            <a:r>
              <a:rPr dirty="0" sz="450" spc="65">
                <a:latin typeface="Microsoft Sans Serif"/>
                <a:cs typeface="Microsoft Sans Serif"/>
              </a:rPr>
              <a:t>LO</a:t>
            </a:r>
            <a:r>
              <a:rPr dirty="0" sz="450" spc="-10">
                <a:latin typeface="Microsoft Sans Serif"/>
                <a:cs typeface="Microsoft Sans Serif"/>
              </a:rPr>
              <a:t> </a:t>
            </a:r>
            <a:r>
              <a:rPr dirty="0" sz="450" spc="-30">
                <a:latin typeface="Microsoft Sans Serif"/>
                <a:cs typeface="Microsoft Sans Serif"/>
              </a:rPr>
              <a:t>P</a:t>
            </a:r>
            <a:r>
              <a:rPr dirty="0" sz="450" spc="-25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E</a:t>
            </a:r>
            <a:r>
              <a:rPr dirty="0" sz="450" spc="-30">
                <a:latin typeface="Microsoft Sans Serif"/>
                <a:cs typeface="Microsoft Sans Serif"/>
              </a:rPr>
              <a:t> </a:t>
            </a:r>
            <a:r>
              <a:rPr dirty="0" sz="450" spc="-50">
                <a:latin typeface="Microsoft Sans Serif"/>
                <a:cs typeface="Microsoft Sans Serif"/>
              </a:rPr>
              <a:t>R</a:t>
            </a:r>
            <a:endParaRPr sz="450">
              <a:latin typeface="Microsoft Sans Serif"/>
              <a:cs typeface="Microsoft Sans Serif"/>
            </a:endParaRPr>
          </a:p>
        </p:txBody>
      </p:sp>
      <p:grpSp>
        <p:nvGrpSpPr>
          <p:cNvPr id="14" name="object 14" descr=""/>
          <p:cNvGrpSpPr/>
          <p:nvPr/>
        </p:nvGrpSpPr>
        <p:grpSpPr>
          <a:xfrm>
            <a:off x="3736352" y="93827"/>
            <a:ext cx="321945" cy="153670"/>
            <a:chOff x="3736352" y="93827"/>
            <a:chExt cx="321945" cy="153670"/>
          </a:xfrm>
        </p:grpSpPr>
        <p:sp>
          <p:nvSpPr>
            <p:cNvPr id="15" name="object 15" descr=""/>
            <p:cNvSpPr/>
            <p:nvPr/>
          </p:nvSpPr>
          <p:spPr>
            <a:xfrm>
              <a:off x="3738575" y="96050"/>
              <a:ext cx="149225" cy="149225"/>
            </a:xfrm>
            <a:custGeom>
              <a:avLst/>
              <a:gdLst/>
              <a:ahLst/>
              <a:cxnLst/>
              <a:rect l="l" t="t" r="r" b="b"/>
              <a:pathLst>
                <a:path w="149225" h="149225">
                  <a:moveTo>
                    <a:pt x="79362" y="0"/>
                  </a:moveTo>
                  <a:lnTo>
                    <a:pt x="69583" y="0"/>
                  </a:lnTo>
                  <a:lnTo>
                    <a:pt x="64731" y="469"/>
                  </a:lnTo>
                  <a:lnTo>
                    <a:pt x="29032" y="15265"/>
                  </a:lnTo>
                  <a:lnTo>
                    <a:pt x="3797" y="50495"/>
                  </a:lnTo>
                  <a:lnTo>
                    <a:pt x="0" y="69583"/>
                  </a:lnTo>
                  <a:lnTo>
                    <a:pt x="0" y="79362"/>
                  </a:lnTo>
                  <a:lnTo>
                    <a:pt x="15265" y="119913"/>
                  </a:lnTo>
                  <a:lnTo>
                    <a:pt x="50482" y="145148"/>
                  </a:lnTo>
                  <a:lnTo>
                    <a:pt x="69583" y="148945"/>
                  </a:lnTo>
                  <a:lnTo>
                    <a:pt x="79362" y="148945"/>
                  </a:lnTo>
                  <a:lnTo>
                    <a:pt x="119913" y="133680"/>
                  </a:lnTo>
                  <a:lnTo>
                    <a:pt x="145148" y="98450"/>
                  </a:lnTo>
                  <a:lnTo>
                    <a:pt x="148945" y="79362"/>
                  </a:lnTo>
                  <a:lnTo>
                    <a:pt x="148945" y="74472"/>
                  </a:lnTo>
                  <a:lnTo>
                    <a:pt x="148945" y="69583"/>
                  </a:lnTo>
                  <a:lnTo>
                    <a:pt x="133667" y="29032"/>
                  </a:lnTo>
                  <a:lnTo>
                    <a:pt x="98450" y="3797"/>
                  </a:lnTo>
                  <a:lnTo>
                    <a:pt x="84201" y="469"/>
                  </a:lnTo>
                  <a:lnTo>
                    <a:pt x="79362" y="0"/>
                  </a:lnTo>
                  <a:close/>
                </a:path>
              </a:pathLst>
            </a:custGeom>
            <a:solidFill>
              <a:srgbClr val="30323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 descr=""/>
            <p:cNvSpPr/>
            <p:nvPr/>
          </p:nvSpPr>
          <p:spPr>
            <a:xfrm>
              <a:off x="3738575" y="96050"/>
              <a:ext cx="317500" cy="149225"/>
            </a:xfrm>
            <a:custGeom>
              <a:avLst/>
              <a:gdLst/>
              <a:ahLst/>
              <a:cxnLst/>
              <a:rect l="l" t="t" r="r" b="b"/>
              <a:pathLst>
                <a:path w="317500" h="149225">
                  <a:moveTo>
                    <a:pt x="148945" y="74472"/>
                  </a:moveTo>
                  <a:lnTo>
                    <a:pt x="148945" y="79362"/>
                  </a:lnTo>
                  <a:lnTo>
                    <a:pt x="148463" y="84201"/>
                  </a:lnTo>
                  <a:lnTo>
                    <a:pt x="147510" y="89001"/>
                  </a:lnTo>
                  <a:lnTo>
                    <a:pt x="146558" y="93789"/>
                  </a:lnTo>
                  <a:lnTo>
                    <a:pt x="145148" y="98450"/>
                  </a:lnTo>
                  <a:lnTo>
                    <a:pt x="143268" y="102971"/>
                  </a:lnTo>
                  <a:lnTo>
                    <a:pt x="141401" y="107492"/>
                  </a:lnTo>
                  <a:lnTo>
                    <a:pt x="115849" y="136385"/>
                  </a:lnTo>
                  <a:lnTo>
                    <a:pt x="111785" y="139103"/>
                  </a:lnTo>
                  <a:lnTo>
                    <a:pt x="79362" y="148945"/>
                  </a:lnTo>
                  <a:lnTo>
                    <a:pt x="74472" y="148945"/>
                  </a:lnTo>
                  <a:lnTo>
                    <a:pt x="69583" y="148945"/>
                  </a:lnTo>
                  <a:lnTo>
                    <a:pt x="64731" y="148463"/>
                  </a:lnTo>
                  <a:lnTo>
                    <a:pt x="59944" y="147510"/>
                  </a:lnTo>
                  <a:lnTo>
                    <a:pt x="55143" y="146558"/>
                  </a:lnTo>
                  <a:lnTo>
                    <a:pt x="33096" y="136385"/>
                  </a:lnTo>
                  <a:lnTo>
                    <a:pt x="29032" y="133680"/>
                  </a:lnTo>
                  <a:lnTo>
                    <a:pt x="5664" y="102971"/>
                  </a:lnTo>
                  <a:lnTo>
                    <a:pt x="1435" y="89001"/>
                  </a:lnTo>
                  <a:lnTo>
                    <a:pt x="469" y="84201"/>
                  </a:lnTo>
                  <a:lnTo>
                    <a:pt x="0" y="79362"/>
                  </a:lnTo>
                  <a:lnTo>
                    <a:pt x="0" y="74472"/>
                  </a:lnTo>
                  <a:lnTo>
                    <a:pt x="0" y="69583"/>
                  </a:lnTo>
                  <a:lnTo>
                    <a:pt x="469" y="64744"/>
                  </a:lnTo>
                  <a:lnTo>
                    <a:pt x="1435" y="59944"/>
                  </a:lnTo>
                  <a:lnTo>
                    <a:pt x="2387" y="55143"/>
                  </a:lnTo>
                  <a:lnTo>
                    <a:pt x="21805" y="21805"/>
                  </a:lnTo>
                  <a:lnTo>
                    <a:pt x="55143" y="2387"/>
                  </a:lnTo>
                  <a:lnTo>
                    <a:pt x="69583" y="0"/>
                  </a:lnTo>
                  <a:lnTo>
                    <a:pt x="74472" y="0"/>
                  </a:lnTo>
                  <a:lnTo>
                    <a:pt x="79362" y="0"/>
                  </a:lnTo>
                  <a:lnTo>
                    <a:pt x="115849" y="12547"/>
                  </a:lnTo>
                  <a:lnTo>
                    <a:pt x="119913" y="15265"/>
                  </a:lnTo>
                  <a:lnTo>
                    <a:pt x="143268" y="45974"/>
                  </a:lnTo>
                  <a:lnTo>
                    <a:pt x="145148" y="50495"/>
                  </a:lnTo>
                  <a:lnTo>
                    <a:pt x="146558" y="55143"/>
                  </a:lnTo>
                  <a:lnTo>
                    <a:pt x="147510" y="59944"/>
                  </a:lnTo>
                  <a:lnTo>
                    <a:pt x="148463" y="64744"/>
                  </a:lnTo>
                  <a:lnTo>
                    <a:pt x="148945" y="69583"/>
                  </a:lnTo>
                  <a:lnTo>
                    <a:pt x="148945" y="74472"/>
                  </a:lnTo>
                  <a:close/>
                </a:path>
                <a:path w="317500" h="149225">
                  <a:moveTo>
                    <a:pt x="316979" y="74472"/>
                  </a:moveTo>
                  <a:lnTo>
                    <a:pt x="316979" y="79362"/>
                  </a:lnTo>
                  <a:lnTo>
                    <a:pt x="316509" y="84201"/>
                  </a:lnTo>
                  <a:lnTo>
                    <a:pt x="301713" y="119913"/>
                  </a:lnTo>
                  <a:lnTo>
                    <a:pt x="295160" y="127127"/>
                  </a:lnTo>
                  <a:lnTo>
                    <a:pt x="291706" y="130581"/>
                  </a:lnTo>
                  <a:lnTo>
                    <a:pt x="287947" y="133680"/>
                  </a:lnTo>
                  <a:lnTo>
                    <a:pt x="283883" y="136385"/>
                  </a:lnTo>
                  <a:lnTo>
                    <a:pt x="279819" y="139103"/>
                  </a:lnTo>
                  <a:lnTo>
                    <a:pt x="257035" y="147510"/>
                  </a:lnTo>
                  <a:lnTo>
                    <a:pt x="252234" y="148463"/>
                  </a:lnTo>
                  <a:lnTo>
                    <a:pt x="247396" y="148945"/>
                  </a:lnTo>
                  <a:lnTo>
                    <a:pt x="242506" y="148945"/>
                  </a:lnTo>
                  <a:lnTo>
                    <a:pt x="237617" y="148945"/>
                  </a:lnTo>
                  <a:lnTo>
                    <a:pt x="201129" y="136385"/>
                  </a:lnTo>
                  <a:lnTo>
                    <a:pt x="197065" y="133680"/>
                  </a:lnTo>
                  <a:lnTo>
                    <a:pt x="193306" y="130581"/>
                  </a:lnTo>
                  <a:lnTo>
                    <a:pt x="189852" y="127127"/>
                  </a:lnTo>
                  <a:lnTo>
                    <a:pt x="186397" y="123672"/>
                  </a:lnTo>
                  <a:lnTo>
                    <a:pt x="183299" y="119913"/>
                  </a:lnTo>
                  <a:lnTo>
                    <a:pt x="180594" y="115849"/>
                  </a:lnTo>
                  <a:lnTo>
                    <a:pt x="177876" y="111772"/>
                  </a:lnTo>
                  <a:lnTo>
                    <a:pt x="175577" y="107492"/>
                  </a:lnTo>
                  <a:lnTo>
                    <a:pt x="173710" y="102971"/>
                  </a:lnTo>
                  <a:lnTo>
                    <a:pt x="171831" y="98450"/>
                  </a:lnTo>
                  <a:lnTo>
                    <a:pt x="170421" y="93789"/>
                  </a:lnTo>
                  <a:lnTo>
                    <a:pt x="169468" y="89001"/>
                  </a:lnTo>
                  <a:lnTo>
                    <a:pt x="168516" y="84201"/>
                  </a:lnTo>
                  <a:lnTo>
                    <a:pt x="168033" y="79362"/>
                  </a:lnTo>
                  <a:lnTo>
                    <a:pt x="168033" y="74472"/>
                  </a:lnTo>
                  <a:lnTo>
                    <a:pt x="168033" y="69583"/>
                  </a:lnTo>
                  <a:lnTo>
                    <a:pt x="168516" y="64744"/>
                  </a:lnTo>
                  <a:lnTo>
                    <a:pt x="169468" y="59944"/>
                  </a:lnTo>
                  <a:lnTo>
                    <a:pt x="170421" y="55143"/>
                  </a:lnTo>
                  <a:lnTo>
                    <a:pt x="171831" y="50495"/>
                  </a:lnTo>
                  <a:lnTo>
                    <a:pt x="173710" y="45974"/>
                  </a:lnTo>
                  <a:lnTo>
                    <a:pt x="175577" y="41452"/>
                  </a:lnTo>
                  <a:lnTo>
                    <a:pt x="177876" y="37160"/>
                  </a:lnTo>
                  <a:lnTo>
                    <a:pt x="180594" y="33096"/>
                  </a:lnTo>
                  <a:lnTo>
                    <a:pt x="183299" y="29032"/>
                  </a:lnTo>
                  <a:lnTo>
                    <a:pt x="214007" y="5664"/>
                  </a:lnTo>
                  <a:lnTo>
                    <a:pt x="237617" y="0"/>
                  </a:lnTo>
                  <a:lnTo>
                    <a:pt x="242506" y="0"/>
                  </a:lnTo>
                  <a:lnTo>
                    <a:pt x="247396" y="0"/>
                  </a:lnTo>
                  <a:lnTo>
                    <a:pt x="283883" y="12547"/>
                  </a:lnTo>
                  <a:lnTo>
                    <a:pt x="295160" y="21805"/>
                  </a:lnTo>
                  <a:lnTo>
                    <a:pt x="298627" y="25273"/>
                  </a:lnTo>
                  <a:lnTo>
                    <a:pt x="301713" y="29032"/>
                  </a:lnTo>
                  <a:lnTo>
                    <a:pt x="304431" y="33096"/>
                  </a:lnTo>
                  <a:lnTo>
                    <a:pt x="307149" y="37160"/>
                  </a:lnTo>
                  <a:lnTo>
                    <a:pt x="316979" y="69583"/>
                  </a:lnTo>
                  <a:lnTo>
                    <a:pt x="316979" y="74472"/>
                  </a:lnTo>
                  <a:close/>
                </a:path>
              </a:pathLst>
            </a:custGeom>
            <a:ln w="3819">
              <a:solidFill>
                <a:srgbClr val="30323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 descr=""/>
          <p:cNvSpPr txBox="1"/>
          <p:nvPr/>
        </p:nvSpPr>
        <p:spPr>
          <a:xfrm>
            <a:off x="3762159" y="123443"/>
            <a:ext cx="272415" cy="90170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00">
                <a:solidFill>
                  <a:srgbClr val="F1F1F1"/>
                </a:solidFill>
                <a:latin typeface="Verdana"/>
                <a:cs typeface="Verdana"/>
              </a:rPr>
              <a:t>EN</a:t>
            </a:r>
            <a:r>
              <a:rPr dirty="0" sz="400" spc="225">
                <a:solidFill>
                  <a:srgbClr val="F1F1F1"/>
                </a:solidFill>
                <a:latin typeface="Verdana"/>
                <a:cs typeface="Verdana"/>
              </a:rPr>
              <a:t>  </a:t>
            </a:r>
            <a:r>
              <a:rPr dirty="0" sz="400" spc="-25">
                <a:latin typeface="Verdana"/>
                <a:cs typeface="Verdana"/>
              </a:rPr>
              <a:t>RU</a:t>
            </a:r>
            <a:endParaRPr sz="400">
              <a:latin typeface="Verdana"/>
              <a:cs typeface="Verdana"/>
            </a:endParaRPr>
          </a:p>
        </p:txBody>
      </p:sp>
      <p:sp>
        <p:nvSpPr>
          <p:cNvPr id="18" name="object 18" descr=""/>
          <p:cNvSpPr txBox="1"/>
          <p:nvPr/>
        </p:nvSpPr>
        <p:spPr>
          <a:xfrm>
            <a:off x="61479" y="1009472"/>
            <a:ext cx="1079500" cy="72136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258445">
              <a:lnSpc>
                <a:spcPct val="100000"/>
              </a:lnSpc>
              <a:spcBef>
                <a:spcPts val="90"/>
              </a:spcBef>
            </a:pPr>
            <a:r>
              <a:rPr dirty="0" sz="850" spc="-10" b="1">
                <a:latin typeface="Tahoma"/>
                <a:cs typeface="Tahoma"/>
              </a:rPr>
              <a:t>CONTACTS</a:t>
            </a:r>
            <a:endParaRPr sz="850">
              <a:latin typeface="Tahoma"/>
              <a:cs typeface="Tahoma"/>
            </a:endParaRPr>
          </a:p>
          <a:p>
            <a:pPr algn="just" marL="12700">
              <a:lnSpc>
                <a:spcPct val="100000"/>
              </a:lnSpc>
              <a:spcBef>
                <a:spcPts val="464"/>
              </a:spcBef>
            </a:pPr>
            <a:r>
              <a:rPr dirty="0" sz="450" spc="10" b="1">
                <a:latin typeface="Tahoma"/>
                <a:cs typeface="Tahoma"/>
              </a:rPr>
              <a:t>Address:</a:t>
            </a:r>
            <a:r>
              <a:rPr dirty="0" sz="450" spc="455" b="1">
                <a:latin typeface="Tahoma"/>
                <a:cs typeface="Tahoma"/>
              </a:rPr>
              <a:t> </a:t>
            </a:r>
            <a:r>
              <a:rPr dirty="0" sz="450" spc="10">
                <a:latin typeface="Verdana"/>
                <a:cs typeface="Verdana"/>
                <a:hlinkClick r:id="rId6"/>
              </a:rPr>
              <a:t>Batumi,</a:t>
            </a:r>
            <a:r>
              <a:rPr dirty="0" sz="450" spc="-25">
                <a:latin typeface="Verdana"/>
                <a:cs typeface="Verdana"/>
                <a:hlinkClick r:id="rId6"/>
              </a:rPr>
              <a:t> </a:t>
            </a:r>
            <a:r>
              <a:rPr dirty="0" sz="450" spc="-10">
                <a:latin typeface="Verdana"/>
                <a:cs typeface="Verdana"/>
                <a:hlinkClick r:id="rId6"/>
              </a:rPr>
              <a:t>Georgia</a:t>
            </a:r>
            <a:endParaRPr sz="450">
              <a:latin typeface="Verdana"/>
              <a:cs typeface="Verdana"/>
            </a:endParaRPr>
          </a:p>
          <a:p>
            <a:pPr algn="just" marL="350520" marR="5080" indent="-338455">
              <a:lnSpc>
                <a:spcPct val="105800"/>
              </a:lnSpc>
              <a:spcBef>
                <a:spcPts val="150"/>
              </a:spcBef>
            </a:pPr>
            <a:r>
              <a:rPr dirty="0" sz="450" b="1">
                <a:latin typeface="Tahoma"/>
                <a:cs typeface="Tahoma"/>
              </a:rPr>
              <a:t>Email:</a:t>
            </a:r>
            <a:r>
              <a:rPr dirty="0" sz="450" spc="495" b="1">
                <a:latin typeface="Tahoma"/>
                <a:cs typeface="Tahoma"/>
              </a:rPr>
              <a:t>  </a:t>
            </a:r>
            <a:r>
              <a:rPr dirty="0" sz="450" spc="-10">
                <a:latin typeface="Verdana"/>
                <a:cs typeface="Verdana"/>
                <a:hlinkClick r:id="rId7"/>
              </a:rPr>
              <a:t>nick.konstantinov.job@</a:t>
            </a:r>
            <a:r>
              <a:rPr dirty="0" sz="450" spc="500">
                <a:latin typeface="Verdana"/>
                <a:cs typeface="Verdana"/>
                <a:hlinkClick r:id="rId7"/>
              </a:rPr>
              <a:t> </a:t>
            </a:r>
            <a:r>
              <a:rPr dirty="0" sz="450" spc="-10">
                <a:latin typeface="Verdana"/>
                <a:cs typeface="Verdana"/>
                <a:hlinkClick r:id="rId7"/>
              </a:rPr>
              <a:t>gmail.com</a:t>
            </a:r>
            <a:endParaRPr sz="450">
              <a:latin typeface="Verdana"/>
              <a:cs typeface="Verdana"/>
            </a:endParaRPr>
          </a:p>
          <a:p>
            <a:pPr algn="just" marL="12700" marR="76200">
              <a:lnSpc>
                <a:spcPct val="133700"/>
              </a:lnSpc>
            </a:pPr>
            <a:r>
              <a:rPr dirty="0" sz="450" b="1">
                <a:latin typeface="Tahoma"/>
                <a:cs typeface="Tahoma"/>
              </a:rPr>
              <a:t>Telegram:</a:t>
            </a:r>
            <a:r>
              <a:rPr dirty="0" sz="450" spc="204" b="1">
                <a:latin typeface="Tahoma"/>
                <a:cs typeface="Tahoma"/>
              </a:rPr>
              <a:t> </a:t>
            </a:r>
            <a:r>
              <a:rPr dirty="0" sz="450" spc="-10">
                <a:latin typeface="Verdana"/>
                <a:cs typeface="Verdana"/>
                <a:hlinkClick r:id="rId8"/>
              </a:rPr>
              <a:t>@nick_konstantinov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 spc="10" b="1">
                <a:latin typeface="Tahoma"/>
                <a:cs typeface="Tahoma"/>
              </a:rPr>
              <a:t>LinkedIn:</a:t>
            </a:r>
            <a:r>
              <a:rPr dirty="0" sz="450" spc="280" b="1">
                <a:latin typeface="Tahoma"/>
                <a:cs typeface="Tahoma"/>
              </a:rPr>
              <a:t> </a:t>
            </a:r>
            <a:r>
              <a:rPr dirty="0" sz="450" spc="10">
                <a:latin typeface="Verdana"/>
                <a:cs typeface="Verdana"/>
                <a:hlinkClick r:id="rId9"/>
              </a:rPr>
              <a:t>Mikita</a:t>
            </a:r>
            <a:r>
              <a:rPr dirty="0" sz="450" spc="-25">
                <a:latin typeface="Verdana"/>
                <a:cs typeface="Verdana"/>
                <a:hlinkClick r:id="rId9"/>
              </a:rPr>
              <a:t> </a:t>
            </a:r>
            <a:r>
              <a:rPr dirty="0" sz="450" spc="-10">
                <a:latin typeface="Verdana"/>
                <a:cs typeface="Verdana"/>
                <a:hlinkClick r:id="rId9"/>
              </a:rPr>
              <a:t>Kanstantsinau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 b="1">
                <a:latin typeface="Tahoma"/>
                <a:cs typeface="Tahoma"/>
              </a:rPr>
              <a:t>GitHub:</a:t>
            </a:r>
            <a:r>
              <a:rPr dirty="0" sz="450" spc="355" b="1">
                <a:latin typeface="Tahoma"/>
                <a:cs typeface="Tahoma"/>
              </a:rPr>
              <a:t>  </a:t>
            </a:r>
            <a:r>
              <a:rPr dirty="0" sz="450">
                <a:latin typeface="Verdana"/>
                <a:cs typeface="Verdana"/>
                <a:hlinkClick r:id="rId10"/>
              </a:rPr>
              <a:t>nick-</a:t>
            </a:r>
            <a:r>
              <a:rPr dirty="0" sz="450" spc="-10">
                <a:latin typeface="Verdana"/>
                <a:cs typeface="Verdana"/>
                <a:hlinkClick r:id="rId10"/>
              </a:rPr>
              <a:t>konstantinov</a:t>
            </a:r>
            <a:endParaRPr sz="450">
              <a:latin typeface="Verdana"/>
              <a:cs typeface="Verdana"/>
            </a:endParaRPr>
          </a:p>
        </p:txBody>
      </p:sp>
      <p:pic>
        <p:nvPicPr>
          <p:cNvPr id="19" name="object 19" descr="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89839" y="1973224"/>
            <a:ext cx="75603" cy="106730"/>
          </a:xfrm>
          <a:prstGeom prst="rect">
            <a:avLst/>
          </a:prstGeom>
        </p:spPr>
      </p:pic>
      <p:sp>
        <p:nvSpPr>
          <p:cNvPr id="20" name="object 20" descr=""/>
          <p:cNvSpPr txBox="1"/>
          <p:nvPr/>
        </p:nvSpPr>
        <p:spPr>
          <a:xfrm>
            <a:off x="187502" y="1784743"/>
            <a:ext cx="827405" cy="28511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66040">
              <a:lnSpc>
                <a:spcPct val="100000"/>
              </a:lnSpc>
              <a:spcBef>
                <a:spcPts val="90"/>
              </a:spcBef>
            </a:pPr>
            <a:r>
              <a:rPr dirty="0" sz="850" b="1">
                <a:latin typeface="Tahoma"/>
                <a:cs typeface="Tahoma"/>
              </a:rPr>
              <a:t>HARD</a:t>
            </a:r>
            <a:r>
              <a:rPr dirty="0" sz="850" spc="130" b="1">
                <a:latin typeface="Tahoma"/>
                <a:cs typeface="Tahoma"/>
              </a:rPr>
              <a:t> </a:t>
            </a:r>
            <a:r>
              <a:rPr dirty="0" sz="850" spc="-10" b="1">
                <a:latin typeface="Tahoma"/>
                <a:cs typeface="Tahoma"/>
              </a:rPr>
              <a:t>SKILLS</a:t>
            </a:r>
            <a:endParaRPr sz="8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dirty="0" sz="450" spc="-10">
                <a:latin typeface="Verdana"/>
                <a:cs typeface="Verdana"/>
              </a:rPr>
              <a:t>HTML5</a:t>
            </a:r>
            <a:endParaRPr sz="450">
              <a:latin typeface="Verdana"/>
              <a:cs typeface="Verdana"/>
            </a:endParaRPr>
          </a:p>
        </p:txBody>
      </p:sp>
      <p:sp>
        <p:nvSpPr>
          <p:cNvPr id="21" name="object 21" descr=""/>
          <p:cNvSpPr txBox="1"/>
          <p:nvPr/>
        </p:nvSpPr>
        <p:spPr>
          <a:xfrm>
            <a:off x="1046797" y="1975692"/>
            <a:ext cx="146685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 spc="-30">
                <a:solidFill>
                  <a:srgbClr val="7F7F7F"/>
                </a:solidFill>
                <a:latin typeface="Verdana"/>
                <a:cs typeface="Verdana"/>
              </a:rPr>
              <a:t>2yr+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22" name="object 22" descr=""/>
          <p:cNvGrpSpPr/>
          <p:nvPr/>
        </p:nvGrpSpPr>
        <p:grpSpPr>
          <a:xfrm>
            <a:off x="74167" y="2102971"/>
            <a:ext cx="1108075" cy="156845"/>
            <a:chOff x="74167" y="2102971"/>
            <a:chExt cx="1108075" cy="156845"/>
          </a:xfrm>
        </p:grpSpPr>
        <p:sp>
          <p:nvSpPr>
            <p:cNvPr id="23" name="object 23" descr=""/>
            <p:cNvSpPr/>
            <p:nvPr/>
          </p:nvSpPr>
          <p:spPr>
            <a:xfrm>
              <a:off x="74167" y="2102971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 descr=""/>
            <p:cNvSpPr/>
            <p:nvPr/>
          </p:nvSpPr>
          <p:spPr>
            <a:xfrm>
              <a:off x="74167" y="2102971"/>
              <a:ext cx="1054100" cy="15875"/>
            </a:xfrm>
            <a:custGeom>
              <a:avLst/>
              <a:gdLst/>
              <a:ahLst/>
              <a:cxnLst/>
              <a:rect l="l" t="t" r="r" b="b"/>
              <a:pathLst>
                <a:path w="1054100" h="15875">
                  <a:moveTo>
                    <a:pt x="1054065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054065" y="15274"/>
                  </a:lnTo>
                  <a:lnTo>
                    <a:pt x="105406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5" name="object 25" descr="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89547" y="2152726"/>
              <a:ext cx="76187" cy="106718"/>
            </a:xfrm>
            <a:prstGeom prst="rect">
              <a:avLst/>
            </a:prstGeom>
          </p:spPr>
        </p:pic>
      </p:grpSp>
      <p:sp>
        <p:nvSpPr>
          <p:cNvPr id="26" name="object 26" descr=""/>
          <p:cNvSpPr txBox="1"/>
          <p:nvPr/>
        </p:nvSpPr>
        <p:spPr>
          <a:xfrm>
            <a:off x="187502" y="2155193"/>
            <a:ext cx="690245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 spc="-35">
                <a:latin typeface="Verdana"/>
                <a:cs typeface="Verdana"/>
              </a:rPr>
              <a:t>CSS3 </a:t>
            </a:r>
            <a:r>
              <a:rPr dirty="0" sz="450" spc="-30">
                <a:latin typeface="Verdana"/>
                <a:cs typeface="Verdana"/>
              </a:rPr>
              <a:t>(SCSS/SASS/LESS)</a:t>
            </a:r>
            <a:endParaRPr sz="450">
              <a:latin typeface="Verdana"/>
              <a:cs typeface="Verdana"/>
            </a:endParaRPr>
          </a:p>
        </p:txBody>
      </p:sp>
      <p:sp>
        <p:nvSpPr>
          <p:cNvPr id="27" name="object 27" descr=""/>
          <p:cNvSpPr txBox="1"/>
          <p:nvPr/>
        </p:nvSpPr>
        <p:spPr>
          <a:xfrm>
            <a:off x="1046797" y="2155193"/>
            <a:ext cx="146685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 spc="-30">
                <a:solidFill>
                  <a:srgbClr val="7F7F7F"/>
                </a:solidFill>
                <a:latin typeface="Verdana"/>
                <a:cs typeface="Verdana"/>
              </a:rPr>
              <a:t>2yr+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28" name="object 28" descr=""/>
          <p:cNvGrpSpPr/>
          <p:nvPr/>
        </p:nvGrpSpPr>
        <p:grpSpPr>
          <a:xfrm>
            <a:off x="74167" y="2282472"/>
            <a:ext cx="1108075" cy="150495"/>
            <a:chOff x="74167" y="2282472"/>
            <a:chExt cx="1108075" cy="150495"/>
          </a:xfrm>
        </p:grpSpPr>
        <p:sp>
          <p:nvSpPr>
            <p:cNvPr id="29" name="object 29" descr=""/>
            <p:cNvSpPr/>
            <p:nvPr/>
          </p:nvSpPr>
          <p:spPr>
            <a:xfrm>
              <a:off x="74167" y="2282472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 descr=""/>
            <p:cNvSpPr/>
            <p:nvPr/>
          </p:nvSpPr>
          <p:spPr>
            <a:xfrm>
              <a:off x="74167" y="2282472"/>
              <a:ext cx="1054100" cy="15875"/>
            </a:xfrm>
            <a:custGeom>
              <a:avLst/>
              <a:gdLst/>
              <a:ahLst/>
              <a:cxnLst/>
              <a:rect l="l" t="t" r="r" b="b"/>
              <a:pathLst>
                <a:path w="1054100" h="15875">
                  <a:moveTo>
                    <a:pt x="1054065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054065" y="15274"/>
                  </a:lnTo>
                  <a:lnTo>
                    <a:pt x="105406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1" name="object 31" descr="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80860" y="2338793"/>
              <a:ext cx="93560" cy="93573"/>
            </a:xfrm>
            <a:prstGeom prst="rect">
              <a:avLst/>
            </a:prstGeom>
          </p:spPr>
        </p:pic>
      </p:grpSp>
      <p:sp>
        <p:nvSpPr>
          <p:cNvPr id="32" name="object 32" descr=""/>
          <p:cNvSpPr txBox="1"/>
          <p:nvPr/>
        </p:nvSpPr>
        <p:spPr>
          <a:xfrm>
            <a:off x="187502" y="2334695"/>
            <a:ext cx="320040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 spc="-10">
                <a:latin typeface="Verdana"/>
                <a:cs typeface="Verdana"/>
              </a:rPr>
              <a:t>JavaScript</a:t>
            </a:r>
            <a:endParaRPr sz="450">
              <a:latin typeface="Verdana"/>
              <a:cs typeface="Verdana"/>
            </a:endParaRPr>
          </a:p>
        </p:txBody>
      </p:sp>
      <p:sp>
        <p:nvSpPr>
          <p:cNvPr id="33" name="object 33" descr=""/>
          <p:cNvSpPr txBox="1"/>
          <p:nvPr/>
        </p:nvSpPr>
        <p:spPr>
          <a:xfrm>
            <a:off x="1020063" y="2334695"/>
            <a:ext cx="173355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 spc="-65">
                <a:solidFill>
                  <a:srgbClr val="7F7F7F"/>
                </a:solidFill>
                <a:latin typeface="Verdana"/>
                <a:cs typeface="Verdana"/>
              </a:rPr>
              <a:t>1.5yr+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34" name="object 34" descr=""/>
          <p:cNvGrpSpPr/>
          <p:nvPr/>
        </p:nvGrpSpPr>
        <p:grpSpPr>
          <a:xfrm>
            <a:off x="74167" y="2461961"/>
            <a:ext cx="1108075" cy="15875"/>
            <a:chOff x="74167" y="2461961"/>
            <a:chExt cx="1108075" cy="15875"/>
          </a:xfrm>
        </p:grpSpPr>
        <p:sp>
          <p:nvSpPr>
            <p:cNvPr id="35" name="object 35" descr=""/>
            <p:cNvSpPr/>
            <p:nvPr/>
          </p:nvSpPr>
          <p:spPr>
            <a:xfrm>
              <a:off x="74167" y="2461961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 descr=""/>
            <p:cNvSpPr/>
            <p:nvPr/>
          </p:nvSpPr>
          <p:spPr>
            <a:xfrm>
              <a:off x="74167" y="2461961"/>
              <a:ext cx="943610" cy="15875"/>
            </a:xfrm>
            <a:custGeom>
              <a:avLst/>
              <a:gdLst/>
              <a:ahLst/>
              <a:cxnLst/>
              <a:rect l="l" t="t" r="r" b="b"/>
              <a:pathLst>
                <a:path w="943610" h="15875">
                  <a:moveTo>
                    <a:pt x="943312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943312" y="15274"/>
                  </a:lnTo>
                  <a:lnTo>
                    <a:pt x="94331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7" name="object 37" descr=""/>
          <p:cNvSpPr txBox="1"/>
          <p:nvPr/>
        </p:nvSpPr>
        <p:spPr>
          <a:xfrm>
            <a:off x="187502" y="2514184"/>
            <a:ext cx="409575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 spc="-10">
                <a:latin typeface="Verdana"/>
                <a:cs typeface="Verdana"/>
              </a:rPr>
              <a:t>TypeScript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 spc="-30">
                <a:latin typeface="Verdana"/>
                <a:cs typeface="Verdana"/>
              </a:rPr>
              <a:t>v.5</a:t>
            </a:r>
            <a:endParaRPr sz="450">
              <a:latin typeface="Verdana"/>
              <a:cs typeface="Verdana"/>
            </a:endParaRPr>
          </a:p>
        </p:txBody>
      </p:sp>
      <p:sp>
        <p:nvSpPr>
          <p:cNvPr id="38" name="object 38" descr=""/>
          <p:cNvSpPr txBox="1"/>
          <p:nvPr/>
        </p:nvSpPr>
        <p:spPr>
          <a:xfrm>
            <a:off x="1000963" y="2514184"/>
            <a:ext cx="192405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 spc="-40">
                <a:solidFill>
                  <a:srgbClr val="7F7F7F"/>
                </a:solidFill>
                <a:latin typeface="Verdana"/>
                <a:cs typeface="Verdana"/>
              </a:rPr>
              <a:t>0.5yr+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39" name="object 39" descr=""/>
          <p:cNvGrpSpPr/>
          <p:nvPr/>
        </p:nvGrpSpPr>
        <p:grpSpPr>
          <a:xfrm>
            <a:off x="74167" y="2515425"/>
            <a:ext cx="1108075" cy="278765"/>
            <a:chOff x="74167" y="2515425"/>
            <a:chExt cx="1108075" cy="278765"/>
          </a:xfrm>
        </p:grpSpPr>
        <p:sp>
          <p:nvSpPr>
            <p:cNvPr id="40" name="object 40" descr=""/>
            <p:cNvSpPr/>
            <p:nvPr/>
          </p:nvSpPr>
          <p:spPr>
            <a:xfrm>
              <a:off x="74167" y="2641463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1" name="object 41" descr="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77990" y="2515425"/>
              <a:ext cx="98717" cy="98717"/>
            </a:xfrm>
            <a:prstGeom prst="rect">
              <a:avLst/>
            </a:prstGeom>
          </p:spPr>
        </p:pic>
        <p:sp>
          <p:nvSpPr>
            <p:cNvPr id="42" name="object 42" descr=""/>
            <p:cNvSpPr/>
            <p:nvPr/>
          </p:nvSpPr>
          <p:spPr>
            <a:xfrm>
              <a:off x="74167" y="2641463"/>
              <a:ext cx="775335" cy="15875"/>
            </a:xfrm>
            <a:custGeom>
              <a:avLst/>
              <a:gdLst/>
              <a:ahLst/>
              <a:cxnLst/>
              <a:rect l="l" t="t" r="r" b="b"/>
              <a:pathLst>
                <a:path w="775335" h="15875">
                  <a:moveTo>
                    <a:pt x="775270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775270" y="15274"/>
                  </a:lnTo>
                  <a:lnTo>
                    <a:pt x="77527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3" name="object 43" descr="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83083" y="2695562"/>
              <a:ext cx="89115" cy="98031"/>
            </a:xfrm>
            <a:prstGeom prst="rect">
              <a:avLst/>
            </a:prstGeom>
          </p:spPr>
        </p:pic>
      </p:grpSp>
      <p:sp>
        <p:nvSpPr>
          <p:cNvPr id="44" name="object 44" descr=""/>
          <p:cNvSpPr txBox="1"/>
          <p:nvPr/>
        </p:nvSpPr>
        <p:spPr>
          <a:xfrm>
            <a:off x="187502" y="2693686"/>
            <a:ext cx="340995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>
                <a:latin typeface="Verdana"/>
                <a:cs typeface="Verdana"/>
              </a:rPr>
              <a:t>Angular</a:t>
            </a:r>
            <a:r>
              <a:rPr dirty="0" sz="450" spc="-10">
                <a:latin typeface="Verdana"/>
                <a:cs typeface="Verdana"/>
              </a:rPr>
              <a:t> </a:t>
            </a:r>
            <a:r>
              <a:rPr dirty="0" sz="450" spc="-35">
                <a:latin typeface="Verdana"/>
                <a:cs typeface="Verdana"/>
              </a:rPr>
              <a:t>v.5</a:t>
            </a:r>
            <a:endParaRPr sz="450">
              <a:latin typeface="Verdana"/>
              <a:cs typeface="Verdana"/>
            </a:endParaRPr>
          </a:p>
        </p:txBody>
      </p:sp>
      <p:sp>
        <p:nvSpPr>
          <p:cNvPr id="45" name="object 45" descr=""/>
          <p:cNvSpPr txBox="1"/>
          <p:nvPr/>
        </p:nvSpPr>
        <p:spPr>
          <a:xfrm>
            <a:off x="1000963" y="2693686"/>
            <a:ext cx="192405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 spc="-40">
                <a:solidFill>
                  <a:srgbClr val="7F7F7F"/>
                </a:solidFill>
                <a:latin typeface="Verdana"/>
                <a:cs typeface="Verdana"/>
              </a:rPr>
              <a:t>0.5yr+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46" name="object 46" descr=""/>
          <p:cNvGrpSpPr/>
          <p:nvPr/>
        </p:nvGrpSpPr>
        <p:grpSpPr>
          <a:xfrm>
            <a:off x="74167" y="2820952"/>
            <a:ext cx="1108075" cy="15875"/>
            <a:chOff x="74167" y="2820952"/>
            <a:chExt cx="1108075" cy="15875"/>
          </a:xfrm>
        </p:grpSpPr>
        <p:sp>
          <p:nvSpPr>
            <p:cNvPr id="47" name="object 47" descr=""/>
            <p:cNvSpPr/>
            <p:nvPr/>
          </p:nvSpPr>
          <p:spPr>
            <a:xfrm>
              <a:off x="74167" y="2820952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 descr=""/>
            <p:cNvSpPr/>
            <p:nvPr/>
          </p:nvSpPr>
          <p:spPr>
            <a:xfrm>
              <a:off x="74167" y="2820952"/>
              <a:ext cx="554355" cy="15875"/>
            </a:xfrm>
            <a:custGeom>
              <a:avLst/>
              <a:gdLst/>
              <a:ahLst/>
              <a:cxnLst/>
              <a:rect l="l" t="t" r="r" b="b"/>
              <a:pathLst>
                <a:path w="554355" h="15875">
                  <a:moveTo>
                    <a:pt x="553764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553764" y="15274"/>
                  </a:lnTo>
                  <a:lnTo>
                    <a:pt x="5537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49" name="object 49" descr="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78625" y="3103562"/>
            <a:ext cx="96329" cy="106934"/>
          </a:xfrm>
          <a:prstGeom prst="rect">
            <a:avLst/>
          </a:prstGeom>
        </p:spPr>
      </p:pic>
      <p:sp>
        <p:nvSpPr>
          <p:cNvPr id="50" name="object 50" descr=""/>
          <p:cNvSpPr txBox="1"/>
          <p:nvPr/>
        </p:nvSpPr>
        <p:spPr>
          <a:xfrm>
            <a:off x="187502" y="2915186"/>
            <a:ext cx="806450" cy="28511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86995">
              <a:lnSpc>
                <a:spcPct val="100000"/>
              </a:lnSpc>
              <a:spcBef>
                <a:spcPts val="90"/>
              </a:spcBef>
            </a:pPr>
            <a:r>
              <a:rPr dirty="0" sz="850" b="1">
                <a:latin typeface="Tahoma"/>
                <a:cs typeface="Tahoma"/>
              </a:rPr>
              <a:t>SOFT</a:t>
            </a:r>
            <a:r>
              <a:rPr dirty="0" sz="850" spc="70" b="1">
                <a:latin typeface="Tahoma"/>
                <a:cs typeface="Tahoma"/>
              </a:rPr>
              <a:t> </a:t>
            </a:r>
            <a:r>
              <a:rPr dirty="0" sz="850" spc="-10" b="1">
                <a:latin typeface="Tahoma"/>
                <a:cs typeface="Tahoma"/>
              </a:rPr>
              <a:t>SKILLS</a:t>
            </a:r>
            <a:endParaRPr sz="8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dirty="0" sz="450">
                <a:latin typeface="Verdana"/>
                <a:cs typeface="Verdana"/>
              </a:rPr>
              <a:t>Webpack</a:t>
            </a:r>
            <a:r>
              <a:rPr dirty="0" sz="450" spc="25">
                <a:latin typeface="Verdana"/>
                <a:cs typeface="Verdana"/>
              </a:rPr>
              <a:t> </a:t>
            </a:r>
            <a:r>
              <a:rPr dirty="0" sz="450" spc="-25">
                <a:latin typeface="Verdana"/>
                <a:cs typeface="Verdana"/>
              </a:rPr>
              <a:t>v.5</a:t>
            </a:r>
            <a:endParaRPr sz="450">
              <a:latin typeface="Verdana"/>
              <a:cs typeface="Verdana"/>
            </a:endParaRPr>
          </a:p>
        </p:txBody>
      </p:sp>
      <p:sp>
        <p:nvSpPr>
          <p:cNvPr id="51" name="object 51" descr=""/>
          <p:cNvSpPr txBox="1"/>
          <p:nvPr/>
        </p:nvSpPr>
        <p:spPr>
          <a:xfrm>
            <a:off x="1062075" y="3106144"/>
            <a:ext cx="131445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 spc="-60">
                <a:solidFill>
                  <a:srgbClr val="7F7F7F"/>
                </a:solidFill>
                <a:latin typeface="Verdana"/>
                <a:cs typeface="Verdana"/>
              </a:rPr>
              <a:t>1yr+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52" name="object 52" descr=""/>
          <p:cNvGrpSpPr/>
          <p:nvPr/>
        </p:nvGrpSpPr>
        <p:grpSpPr>
          <a:xfrm>
            <a:off x="74167" y="3233418"/>
            <a:ext cx="1108075" cy="328930"/>
            <a:chOff x="74167" y="3233418"/>
            <a:chExt cx="1108075" cy="328930"/>
          </a:xfrm>
        </p:grpSpPr>
        <p:sp>
          <p:nvSpPr>
            <p:cNvPr id="53" name="object 53" descr=""/>
            <p:cNvSpPr/>
            <p:nvPr/>
          </p:nvSpPr>
          <p:spPr>
            <a:xfrm>
              <a:off x="74167" y="3233418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1107528" y="15279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 descr=""/>
            <p:cNvSpPr/>
            <p:nvPr/>
          </p:nvSpPr>
          <p:spPr>
            <a:xfrm>
              <a:off x="74167" y="3233418"/>
              <a:ext cx="833119" cy="15875"/>
            </a:xfrm>
            <a:custGeom>
              <a:avLst/>
              <a:gdLst/>
              <a:ahLst/>
              <a:cxnLst/>
              <a:rect l="l" t="t" r="r" b="b"/>
              <a:pathLst>
                <a:path w="833119" h="15875">
                  <a:moveTo>
                    <a:pt x="832554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832554" y="15279"/>
                  </a:lnTo>
                  <a:lnTo>
                    <a:pt x="83255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5" name="object 55" descr="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80200" y="3289096"/>
              <a:ext cx="94869" cy="94869"/>
            </a:xfrm>
            <a:prstGeom prst="rect">
              <a:avLst/>
            </a:prstGeom>
          </p:spPr>
        </p:pic>
        <p:sp>
          <p:nvSpPr>
            <p:cNvPr id="56" name="object 56" descr=""/>
            <p:cNvSpPr/>
            <p:nvPr/>
          </p:nvSpPr>
          <p:spPr>
            <a:xfrm>
              <a:off x="74167" y="3412912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 descr=""/>
            <p:cNvSpPr/>
            <p:nvPr/>
          </p:nvSpPr>
          <p:spPr>
            <a:xfrm>
              <a:off x="74167" y="3412912"/>
              <a:ext cx="996950" cy="15875"/>
            </a:xfrm>
            <a:custGeom>
              <a:avLst/>
              <a:gdLst/>
              <a:ahLst/>
              <a:cxnLst/>
              <a:rect l="l" t="t" r="r" b="b"/>
              <a:pathLst>
                <a:path w="996950" h="15875">
                  <a:moveTo>
                    <a:pt x="996776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996776" y="15274"/>
                  </a:lnTo>
                  <a:lnTo>
                    <a:pt x="9967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8" name="object 58" descr="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81813" y="3470198"/>
              <a:ext cx="91655" cy="91655"/>
            </a:xfrm>
            <a:prstGeom prst="rect">
              <a:avLst/>
            </a:prstGeom>
          </p:spPr>
        </p:pic>
      </p:grpSp>
      <p:sp>
        <p:nvSpPr>
          <p:cNvPr id="59" name="object 59" descr=""/>
          <p:cNvSpPr txBox="1"/>
          <p:nvPr/>
        </p:nvSpPr>
        <p:spPr>
          <a:xfrm>
            <a:off x="187502" y="3285646"/>
            <a:ext cx="1005840" cy="27368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45185" algn="l"/>
              </a:tabLst>
            </a:pPr>
            <a:r>
              <a:rPr dirty="0" sz="450" spc="-20">
                <a:latin typeface="Verdana"/>
                <a:cs typeface="Verdana"/>
              </a:rPr>
              <a:t>Version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control</a:t>
            </a:r>
            <a:r>
              <a:rPr dirty="0" sz="450" spc="1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(Git)</a:t>
            </a:r>
            <a:r>
              <a:rPr dirty="0" sz="450">
                <a:latin typeface="Verdana"/>
                <a:cs typeface="Verdana"/>
              </a:rPr>
              <a:t>	</a:t>
            </a:r>
            <a:r>
              <a:rPr dirty="0" sz="450" spc="-65">
                <a:solidFill>
                  <a:srgbClr val="7F7F7F"/>
                </a:solidFill>
                <a:latin typeface="Verdana"/>
                <a:cs typeface="Verdana"/>
              </a:rPr>
              <a:t>1.5yr+</a:t>
            </a:r>
            <a:endParaRPr sz="45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325"/>
              </a:spcBef>
            </a:pP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dirty="0" sz="450" spc="-10">
                <a:latin typeface="Verdana"/>
                <a:cs typeface="Verdana"/>
              </a:rPr>
              <a:t>Graphics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editors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 spc="-30">
                <a:latin typeface="Verdana"/>
                <a:cs typeface="Verdana"/>
              </a:rPr>
              <a:t>(Ps,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Figma)</a:t>
            </a:r>
            <a:r>
              <a:rPr dirty="0" sz="450" spc="440">
                <a:latin typeface="Verdana"/>
                <a:cs typeface="Verdana"/>
              </a:rPr>
              <a:t> </a:t>
            </a:r>
            <a:r>
              <a:rPr dirty="0" sz="450" spc="-20">
                <a:solidFill>
                  <a:srgbClr val="7F7F7F"/>
                </a:solidFill>
                <a:latin typeface="Verdana"/>
                <a:cs typeface="Verdana"/>
              </a:rPr>
              <a:t>2yr+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60" name="object 60" descr=""/>
          <p:cNvGrpSpPr/>
          <p:nvPr/>
        </p:nvGrpSpPr>
        <p:grpSpPr>
          <a:xfrm>
            <a:off x="74167" y="3592414"/>
            <a:ext cx="1108075" cy="15875"/>
            <a:chOff x="74167" y="3592414"/>
            <a:chExt cx="1108075" cy="15875"/>
          </a:xfrm>
        </p:grpSpPr>
        <p:sp>
          <p:nvSpPr>
            <p:cNvPr id="61" name="object 61" descr=""/>
            <p:cNvSpPr/>
            <p:nvPr/>
          </p:nvSpPr>
          <p:spPr>
            <a:xfrm>
              <a:off x="74167" y="3592414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2" name="object 62" descr=""/>
            <p:cNvSpPr/>
            <p:nvPr/>
          </p:nvSpPr>
          <p:spPr>
            <a:xfrm>
              <a:off x="74167" y="3592414"/>
              <a:ext cx="943610" cy="15875"/>
            </a:xfrm>
            <a:custGeom>
              <a:avLst/>
              <a:gdLst/>
              <a:ahLst/>
              <a:cxnLst/>
              <a:rect l="l" t="t" r="r" b="b"/>
              <a:pathLst>
                <a:path w="943610" h="15875">
                  <a:moveTo>
                    <a:pt x="943312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943312" y="15274"/>
                  </a:lnTo>
                  <a:lnTo>
                    <a:pt x="94331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63" name="object 63" descr="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76682" y="3884205"/>
            <a:ext cx="101917" cy="88557"/>
          </a:xfrm>
          <a:prstGeom prst="rect">
            <a:avLst/>
          </a:prstGeom>
        </p:spPr>
      </p:pic>
      <p:sp>
        <p:nvSpPr>
          <p:cNvPr id="64" name="object 64" descr=""/>
          <p:cNvSpPr txBox="1"/>
          <p:nvPr/>
        </p:nvSpPr>
        <p:spPr>
          <a:xfrm>
            <a:off x="187502" y="3686636"/>
            <a:ext cx="799465" cy="28511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98425">
              <a:lnSpc>
                <a:spcPct val="100000"/>
              </a:lnSpc>
              <a:spcBef>
                <a:spcPts val="90"/>
              </a:spcBef>
            </a:pPr>
            <a:r>
              <a:rPr dirty="0" sz="850" spc="-10" b="1">
                <a:latin typeface="Tahoma"/>
                <a:cs typeface="Tahoma"/>
              </a:rPr>
              <a:t>PRINCIPLES</a:t>
            </a:r>
            <a:endParaRPr sz="8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dirty="0" sz="450">
                <a:latin typeface="Verdana"/>
                <a:cs typeface="Verdana"/>
              </a:rPr>
              <a:t>BEM</a:t>
            </a:r>
            <a:r>
              <a:rPr dirty="0" sz="450" spc="-15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OOP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SOLID</a:t>
            </a:r>
            <a:r>
              <a:rPr dirty="0" sz="450" spc="-15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FIRST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65" name="object 65" descr=""/>
          <p:cNvGrpSpPr/>
          <p:nvPr/>
        </p:nvGrpSpPr>
        <p:grpSpPr>
          <a:xfrm>
            <a:off x="74167" y="4004867"/>
            <a:ext cx="1108075" cy="15875"/>
            <a:chOff x="74167" y="4004867"/>
            <a:chExt cx="1108075" cy="15875"/>
          </a:xfrm>
        </p:grpSpPr>
        <p:sp>
          <p:nvSpPr>
            <p:cNvPr id="66" name="object 66" descr=""/>
            <p:cNvSpPr/>
            <p:nvPr/>
          </p:nvSpPr>
          <p:spPr>
            <a:xfrm>
              <a:off x="74167" y="4004867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1107528" y="15279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7" name="object 67" descr=""/>
            <p:cNvSpPr/>
            <p:nvPr/>
          </p:nvSpPr>
          <p:spPr>
            <a:xfrm>
              <a:off x="74167" y="4004867"/>
              <a:ext cx="996950" cy="15875"/>
            </a:xfrm>
            <a:custGeom>
              <a:avLst/>
              <a:gdLst/>
              <a:ahLst/>
              <a:cxnLst/>
              <a:rect l="l" t="t" r="r" b="b"/>
              <a:pathLst>
                <a:path w="996950" h="15875">
                  <a:moveTo>
                    <a:pt x="996776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996776" y="15279"/>
                  </a:lnTo>
                  <a:lnTo>
                    <a:pt x="9967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8" name="object 68" descr=""/>
          <p:cNvSpPr/>
          <p:nvPr/>
        </p:nvSpPr>
        <p:spPr>
          <a:xfrm>
            <a:off x="89814" y="4079227"/>
            <a:ext cx="76200" cy="59055"/>
          </a:xfrm>
          <a:custGeom>
            <a:avLst/>
            <a:gdLst/>
            <a:ahLst/>
            <a:cxnLst/>
            <a:rect l="l" t="t" r="r" b="b"/>
            <a:pathLst>
              <a:path w="76200" h="59054">
                <a:moveTo>
                  <a:pt x="190" y="46647"/>
                </a:moveTo>
                <a:lnTo>
                  <a:pt x="0" y="55143"/>
                </a:lnTo>
                <a:lnTo>
                  <a:pt x="64719" y="55143"/>
                </a:lnTo>
                <a:lnTo>
                  <a:pt x="64719" y="59016"/>
                </a:lnTo>
                <a:lnTo>
                  <a:pt x="75679" y="50939"/>
                </a:lnTo>
                <a:lnTo>
                  <a:pt x="69914" y="46697"/>
                </a:lnTo>
                <a:lnTo>
                  <a:pt x="53807" y="46672"/>
                </a:lnTo>
                <a:lnTo>
                  <a:pt x="26136" y="46672"/>
                </a:lnTo>
                <a:lnTo>
                  <a:pt x="190" y="46647"/>
                </a:lnTo>
                <a:close/>
              </a:path>
              <a:path w="76200" h="59054">
                <a:moveTo>
                  <a:pt x="64719" y="42875"/>
                </a:moveTo>
                <a:lnTo>
                  <a:pt x="64757" y="46456"/>
                </a:lnTo>
                <a:lnTo>
                  <a:pt x="64554" y="46697"/>
                </a:lnTo>
                <a:lnTo>
                  <a:pt x="69914" y="46697"/>
                </a:lnTo>
                <a:lnTo>
                  <a:pt x="64719" y="42875"/>
                </a:lnTo>
                <a:close/>
              </a:path>
              <a:path w="76200" h="59054">
                <a:moveTo>
                  <a:pt x="60566" y="46659"/>
                </a:moveTo>
                <a:lnTo>
                  <a:pt x="53809" y="46672"/>
                </a:lnTo>
                <a:lnTo>
                  <a:pt x="61895" y="46672"/>
                </a:lnTo>
                <a:lnTo>
                  <a:pt x="60566" y="46659"/>
                </a:lnTo>
                <a:close/>
              </a:path>
              <a:path w="76200" h="59054">
                <a:moveTo>
                  <a:pt x="51657" y="15938"/>
                </a:moveTo>
                <a:lnTo>
                  <a:pt x="29222" y="15938"/>
                </a:lnTo>
                <a:lnTo>
                  <a:pt x="37236" y="17106"/>
                </a:lnTo>
                <a:lnTo>
                  <a:pt x="44040" y="19954"/>
                </a:lnTo>
                <a:lnTo>
                  <a:pt x="48474" y="25415"/>
                </a:lnTo>
                <a:lnTo>
                  <a:pt x="49943" y="32273"/>
                </a:lnTo>
                <a:lnTo>
                  <a:pt x="47853" y="39306"/>
                </a:lnTo>
                <a:lnTo>
                  <a:pt x="44843" y="44259"/>
                </a:lnTo>
                <a:lnTo>
                  <a:pt x="40309" y="46647"/>
                </a:lnTo>
                <a:lnTo>
                  <a:pt x="26136" y="46672"/>
                </a:lnTo>
                <a:lnTo>
                  <a:pt x="53807" y="46672"/>
                </a:lnTo>
                <a:lnTo>
                  <a:pt x="53365" y="46634"/>
                </a:lnTo>
                <a:lnTo>
                  <a:pt x="53340" y="46443"/>
                </a:lnTo>
                <a:lnTo>
                  <a:pt x="53555" y="46088"/>
                </a:lnTo>
                <a:lnTo>
                  <a:pt x="57810" y="40347"/>
                </a:lnTo>
                <a:lnTo>
                  <a:pt x="59283" y="34124"/>
                </a:lnTo>
                <a:lnTo>
                  <a:pt x="57988" y="27317"/>
                </a:lnTo>
                <a:lnTo>
                  <a:pt x="54014" y="18068"/>
                </a:lnTo>
                <a:lnTo>
                  <a:pt x="51657" y="15938"/>
                </a:lnTo>
                <a:close/>
              </a:path>
              <a:path w="76200" h="59054">
                <a:moveTo>
                  <a:pt x="14973" y="0"/>
                </a:moveTo>
                <a:lnTo>
                  <a:pt x="6362" y="1625"/>
                </a:lnTo>
                <a:lnTo>
                  <a:pt x="2324" y="5638"/>
                </a:lnTo>
                <a:lnTo>
                  <a:pt x="210" y="15697"/>
                </a:lnTo>
                <a:lnTo>
                  <a:pt x="175" y="15938"/>
                </a:lnTo>
                <a:lnTo>
                  <a:pt x="2380" y="21323"/>
                </a:lnTo>
                <a:lnTo>
                  <a:pt x="8308" y="25415"/>
                </a:lnTo>
                <a:lnTo>
                  <a:pt x="10160" y="26136"/>
                </a:lnTo>
                <a:lnTo>
                  <a:pt x="12204" y="26479"/>
                </a:lnTo>
                <a:lnTo>
                  <a:pt x="12255" y="26682"/>
                </a:lnTo>
                <a:lnTo>
                  <a:pt x="11823" y="28841"/>
                </a:lnTo>
                <a:lnTo>
                  <a:pt x="11734" y="33261"/>
                </a:lnTo>
                <a:lnTo>
                  <a:pt x="11455" y="33566"/>
                </a:lnTo>
                <a:lnTo>
                  <a:pt x="10261" y="33820"/>
                </a:lnTo>
                <a:lnTo>
                  <a:pt x="9245" y="33959"/>
                </a:lnTo>
                <a:lnTo>
                  <a:pt x="8470" y="34099"/>
                </a:lnTo>
                <a:lnTo>
                  <a:pt x="17805" y="43713"/>
                </a:lnTo>
                <a:lnTo>
                  <a:pt x="23746" y="32219"/>
                </a:lnTo>
                <a:lnTo>
                  <a:pt x="20167" y="32219"/>
                </a:lnTo>
                <a:lnTo>
                  <a:pt x="20256" y="30327"/>
                </a:lnTo>
                <a:lnTo>
                  <a:pt x="21659" y="21894"/>
                </a:lnTo>
                <a:lnTo>
                  <a:pt x="13843" y="21894"/>
                </a:lnTo>
                <a:lnTo>
                  <a:pt x="9245" y="21513"/>
                </a:lnTo>
                <a:lnTo>
                  <a:pt x="5791" y="17856"/>
                </a:lnTo>
                <a:lnTo>
                  <a:pt x="5672" y="11571"/>
                </a:lnTo>
                <a:lnTo>
                  <a:pt x="5715" y="8343"/>
                </a:lnTo>
                <a:lnTo>
                  <a:pt x="10248" y="4381"/>
                </a:lnTo>
                <a:lnTo>
                  <a:pt x="23816" y="4381"/>
                </a:lnTo>
                <a:lnTo>
                  <a:pt x="23417" y="2768"/>
                </a:lnTo>
                <a:lnTo>
                  <a:pt x="21869" y="2768"/>
                </a:lnTo>
                <a:lnTo>
                  <a:pt x="21551" y="2717"/>
                </a:lnTo>
                <a:lnTo>
                  <a:pt x="18122" y="609"/>
                </a:lnTo>
                <a:lnTo>
                  <a:pt x="14973" y="0"/>
                </a:lnTo>
                <a:close/>
              </a:path>
              <a:path w="76200" h="59054">
                <a:moveTo>
                  <a:pt x="24015" y="31699"/>
                </a:moveTo>
                <a:lnTo>
                  <a:pt x="20167" y="32219"/>
                </a:lnTo>
                <a:lnTo>
                  <a:pt x="23746" y="32219"/>
                </a:lnTo>
                <a:lnTo>
                  <a:pt x="24015" y="31699"/>
                </a:lnTo>
                <a:close/>
              </a:path>
              <a:path w="76200" h="59054">
                <a:moveTo>
                  <a:pt x="37562" y="8552"/>
                </a:moveTo>
                <a:lnTo>
                  <a:pt x="27381" y="9740"/>
                </a:lnTo>
                <a:lnTo>
                  <a:pt x="21463" y="11785"/>
                </a:lnTo>
                <a:lnTo>
                  <a:pt x="17119" y="15697"/>
                </a:lnTo>
                <a:lnTo>
                  <a:pt x="14020" y="21628"/>
                </a:lnTo>
                <a:lnTo>
                  <a:pt x="13843" y="21894"/>
                </a:lnTo>
                <a:lnTo>
                  <a:pt x="21659" y="21894"/>
                </a:lnTo>
                <a:lnTo>
                  <a:pt x="21772" y="21310"/>
                </a:lnTo>
                <a:lnTo>
                  <a:pt x="29222" y="15938"/>
                </a:lnTo>
                <a:lnTo>
                  <a:pt x="51657" y="15938"/>
                </a:lnTo>
                <a:lnTo>
                  <a:pt x="46823" y="11571"/>
                </a:lnTo>
                <a:lnTo>
                  <a:pt x="37562" y="8552"/>
                </a:lnTo>
                <a:close/>
              </a:path>
              <a:path w="76200" h="59054">
                <a:moveTo>
                  <a:pt x="23816" y="4381"/>
                </a:moveTo>
                <a:lnTo>
                  <a:pt x="10248" y="4381"/>
                </a:lnTo>
                <a:lnTo>
                  <a:pt x="16598" y="5422"/>
                </a:lnTo>
                <a:lnTo>
                  <a:pt x="17653" y="5791"/>
                </a:lnTo>
                <a:lnTo>
                  <a:pt x="18605" y="6502"/>
                </a:lnTo>
                <a:lnTo>
                  <a:pt x="17335" y="8089"/>
                </a:lnTo>
                <a:lnTo>
                  <a:pt x="24650" y="8597"/>
                </a:lnTo>
                <a:lnTo>
                  <a:pt x="24758" y="8432"/>
                </a:lnTo>
                <a:lnTo>
                  <a:pt x="24742" y="8089"/>
                </a:lnTo>
                <a:lnTo>
                  <a:pt x="24498" y="7239"/>
                </a:lnTo>
                <a:lnTo>
                  <a:pt x="23816" y="4381"/>
                </a:lnTo>
                <a:close/>
              </a:path>
              <a:path w="76200" h="59054">
                <a:moveTo>
                  <a:pt x="23037" y="1231"/>
                </a:moveTo>
                <a:lnTo>
                  <a:pt x="22694" y="1625"/>
                </a:lnTo>
                <a:lnTo>
                  <a:pt x="22402" y="1892"/>
                </a:lnTo>
                <a:lnTo>
                  <a:pt x="21869" y="2768"/>
                </a:lnTo>
                <a:lnTo>
                  <a:pt x="23417" y="2768"/>
                </a:lnTo>
                <a:lnTo>
                  <a:pt x="23037" y="123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9" name="object 69" descr=""/>
          <p:cNvSpPr txBox="1"/>
          <p:nvPr/>
        </p:nvSpPr>
        <p:spPr>
          <a:xfrm>
            <a:off x="187502" y="4057094"/>
            <a:ext cx="662940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>
                <a:latin typeface="Verdana"/>
                <a:cs typeface="Verdana"/>
              </a:rPr>
              <a:t>Agile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-25">
                <a:latin typeface="Verdana"/>
                <a:cs typeface="Verdana"/>
              </a:rPr>
              <a:t>(Scrum,</a:t>
            </a:r>
            <a:r>
              <a:rPr dirty="0" sz="450" spc="-10">
                <a:latin typeface="Verdana"/>
                <a:cs typeface="Verdana"/>
              </a:rPr>
              <a:t> Kanban)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70" name="object 70" descr=""/>
          <p:cNvGrpSpPr/>
          <p:nvPr/>
        </p:nvGrpSpPr>
        <p:grpSpPr>
          <a:xfrm>
            <a:off x="74167" y="4184356"/>
            <a:ext cx="1108075" cy="156845"/>
            <a:chOff x="74167" y="4184356"/>
            <a:chExt cx="1108075" cy="156845"/>
          </a:xfrm>
        </p:grpSpPr>
        <p:sp>
          <p:nvSpPr>
            <p:cNvPr id="71" name="object 71" descr=""/>
            <p:cNvSpPr/>
            <p:nvPr/>
          </p:nvSpPr>
          <p:spPr>
            <a:xfrm>
              <a:off x="74167" y="4184356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1107528" y="15279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2" name="object 72" descr=""/>
            <p:cNvSpPr/>
            <p:nvPr/>
          </p:nvSpPr>
          <p:spPr>
            <a:xfrm>
              <a:off x="74167" y="4184356"/>
              <a:ext cx="996950" cy="15875"/>
            </a:xfrm>
            <a:custGeom>
              <a:avLst/>
              <a:gdLst/>
              <a:ahLst/>
              <a:cxnLst/>
              <a:rect l="l" t="t" r="r" b="b"/>
              <a:pathLst>
                <a:path w="996950" h="15875">
                  <a:moveTo>
                    <a:pt x="996776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996776" y="15279"/>
                  </a:lnTo>
                  <a:lnTo>
                    <a:pt x="9967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3" name="object 73" descr="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74167" y="4234014"/>
              <a:ext cx="106934" cy="106934"/>
            </a:xfrm>
            <a:prstGeom prst="rect">
              <a:avLst/>
            </a:prstGeom>
          </p:spPr>
        </p:pic>
      </p:grpSp>
      <p:sp>
        <p:nvSpPr>
          <p:cNvPr id="74" name="object 74" descr=""/>
          <p:cNvSpPr txBox="1"/>
          <p:nvPr/>
        </p:nvSpPr>
        <p:spPr>
          <a:xfrm>
            <a:off x="187502" y="4236584"/>
            <a:ext cx="624840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 spc="-20">
                <a:latin typeface="Verdana"/>
                <a:cs typeface="Verdana"/>
              </a:rPr>
              <a:t>REST </a:t>
            </a:r>
            <a:r>
              <a:rPr dirty="0" sz="450">
                <a:latin typeface="Verdana"/>
                <a:cs typeface="Verdana"/>
              </a:rPr>
              <a:t>(HTTP</a:t>
            </a:r>
            <a:r>
              <a:rPr dirty="0" sz="450" spc="-20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 spc="-3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HTTPS)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75" name="object 75" descr=""/>
          <p:cNvGrpSpPr/>
          <p:nvPr/>
        </p:nvGrpSpPr>
        <p:grpSpPr>
          <a:xfrm>
            <a:off x="74167" y="4363858"/>
            <a:ext cx="1108075" cy="15875"/>
            <a:chOff x="74167" y="4363858"/>
            <a:chExt cx="1108075" cy="15875"/>
          </a:xfrm>
        </p:grpSpPr>
        <p:sp>
          <p:nvSpPr>
            <p:cNvPr id="76" name="object 76" descr=""/>
            <p:cNvSpPr/>
            <p:nvPr/>
          </p:nvSpPr>
          <p:spPr>
            <a:xfrm>
              <a:off x="74167" y="4363858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1107528" y="15279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7" name="object 77" descr=""/>
            <p:cNvSpPr/>
            <p:nvPr/>
          </p:nvSpPr>
          <p:spPr>
            <a:xfrm>
              <a:off x="74167" y="4363858"/>
              <a:ext cx="833119" cy="15875"/>
            </a:xfrm>
            <a:custGeom>
              <a:avLst/>
              <a:gdLst/>
              <a:ahLst/>
              <a:cxnLst/>
              <a:rect l="l" t="t" r="r" b="b"/>
              <a:pathLst>
                <a:path w="833119" h="15875">
                  <a:moveTo>
                    <a:pt x="832554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832554" y="15279"/>
                  </a:lnTo>
                  <a:lnTo>
                    <a:pt x="83255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8" name="object 78" descr=""/>
          <p:cNvSpPr txBox="1"/>
          <p:nvPr/>
        </p:nvSpPr>
        <p:spPr>
          <a:xfrm>
            <a:off x="105387" y="5037986"/>
            <a:ext cx="1044575" cy="332105"/>
          </a:xfrm>
          <a:prstGeom prst="rect">
            <a:avLst/>
          </a:prstGeom>
        </p:spPr>
        <p:txBody>
          <a:bodyPr wrap="square" lIns="0" tIns="61594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484"/>
              </a:spcBef>
            </a:pPr>
            <a:r>
              <a:rPr dirty="0" sz="850" b="1">
                <a:latin typeface="Tahoma"/>
                <a:cs typeface="Tahoma"/>
              </a:rPr>
              <a:t>WORK</a:t>
            </a:r>
            <a:r>
              <a:rPr dirty="0" sz="850" spc="195" b="1">
                <a:latin typeface="Tahoma"/>
                <a:cs typeface="Tahoma"/>
              </a:rPr>
              <a:t> </a:t>
            </a:r>
            <a:r>
              <a:rPr dirty="0" sz="850" spc="-10" b="1">
                <a:latin typeface="Tahoma"/>
                <a:cs typeface="Tahoma"/>
              </a:rPr>
              <a:t>EXAMPLES</a:t>
            </a:r>
            <a:endParaRPr sz="850">
              <a:latin typeface="Tahoma"/>
              <a:cs typeface="Tahoma"/>
            </a:endParaRPr>
          </a:p>
          <a:p>
            <a:pPr algn="ctr" marL="1270">
              <a:lnSpc>
                <a:spcPct val="100000"/>
              </a:lnSpc>
              <a:spcBef>
                <a:spcPts val="285"/>
              </a:spcBef>
            </a:pPr>
            <a:r>
              <a:rPr dirty="0" u="sng" sz="600" spc="-10">
                <a:uFill>
                  <a:solidFill>
                    <a:srgbClr val="000000"/>
                  </a:solidFill>
                </a:uFill>
                <a:latin typeface="Verdana"/>
                <a:cs typeface="Verdana"/>
              </a:rPr>
              <a:t>LAYOUT</a:t>
            </a:r>
            <a:endParaRPr sz="600">
              <a:latin typeface="Verdana"/>
              <a:cs typeface="Verdana"/>
            </a:endParaRPr>
          </a:p>
        </p:txBody>
      </p:sp>
      <p:pic>
        <p:nvPicPr>
          <p:cNvPr id="79" name="object 79" descr="">
            <a:hlinkClick r:id="rId21"/>
          </p:cNvPr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56578" y="5409831"/>
            <a:ext cx="344633" cy="229755"/>
          </a:xfrm>
          <a:prstGeom prst="rect">
            <a:avLst/>
          </a:prstGeom>
        </p:spPr>
      </p:pic>
      <p:pic>
        <p:nvPicPr>
          <p:cNvPr id="80" name="object 80" descr="">
            <a:hlinkClick r:id="rId23"/>
          </p:cNvPr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653757" y="5409831"/>
            <a:ext cx="344633" cy="229755"/>
          </a:xfrm>
          <a:prstGeom prst="rect">
            <a:avLst/>
          </a:prstGeom>
        </p:spPr>
      </p:pic>
      <p:sp>
        <p:nvSpPr>
          <p:cNvPr id="81" name="object 81" descr=""/>
          <p:cNvSpPr txBox="1"/>
          <p:nvPr/>
        </p:nvSpPr>
        <p:spPr>
          <a:xfrm>
            <a:off x="328802" y="5680198"/>
            <a:ext cx="599440" cy="1174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u="sng" sz="600">
                <a:uFill>
                  <a:solidFill>
                    <a:srgbClr val="000000"/>
                  </a:solidFill>
                </a:uFill>
                <a:latin typeface="Verdana"/>
                <a:cs typeface="Verdana"/>
              </a:rPr>
              <a:t>WEB-APPS</a:t>
            </a:r>
            <a:r>
              <a:rPr dirty="0" u="sng" sz="600" spc="5">
                <a:uFill>
                  <a:solidFill>
                    <a:srgbClr val="000000"/>
                  </a:solidFill>
                </a:uFill>
                <a:latin typeface="Verdana"/>
                <a:cs typeface="Verdana"/>
              </a:rPr>
              <a:t> </a:t>
            </a:r>
            <a:r>
              <a:rPr dirty="0" u="sng" sz="600" spc="-95">
                <a:uFill>
                  <a:solidFill>
                    <a:srgbClr val="000000"/>
                  </a:solidFill>
                </a:uFill>
                <a:latin typeface="Verdana"/>
                <a:cs typeface="Verdana"/>
              </a:rPr>
              <a:t>/</a:t>
            </a:r>
            <a:r>
              <a:rPr dirty="0" u="sng" sz="600">
                <a:uFill>
                  <a:solidFill>
                    <a:srgbClr val="000000"/>
                  </a:solidFill>
                </a:uFill>
                <a:latin typeface="Verdana"/>
                <a:cs typeface="Verdana"/>
              </a:rPr>
              <a:t> </a:t>
            </a:r>
            <a:r>
              <a:rPr dirty="0" u="sng" sz="600" spc="-25">
                <a:uFill>
                  <a:solidFill>
                    <a:srgbClr val="000000"/>
                  </a:solidFill>
                </a:uFill>
                <a:latin typeface="Verdana"/>
                <a:cs typeface="Verdana"/>
              </a:rPr>
              <a:t>JS</a:t>
            </a:r>
            <a:endParaRPr sz="600">
              <a:latin typeface="Verdana"/>
              <a:cs typeface="Verdana"/>
            </a:endParaRPr>
          </a:p>
        </p:txBody>
      </p:sp>
      <p:pic>
        <p:nvPicPr>
          <p:cNvPr id="82" name="object 82" descr="">
            <a:hlinkClick r:id="rId25"/>
          </p:cNvPr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256578" y="5837567"/>
            <a:ext cx="344633" cy="229755"/>
          </a:xfrm>
          <a:prstGeom prst="rect">
            <a:avLst/>
          </a:prstGeom>
        </p:spPr>
      </p:pic>
      <p:pic>
        <p:nvPicPr>
          <p:cNvPr id="83" name="object 83" descr="">
            <a:hlinkClick r:id="rId27"/>
          </p:cNvPr>
          <p:cNvPicPr/>
          <p:nvPr/>
        </p:nvPicPr>
        <p:blipFill>
          <a:blip r:embed="rId28" cstate="print"/>
          <a:stretch>
            <a:fillRect/>
          </a:stretch>
        </p:blipFill>
        <p:spPr>
          <a:xfrm>
            <a:off x="653757" y="5837567"/>
            <a:ext cx="344633" cy="229755"/>
          </a:xfrm>
          <a:prstGeom prst="rect">
            <a:avLst/>
          </a:prstGeom>
        </p:spPr>
      </p:pic>
      <p:sp>
        <p:nvSpPr>
          <p:cNvPr id="84" name="object 84" descr=""/>
          <p:cNvSpPr txBox="1"/>
          <p:nvPr/>
        </p:nvSpPr>
        <p:spPr>
          <a:xfrm>
            <a:off x="177952" y="6107934"/>
            <a:ext cx="901700" cy="1174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u="sng" sz="600">
                <a:uFill>
                  <a:solidFill>
                    <a:srgbClr val="000000"/>
                  </a:solidFill>
                </a:uFill>
                <a:latin typeface="Verdana"/>
                <a:cs typeface="Verdana"/>
              </a:rPr>
              <a:t>WEB-APPS</a:t>
            </a:r>
            <a:r>
              <a:rPr dirty="0" u="sng" sz="600" spc="5">
                <a:uFill>
                  <a:solidFill>
                    <a:srgbClr val="000000"/>
                  </a:solidFill>
                </a:uFill>
                <a:latin typeface="Verdana"/>
                <a:cs typeface="Verdana"/>
              </a:rPr>
              <a:t> </a:t>
            </a:r>
            <a:r>
              <a:rPr dirty="0" u="sng" sz="600" spc="-95">
                <a:uFill>
                  <a:solidFill>
                    <a:srgbClr val="000000"/>
                  </a:solidFill>
                </a:uFill>
                <a:latin typeface="Verdana"/>
                <a:cs typeface="Verdana"/>
              </a:rPr>
              <a:t>/</a:t>
            </a:r>
            <a:r>
              <a:rPr dirty="0" u="sng" sz="600">
                <a:uFill>
                  <a:solidFill>
                    <a:srgbClr val="000000"/>
                  </a:solidFill>
                </a:uFill>
                <a:latin typeface="Verdana"/>
                <a:cs typeface="Verdana"/>
              </a:rPr>
              <a:t> </a:t>
            </a:r>
            <a:r>
              <a:rPr dirty="0" u="sng" sz="600" spc="-10">
                <a:uFill>
                  <a:solidFill>
                    <a:srgbClr val="000000"/>
                  </a:solidFill>
                </a:uFill>
                <a:latin typeface="Verdana"/>
                <a:cs typeface="Verdana"/>
              </a:rPr>
              <a:t>ANGULAR</a:t>
            </a:r>
            <a:endParaRPr sz="600">
              <a:latin typeface="Verdana"/>
              <a:cs typeface="Verdana"/>
            </a:endParaRPr>
          </a:p>
        </p:txBody>
      </p:sp>
      <p:pic>
        <p:nvPicPr>
          <p:cNvPr id="85" name="object 85" descr="">
            <a:hlinkClick r:id="rId29"/>
          </p:cNvPr>
          <p:cNvPicPr/>
          <p:nvPr/>
        </p:nvPicPr>
        <p:blipFill>
          <a:blip r:embed="rId30" cstate="print"/>
          <a:stretch>
            <a:fillRect/>
          </a:stretch>
        </p:blipFill>
        <p:spPr>
          <a:xfrm>
            <a:off x="455777" y="6265303"/>
            <a:ext cx="344633" cy="229755"/>
          </a:xfrm>
          <a:prstGeom prst="rect">
            <a:avLst/>
          </a:prstGeom>
        </p:spPr>
      </p:pic>
      <p:sp>
        <p:nvSpPr>
          <p:cNvPr id="86" name="object 86" descr=""/>
          <p:cNvSpPr/>
          <p:nvPr/>
        </p:nvSpPr>
        <p:spPr>
          <a:xfrm>
            <a:off x="1339595" y="2749702"/>
            <a:ext cx="43815" cy="43815"/>
          </a:xfrm>
          <a:custGeom>
            <a:avLst/>
            <a:gdLst/>
            <a:ahLst/>
            <a:cxnLst/>
            <a:rect l="l" t="t" r="r" b="b"/>
            <a:pathLst>
              <a:path w="43815" h="43814">
                <a:moveTo>
                  <a:pt x="21602" y="0"/>
                </a:moveTo>
                <a:lnTo>
                  <a:pt x="0" y="21602"/>
                </a:lnTo>
                <a:lnTo>
                  <a:pt x="21602" y="43205"/>
                </a:lnTo>
                <a:lnTo>
                  <a:pt x="43205" y="21602"/>
                </a:lnTo>
                <a:lnTo>
                  <a:pt x="2160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7" name="object 87" descr=""/>
          <p:cNvSpPr txBox="1"/>
          <p:nvPr/>
        </p:nvSpPr>
        <p:spPr>
          <a:xfrm>
            <a:off x="1325587" y="2407251"/>
            <a:ext cx="2796540" cy="79883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850" spc="-10" b="1">
                <a:latin typeface="Tahoma"/>
                <a:cs typeface="Tahoma"/>
              </a:rPr>
              <a:t>EDUCATION</a:t>
            </a:r>
            <a:endParaRPr sz="8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dirty="0" sz="500" spc="10">
                <a:latin typeface="Microsoft Sans Serif"/>
                <a:cs typeface="Microsoft Sans Serif"/>
              </a:rPr>
              <a:t>HIGHER</a:t>
            </a:r>
            <a:r>
              <a:rPr dirty="0" sz="500" spc="265">
                <a:latin typeface="Microsoft Sans Serif"/>
                <a:cs typeface="Microsoft Sans Serif"/>
              </a:rPr>
              <a:t> </a:t>
            </a:r>
            <a:r>
              <a:rPr dirty="0" sz="500" spc="45">
                <a:latin typeface="Microsoft Sans Serif"/>
                <a:cs typeface="Microsoft Sans Serif"/>
              </a:rPr>
              <a:t>EDUCATION</a:t>
            </a:r>
            <a:endParaRPr sz="500">
              <a:latin typeface="Microsoft Sans Serif"/>
              <a:cs typeface="Microsoft Sans Serif"/>
            </a:endParaRPr>
          </a:p>
          <a:p>
            <a:pPr marL="107950">
              <a:lnSpc>
                <a:spcPct val="100000"/>
              </a:lnSpc>
              <a:spcBef>
                <a:spcPts val="430"/>
              </a:spcBef>
            </a:pPr>
            <a:r>
              <a:rPr dirty="0" sz="400">
                <a:latin typeface="Verdana"/>
                <a:cs typeface="Verdana"/>
              </a:rPr>
              <a:t>2008</a:t>
            </a:r>
            <a:r>
              <a:rPr dirty="0" sz="400" spc="95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—</a:t>
            </a:r>
            <a:r>
              <a:rPr dirty="0" sz="400" spc="95">
                <a:latin typeface="Verdana"/>
                <a:cs typeface="Verdana"/>
              </a:rPr>
              <a:t> </a:t>
            </a:r>
            <a:r>
              <a:rPr dirty="0" sz="400" spc="-20">
                <a:latin typeface="Verdana"/>
                <a:cs typeface="Verdana"/>
              </a:rPr>
              <a:t>2013</a:t>
            </a:r>
            <a:endParaRPr sz="400">
              <a:latin typeface="Verdana"/>
              <a:cs typeface="Verdana"/>
            </a:endParaRPr>
          </a:p>
          <a:p>
            <a:pPr marL="107950" marR="5080">
              <a:lnSpc>
                <a:spcPct val="111400"/>
              </a:lnSpc>
              <a:spcBef>
                <a:spcPts val="190"/>
              </a:spcBef>
            </a:pPr>
            <a:r>
              <a:rPr dirty="0" sz="450" b="1">
                <a:latin typeface="Tahoma"/>
                <a:cs typeface="Tahoma"/>
              </a:rPr>
              <a:t>«Organization</a:t>
            </a:r>
            <a:r>
              <a:rPr dirty="0" sz="450" spc="18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and</a:t>
            </a:r>
            <a:r>
              <a:rPr dirty="0" sz="450" spc="18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Management</a:t>
            </a:r>
            <a:r>
              <a:rPr dirty="0" sz="450" spc="18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of</a:t>
            </a:r>
            <a:r>
              <a:rPr dirty="0" sz="450" spc="17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Foundry</a:t>
            </a:r>
            <a:r>
              <a:rPr dirty="0" sz="450" spc="21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Production»</a:t>
            </a:r>
            <a:r>
              <a:rPr dirty="0" sz="450" spc="185" b="1">
                <a:latin typeface="Tahoma"/>
                <a:cs typeface="Tahoma"/>
              </a:rPr>
              <a:t> </a:t>
            </a:r>
            <a:r>
              <a:rPr dirty="0" sz="450" spc="-85" b="1">
                <a:latin typeface="Tahoma"/>
                <a:cs typeface="Tahoma"/>
              </a:rPr>
              <a:t>/</a:t>
            </a:r>
            <a:r>
              <a:rPr dirty="0" sz="450" spc="17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«Machinery</a:t>
            </a:r>
            <a:r>
              <a:rPr dirty="0" sz="450" spc="21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and</a:t>
            </a:r>
            <a:r>
              <a:rPr dirty="0" sz="450" spc="185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Foundry</a:t>
            </a:r>
            <a:r>
              <a:rPr dirty="0" sz="450" spc="50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Technology»</a:t>
            </a:r>
            <a:r>
              <a:rPr dirty="0" sz="450" spc="175" b="1">
                <a:latin typeface="Tahoma"/>
                <a:cs typeface="Tahoma"/>
              </a:rPr>
              <a:t> </a:t>
            </a:r>
            <a:r>
              <a:rPr dirty="0" sz="450" spc="-85" b="1">
                <a:latin typeface="Tahoma"/>
                <a:cs typeface="Tahoma"/>
              </a:rPr>
              <a:t>/</a:t>
            </a:r>
            <a:r>
              <a:rPr dirty="0" sz="450" spc="17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Bachelor`s</a:t>
            </a:r>
            <a:r>
              <a:rPr dirty="0" sz="450" spc="210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degree</a:t>
            </a:r>
            <a:endParaRPr sz="450">
              <a:latin typeface="Tahoma"/>
              <a:cs typeface="Tahoma"/>
            </a:endParaRPr>
          </a:p>
          <a:p>
            <a:pPr marL="107950">
              <a:lnSpc>
                <a:spcPct val="100000"/>
              </a:lnSpc>
              <a:spcBef>
                <a:spcPts val="120"/>
              </a:spcBef>
            </a:pPr>
            <a:r>
              <a:rPr dirty="0" sz="450">
                <a:latin typeface="Verdana"/>
                <a:cs typeface="Verdana"/>
              </a:rPr>
              <a:t>Gomel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State</a:t>
            </a:r>
            <a:r>
              <a:rPr dirty="0" sz="45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Technical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University </a:t>
            </a:r>
            <a:r>
              <a:rPr dirty="0" sz="450">
                <a:latin typeface="Verdana"/>
                <a:cs typeface="Verdana"/>
              </a:rPr>
              <a:t>named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after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-20">
                <a:latin typeface="Verdana"/>
                <a:cs typeface="Verdana"/>
              </a:rPr>
              <a:t>P.O.</a:t>
            </a:r>
            <a:r>
              <a:rPr dirty="0" sz="450" spc="-10">
                <a:latin typeface="Verdana"/>
                <a:cs typeface="Verdana"/>
              </a:rPr>
              <a:t> Sukhoi</a:t>
            </a: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dirty="0" sz="500" spc="55">
                <a:latin typeface="Microsoft Sans Serif"/>
                <a:cs typeface="Microsoft Sans Serif"/>
              </a:rPr>
              <a:t>ADDITIONAL</a:t>
            </a:r>
            <a:r>
              <a:rPr dirty="0" sz="500" spc="130">
                <a:latin typeface="Microsoft Sans Serif"/>
                <a:cs typeface="Microsoft Sans Serif"/>
              </a:rPr>
              <a:t> </a:t>
            </a:r>
            <a:r>
              <a:rPr dirty="0" sz="500" spc="45">
                <a:latin typeface="Microsoft Sans Serif"/>
                <a:cs typeface="Microsoft Sans Serif"/>
              </a:rPr>
              <a:t>EDUCATION</a:t>
            </a:r>
            <a:endParaRPr sz="500">
              <a:latin typeface="Microsoft Sans Serif"/>
              <a:cs typeface="Microsoft Sans Serif"/>
            </a:endParaRPr>
          </a:p>
        </p:txBody>
      </p:sp>
      <p:grpSp>
        <p:nvGrpSpPr>
          <p:cNvPr id="88" name="object 88" descr=""/>
          <p:cNvGrpSpPr/>
          <p:nvPr/>
        </p:nvGrpSpPr>
        <p:grpSpPr>
          <a:xfrm>
            <a:off x="1339595" y="3253816"/>
            <a:ext cx="43815" cy="1418590"/>
            <a:chOff x="1339595" y="3253816"/>
            <a:chExt cx="43815" cy="1418590"/>
          </a:xfrm>
        </p:grpSpPr>
        <p:sp>
          <p:nvSpPr>
            <p:cNvPr id="89" name="object 89" descr=""/>
            <p:cNvSpPr/>
            <p:nvPr/>
          </p:nvSpPr>
          <p:spPr>
            <a:xfrm>
              <a:off x="1359287" y="3271608"/>
              <a:ext cx="0" cy="1363980"/>
            </a:xfrm>
            <a:custGeom>
              <a:avLst/>
              <a:gdLst/>
              <a:ahLst/>
              <a:cxnLst/>
              <a:rect l="l" t="t" r="r" b="b"/>
              <a:pathLst>
                <a:path w="0" h="1363979">
                  <a:moveTo>
                    <a:pt x="0" y="0"/>
                  </a:moveTo>
                  <a:lnTo>
                    <a:pt x="0" y="1363408"/>
                  </a:lnTo>
                </a:path>
              </a:pathLst>
            </a:custGeom>
            <a:ln w="382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0" name="object 90" descr=""/>
            <p:cNvSpPr/>
            <p:nvPr/>
          </p:nvSpPr>
          <p:spPr>
            <a:xfrm>
              <a:off x="1339596" y="3253815"/>
              <a:ext cx="43815" cy="1418590"/>
            </a:xfrm>
            <a:custGeom>
              <a:avLst/>
              <a:gdLst/>
              <a:ahLst/>
              <a:cxnLst/>
              <a:rect l="l" t="t" r="r" b="b"/>
              <a:pathLst>
                <a:path w="43815" h="1418589">
                  <a:moveTo>
                    <a:pt x="43205" y="1396492"/>
                  </a:moveTo>
                  <a:lnTo>
                    <a:pt x="21602" y="1374876"/>
                  </a:lnTo>
                  <a:lnTo>
                    <a:pt x="0" y="1396492"/>
                  </a:lnTo>
                  <a:lnTo>
                    <a:pt x="21602" y="1418082"/>
                  </a:lnTo>
                  <a:lnTo>
                    <a:pt x="43205" y="1396492"/>
                  </a:lnTo>
                  <a:close/>
                </a:path>
                <a:path w="43815" h="1418589">
                  <a:moveTo>
                    <a:pt x="43205" y="1014564"/>
                  </a:moveTo>
                  <a:lnTo>
                    <a:pt x="21602" y="992962"/>
                  </a:lnTo>
                  <a:lnTo>
                    <a:pt x="0" y="1014564"/>
                  </a:lnTo>
                  <a:lnTo>
                    <a:pt x="21602" y="1036180"/>
                  </a:lnTo>
                  <a:lnTo>
                    <a:pt x="43205" y="1014564"/>
                  </a:lnTo>
                  <a:close/>
                </a:path>
                <a:path w="43815" h="1418589">
                  <a:moveTo>
                    <a:pt x="43205" y="709053"/>
                  </a:moveTo>
                  <a:lnTo>
                    <a:pt x="21602" y="687438"/>
                  </a:lnTo>
                  <a:lnTo>
                    <a:pt x="0" y="709053"/>
                  </a:lnTo>
                  <a:lnTo>
                    <a:pt x="21602" y="730643"/>
                  </a:lnTo>
                  <a:lnTo>
                    <a:pt x="43205" y="709053"/>
                  </a:lnTo>
                  <a:close/>
                </a:path>
                <a:path w="43815" h="1418589">
                  <a:moveTo>
                    <a:pt x="43205" y="327139"/>
                  </a:moveTo>
                  <a:lnTo>
                    <a:pt x="21602" y="305536"/>
                  </a:lnTo>
                  <a:lnTo>
                    <a:pt x="0" y="327139"/>
                  </a:lnTo>
                  <a:lnTo>
                    <a:pt x="21602" y="348742"/>
                  </a:lnTo>
                  <a:lnTo>
                    <a:pt x="43205" y="327139"/>
                  </a:lnTo>
                  <a:close/>
                </a:path>
                <a:path w="43815" h="1418589">
                  <a:moveTo>
                    <a:pt x="43205" y="21602"/>
                  </a:moveTo>
                  <a:lnTo>
                    <a:pt x="21602" y="0"/>
                  </a:lnTo>
                  <a:lnTo>
                    <a:pt x="0" y="21602"/>
                  </a:lnTo>
                  <a:lnTo>
                    <a:pt x="21602" y="43218"/>
                  </a:lnTo>
                  <a:lnTo>
                    <a:pt x="43205" y="216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1" name="object 91" descr=""/>
          <p:cNvSpPr txBox="1"/>
          <p:nvPr/>
        </p:nvSpPr>
        <p:spPr>
          <a:xfrm>
            <a:off x="1421066" y="3208114"/>
            <a:ext cx="2684780" cy="1672589"/>
          </a:xfrm>
          <a:prstGeom prst="rect">
            <a:avLst/>
          </a:prstGeom>
        </p:spPr>
        <p:txBody>
          <a:bodyPr wrap="square" lIns="0" tIns="393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10"/>
              </a:spcBef>
            </a:pPr>
            <a:r>
              <a:rPr dirty="0" sz="400">
                <a:latin typeface="Verdana"/>
                <a:cs typeface="Verdana"/>
              </a:rPr>
              <a:t>December,</a:t>
            </a:r>
            <a:r>
              <a:rPr dirty="0" sz="400" spc="5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2022</a:t>
            </a:r>
            <a:r>
              <a:rPr dirty="0" sz="400" spc="110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—</a:t>
            </a:r>
            <a:r>
              <a:rPr dirty="0" sz="400" spc="110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August,</a:t>
            </a:r>
            <a:r>
              <a:rPr dirty="0" sz="400" spc="5">
                <a:latin typeface="Verdana"/>
                <a:cs typeface="Verdana"/>
              </a:rPr>
              <a:t> </a:t>
            </a:r>
            <a:r>
              <a:rPr dirty="0" sz="400" spc="-20">
                <a:latin typeface="Verdana"/>
                <a:cs typeface="Verdana"/>
              </a:rPr>
              <a:t>2023</a:t>
            </a:r>
            <a:endParaRPr sz="4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250"/>
              </a:spcBef>
            </a:pPr>
            <a:r>
              <a:rPr dirty="0" sz="450" b="1">
                <a:latin typeface="Tahoma"/>
                <a:cs typeface="Tahoma"/>
              </a:rPr>
              <a:t>Online</a:t>
            </a:r>
            <a:r>
              <a:rPr dirty="0" sz="450" spc="12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training</a:t>
            </a:r>
            <a:r>
              <a:rPr dirty="0" sz="450" spc="12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course</a:t>
            </a:r>
            <a:r>
              <a:rPr dirty="0" sz="450" spc="12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«UpSkill</a:t>
            </a:r>
            <a:r>
              <a:rPr dirty="0" sz="450" spc="13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Me»</a:t>
            </a:r>
            <a:r>
              <a:rPr dirty="0" sz="450" spc="130" b="1">
                <a:latin typeface="Tahoma"/>
                <a:cs typeface="Tahoma"/>
              </a:rPr>
              <a:t> </a:t>
            </a:r>
            <a:r>
              <a:rPr dirty="0" sz="450" spc="-85" b="1">
                <a:latin typeface="Tahoma"/>
                <a:cs typeface="Tahoma"/>
              </a:rPr>
              <a:t>/</a:t>
            </a:r>
            <a:r>
              <a:rPr dirty="0" sz="450" spc="12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JS</a:t>
            </a:r>
            <a:r>
              <a:rPr dirty="0" sz="450" spc="114" b="1">
                <a:latin typeface="Tahoma"/>
                <a:cs typeface="Tahoma"/>
              </a:rPr>
              <a:t> </a:t>
            </a:r>
            <a:r>
              <a:rPr dirty="0" sz="450" spc="-85" b="1">
                <a:latin typeface="Tahoma"/>
                <a:cs typeface="Tahoma"/>
              </a:rPr>
              <a:t>/</a:t>
            </a:r>
            <a:r>
              <a:rPr dirty="0" sz="450" spc="12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Front-</a:t>
            </a:r>
            <a:r>
              <a:rPr dirty="0" sz="450" spc="-25" b="1">
                <a:latin typeface="Tahoma"/>
                <a:cs typeface="Tahoma"/>
              </a:rPr>
              <a:t>End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 spc="-40">
                <a:latin typeface="Verdana"/>
                <a:cs typeface="Verdana"/>
              </a:rPr>
              <a:t>«RS</a:t>
            </a:r>
            <a:r>
              <a:rPr dirty="0" sz="450" spc="-3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School»</a:t>
            </a: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dirty="0" sz="400">
                <a:latin typeface="Verdana"/>
                <a:cs typeface="Verdana"/>
              </a:rPr>
              <a:t>November,</a:t>
            </a:r>
            <a:r>
              <a:rPr dirty="0" sz="400" spc="60">
                <a:latin typeface="Verdana"/>
                <a:cs typeface="Verdana"/>
              </a:rPr>
              <a:t> </a:t>
            </a:r>
            <a:r>
              <a:rPr dirty="0" sz="400" spc="-20">
                <a:latin typeface="Verdana"/>
                <a:cs typeface="Verdana"/>
              </a:rPr>
              <a:t>2022</a:t>
            </a:r>
            <a:endParaRPr sz="400">
              <a:latin typeface="Verdana"/>
              <a:cs typeface="Verdana"/>
            </a:endParaRPr>
          </a:p>
          <a:p>
            <a:pPr marL="12700" marR="5080">
              <a:lnSpc>
                <a:spcPct val="111400"/>
              </a:lnSpc>
              <a:spcBef>
                <a:spcPts val="190"/>
              </a:spcBef>
            </a:pPr>
            <a:r>
              <a:rPr dirty="0" sz="450" b="1">
                <a:latin typeface="Tahoma"/>
                <a:cs typeface="Tahoma"/>
              </a:rPr>
              <a:t>Online</a:t>
            </a:r>
            <a:r>
              <a:rPr dirty="0" sz="450" spc="16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training</a:t>
            </a:r>
            <a:r>
              <a:rPr dirty="0" sz="450" spc="15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course</a:t>
            </a:r>
            <a:r>
              <a:rPr dirty="0" sz="450" spc="165" b="1">
                <a:latin typeface="Tahoma"/>
                <a:cs typeface="Tahoma"/>
              </a:rPr>
              <a:t> </a:t>
            </a:r>
            <a:r>
              <a:rPr dirty="0" sz="450" spc="-20" b="1">
                <a:latin typeface="Tahoma"/>
                <a:cs typeface="Tahoma"/>
              </a:rPr>
              <a:t>«IT</a:t>
            </a:r>
            <a:r>
              <a:rPr dirty="0" sz="450" spc="17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Fundamentals»</a:t>
            </a:r>
            <a:r>
              <a:rPr dirty="0" sz="450" spc="160" b="1">
                <a:latin typeface="Tahoma"/>
                <a:cs typeface="Tahoma"/>
              </a:rPr>
              <a:t> </a:t>
            </a:r>
            <a:r>
              <a:rPr dirty="0" sz="450" spc="-85" b="1">
                <a:latin typeface="Tahoma"/>
                <a:cs typeface="Tahoma"/>
              </a:rPr>
              <a:t>/</a:t>
            </a:r>
            <a:r>
              <a:rPr dirty="0" sz="450" spc="15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«Basics</a:t>
            </a:r>
            <a:r>
              <a:rPr dirty="0" sz="450" spc="19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of</a:t>
            </a:r>
            <a:r>
              <a:rPr dirty="0" sz="450" spc="15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Computer</a:t>
            </a:r>
            <a:r>
              <a:rPr dirty="0" sz="450" spc="17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Science.</a:t>
            </a:r>
            <a:r>
              <a:rPr dirty="0" sz="450" spc="15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Basics</a:t>
            </a:r>
            <a:r>
              <a:rPr dirty="0" sz="450" spc="195" b="1">
                <a:latin typeface="Tahoma"/>
                <a:cs typeface="Tahoma"/>
              </a:rPr>
              <a:t> </a:t>
            </a:r>
            <a:r>
              <a:rPr dirty="0" sz="450" spc="-25" b="1">
                <a:latin typeface="Tahoma"/>
                <a:cs typeface="Tahoma"/>
              </a:rPr>
              <a:t>of</a:t>
            </a:r>
            <a:r>
              <a:rPr dirty="0" sz="450" spc="500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Programming.</a:t>
            </a:r>
            <a:r>
              <a:rPr dirty="0" sz="450" spc="50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Math</a:t>
            </a:r>
            <a:r>
              <a:rPr dirty="0" sz="450" spc="65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for</a:t>
            </a:r>
            <a:r>
              <a:rPr dirty="0" sz="450" spc="65" b="1">
                <a:latin typeface="Tahoma"/>
                <a:cs typeface="Tahoma"/>
              </a:rPr>
              <a:t> </a:t>
            </a:r>
            <a:r>
              <a:rPr dirty="0" sz="450" spc="-25" b="1">
                <a:latin typeface="Tahoma"/>
                <a:cs typeface="Tahoma"/>
              </a:rPr>
              <a:t>IT»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>
                <a:latin typeface="Verdana"/>
                <a:cs typeface="Verdana"/>
              </a:rPr>
              <a:t>«EPAM</a:t>
            </a:r>
            <a:r>
              <a:rPr dirty="0" sz="450" spc="-3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Learn</a:t>
            </a:r>
            <a:r>
              <a:rPr dirty="0" sz="450" spc="-3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Platform»</a:t>
            </a: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dirty="0" sz="400">
                <a:latin typeface="Verdana"/>
                <a:cs typeface="Verdana"/>
              </a:rPr>
              <a:t>March,</a:t>
            </a:r>
            <a:r>
              <a:rPr dirty="0" sz="400" spc="-20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2022</a:t>
            </a:r>
            <a:r>
              <a:rPr dirty="0" sz="400" spc="75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—</a:t>
            </a:r>
            <a:r>
              <a:rPr dirty="0" sz="400" spc="70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April,</a:t>
            </a:r>
            <a:r>
              <a:rPr dirty="0" sz="400" spc="-15">
                <a:latin typeface="Verdana"/>
                <a:cs typeface="Verdana"/>
              </a:rPr>
              <a:t> </a:t>
            </a:r>
            <a:r>
              <a:rPr dirty="0" sz="400" spc="-20">
                <a:latin typeface="Verdana"/>
                <a:cs typeface="Verdana"/>
              </a:rPr>
              <a:t>2022</a:t>
            </a:r>
            <a:endParaRPr sz="4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250"/>
              </a:spcBef>
            </a:pPr>
            <a:r>
              <a:rPr dirty="0" sz="450" b="1">
                <a:latin typeface="Tahoma"/>
                <a:cs typeface="Tahoma"/>
              </a:rPr>
              <a:t>Online</a:t>
            </a:r>
            <a:r>
              <a:rPr dirty="0" sz="450" spc="13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training</a:t>
            </a:r>
            <a:r>
              <a:rPr dirty="0" sz="450" spc="13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course</a:t>
            </a:r>
            <a:r>
              <a:rPr dirty="0" sz="450" spc="14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«HTML5»</a:t>
            </a:r>
            <a:r>
              <a:rPr dirty="0" sz="450" spc="140" b="1">
                <a:latin typeface="Tahoma"/>
                <a:cs typeface="Tahoma"/>
              </a:rPr>
              <a:t> </a:t>
            </a:r>
            <a:r>
              <a:rPr dirty="0" sz="450" spc="-85" b="1">
                <a:latin typeface="Tahoma"/>
                <a:cs typeface="Tahoma"/>
              </a:rPr>
              <a:t>/</a:t>
            </a:r>
            <a:r>
              <a:rPr dirty="0" sz="450" spc="130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«CSS3»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 spc="-10">
                <a:latin typeface="Verdana"/>
                <a:cs typeface="Verdana"/>
              </a:rPr>
              <a:t>«SoloLearn»</a:t>
            </a: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dirty="0" sz="400" spc="-10">
                <a:latin typeface="Verdana"/>
                <a:cs typeface="Verdana"/>
              </a:rPr>
              <a:t>July,</a:t>
            </a:r>
            <a:r>
              <a:rPr dirty="0" sz="400" spc="-35">
                <a:latin typeface="Verdana"/>
                <a:cs typeface="Verdana"/>
              </a:rPr>
              <a:t> </a:t>
            </a:r>
            <a:r>
              <a:rPr dirty="0" sz="400" spc="-10">
                <a:latin typeface="Verdana"/>
                <a:cs typeface="Verdana"/>
              </a:rPr>
              <a:t>2021</a:t>
            </a:r>
            <a:r>
              <a:rPr dirty="0" sz="400" spc="55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—</a:t>
            </a:r>
            <a:r>
              <a:rPr dirty="0" sz="400" spc="55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January,</a:t>
            </a:r>
            <a:r>
              <a:rPr dirty="0" sz="400" spc="-20">
                <a:latin typeface="Verdana"/>
                <a:cs typeface="Verdana"/>
              </a:rPr>
              <a:t> 2022</a:t>
            </a:r>
            <a:endParaRPr sz="400">
              <a:latin typeface="Verdana"/>
              <a:cs typeface="Verdana"/>
            </a:endParaRPr>
          </a:p>
          <a:p>
            <a:pPr marL="12700" marR="165735">
              <a:lnSpc>
                <a:spcPct val="111400"/>
              </a:lnSpc>
              <a:spcBef>
                <a:spcPts val="190"/>
              </a:spcBef>
            </a:pPr>
            <a:r>
              <a:rPr dirty="0" sz="450" spc="20" b="1">
                <a:latin typeface="Tahoma"/>
                <a:cs typeface="Tahoma"/>
              </a:rPr>
              <a:t>Training</a:t>
            </a:r>
            <a:r>
              <a:rPr dirty="0" sz="450" spc="60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course</a:t>
            </a:r>
            <a:r>
              <a:rPr dirty="0" sz="450" spc="70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«Basic</a:t>
            </a:r>
            <a:r>
              <a:rPr dirty="0" sz="450" spc="50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knowledge</a:t>
            </a:r>
            <a:r>
              <a:rPr dirty="0" sz="450" spc="70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of</a:t>
            </a:r>
            <a:r>
              <a:rPr dirty="0" sz="450" spc="60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programming</a:t>
            </a:r>
            <a:r>
              <a:rPr dirty="0" sz="450" spc="65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and</a:t>
            </a:r>
            <a:r>
              <a:rPr dirty="0" sz="450" spc="70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algorithm</a:t>
            </a:r>
            <a:r>
              <a:rPr dirty="0" sz="450" spc="85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knowledge</a:t>
            </a:r>
            <a:r>
              <a:rPr dirty="0" sz="450" spc="500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using</a:t>
            </a:r>
            <a:r>
              <a:rPr dirty="0" sz="450" spc="55" b="1">
                <a:latin typeface="Tahoma"/>
                <a:cs typeface="Tahoma"/>
              </a:rPr>
              <a:t> </a:t>
            </a:r>
            <a:r>
              <a:rPr dirty="0" sz="450" spc="50" b="1">
                <a:latin typeface="Tahoma"/>
                <a:cs typeface="Tahoma"/>
              </a:rPr>
              <a:t>C</a:t>
            </a:r>
            <a:r>
              <a:rPr dirty="0" sz="450" spc="75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language</a:t>
            </a:r>
            <a:r>
              <a:rPr dirty="0" sz="450" spc="65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and</a:t>
            </a:r>
            <a:r>
              <a:rPr dirty="0" sz="450" spc="65" b="1">
                <a:latin typeface="Tahoma"/>
                <a:cs typeface="Tahoma"/>
              </a:rPr>
              <a:t> </a:t>
            </a:r>
            <a:r>
              <a:rPr dirty="0" sz="450" spc="-25" b="1">
                <a:latin typeface="Tahoma"/>
                <a:cs typeface="Tahoma"/>
              </a:rPr>
              <a:t>JS»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 spc="-50">
                <a:latin typeface="Verdana"/>
                <a:cs typeface="Verdana"/>
              </a:rPr>
              <a:t>«IT</a:t>
            </a:r>
            <a:r>
              <a:rPr dirty="0" sz="450" spc="-10">
                <a:latin typeface="Verdana"/>
                <a:cs typeface="Verdana"/>
              </a:rPr>
              <a:t> </a:t>
            </a:r>
            <a:r>
              <a:rPr dirty="0" sz="450" spc="-30">
                <a:latin typeface="Verdana"/>
                <a:cs typeface="Verdana"/>
              </a:rPr>
              <a:t>Class»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 spc="-2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Gomel</a:t>
            </a: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dirty="0" sz="400">
                <a:latin typeface="Verdana"/>
                <a:cs typeface="Verdana"/>
              </a:rPr>
              <a:t>2006</a:t>
            </a:r>
            <a:r>
              <a:rPr dirty="0" sz="400" spc="95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—</a:t>
            </a:r>
            <a:r>
              <a:rPr dirty="0" sz="400" spc="90">
                <a:latin typeface="Verdana"/>
                <a:cs typeface="Verdana"/>
              </a:rPr>
              <a:t> </a:t>
            </a:r>
            <a:r>
              <a:rPr dirty="0" sz="400" spc="-20">
                <a:latin typeface="Verdana"/>
                <a:cs typeface="Verdana"/>
              </a:rPr>
              <a:t>2008</a:t>
            </a:r>
            <a:endParaRPr sz="4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250"/>
              </a:spcBef>
            </a:pPr>
            <a:r>
              <a:rPr dirty="0" sz="450" spc="20" b="1">
                <a:latin typeface="Tahoma"/>
                <a:cs typeface="Tahoma"/>
              </a:rPr>
              <a:t>Training</a:t>
            </a:r>
            <a:r>
              <a:rPr dirty="0" sz="450" spc="30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for</a:t>
            </a:r>
            <a:r>
              <a:rPr dirty="0" sz="450" spc="40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the</a:t>
            </a:r>
            <a:r>
              <a:rPr dirty="0" sz="450" spc="35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profession</a:t>
            </a:r>
            <a:r>
              <a:rPr dirty="0" sz="450" spc="35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of</a:t>
            </a:r>
            <a:r>
              <a:rPr dirty="0" sz="450" spc="35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«Computer</a:t>
            </a:r>
            <a:r>
              <a:rPr dirty="0" sz="450" spc="40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Operator»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>
                <a:latin typeface="Verdana"/>
                <a:cs typeface="Verdana"/>
              </a:rPr>
              <a:t>Educational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Institution </a:t>
            </a:r>
            <a:r>
              <a:rPr dirty="0" sz="450" spc="-30">
                <a:latin typeface="Verdana"/>
                <a:cs typeface="Verdana"/>
              </a:rPr>
              <a:t>«Inter-</a:t>
            </a:r>
            <a:r>
              <a:rPr dirty="0" sz="450" spc="-10">
                <a:latin typeface="Verdana"/>
                <a:cs typeface="Verdana"/>
              </a:rPr>
              <a:t>School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-25">
                <a:latin typeface="Verdana"/>
                <a:cs typeface="Verdana"/>
              </a:rPr>
              <a:t>UPK№1»</a:t>
            </a:r>
            <a:r>
              <a:rPr dirty="0" sz="450" spc="-10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>
                <a:latin typeface="Verdana"/>
                <a:cs typeface="Verdana"/>
              </a:rPr>
              <a:t> </a:t>
            </a:r>
            <a:r>
              <a:rPr dirty="0" sz="450" spc="-20">
                <a:latin typeface="Verdana"/>
                <a:cs typeface="Verdana"/>
              </a:rPr>
              <a:t>Gomel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92" name="object 92" descr=""/>
          <p:cNvGrpSpPr/>
          <p:nvPr/>
        </p:nvGrpSpPr>
        <p:grpSpPr>
          <a:xfrm>
            <a:off x="1339595" y="5128983"/>
            <a:ext cx="43815" cy="746125"/>
            <a:chOff x="1339595" y="5128983"/>
            <a:chExt cx="43815" cy="746125"/>
          </a:xfrm>
        </p:grpSpPr>
        <p:sp>
          <p:nvSpPr>
            <p:cNvPr id="93" name="object 93" descr=""/>
            <p:cNvSpPr/>
            <p:nvPr/>
          </p:nvSpPr>
          <p:spPr>
            <a:xfrm>
              <a:off x="1359287" y="5154409"/>
              <a:ext cx="0" cy="683895"/>
            </a:xfrm>
            <a:custGeom>
              <a:avLst/>
              <a:gdLst/>
              <a:ahLst/>
              <a:cxnLst/>
              <a:rect l="l" t="t" r="r" b="b"/>
              <a:pathLst>
                <a:path w="0" h="683895">
                  <a:moveTo>
                    <a:pt x="0" y="0"/>
                  </a:moveTo>
                  <a:lnTo>
                    <a:pt x="0" y="683615"/>
                  </a:lnTo>
                </a:path>
              </a:pathLst>
            </a:custGeom>
            <a:ln w="382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4" name="object 94" descr=""/>
            <p:cNvSpPr/>
            <p:nvPr/>
          </p:nvSpPr>
          <p:spPr>
            <a:xfrm>
              <a:off x="1339596" y="5128983"/>
              <a:ext cx="43815" cy="746125"/>
            </a:xfrm>
            <a:custGeom>
              <a:avLst/>
              <a:gdLst/>
              <a:ahLst/>
              <a:cxnLst/>
              <a:rect l="l" t="t" r="r" b="b"/>
              <a:pathLst>
                <a:path w="43815" h="746125">
                  <a:moveTo>
                    <a:pt x="43205" y="724319"/>
                  </a:moveTo>
                  <a:lnTo>
                    <a:pt x="21602" y="702716"/>
                  </a:lnTo>
                  <a:lnTo>
                    <a:pt x="0" y="724319"/>
                  </a:lnTo>
                  <a:lnTo>
                    <a:pt x="21602" y="745921"/>
                  </a:lnTo>
                  <a:lnTo>
                    <a:pt x="43205" y="724319"/>
                  </a:lnTo>
                  <a:close/>
                </a:path>
                <a:path w="43815" h="746125">
                  <a:moveTo>
                    <a:pt x="43205" y="327126"/>
                  </a:moveTo>
                  <a:lnTo>
                    <a:pt x="21602" y="305523"/>
                  </a:lnTo>
                  <a:lnTo>
                    <a:pt x="0" y="327126"/>
                  </a:lnTo>
                  <a:lnTo>
                    <a:pt x="21602" y="348729"/>
                  </a:lnTo>
                  <a:lnTo>
                    <a:pt x="43205" y="327126"/>
                  </a:lnTo>
                  <a:close/>
                </a:path>
                <a:path w="43815" h="746125">
                  <a:moveTo>
                    <a:pt x="43205" y="21602"/>
                  </a:moveTo>
                  <a:lnTo>
                    <a:pt x="21602" y="0"/>
                  </a:lnTo>
                  <a:lnTo>
                    <a:pt x="0" y="21602"/>
                  </a:lnTo>
                  <a:lnTo>
                    <a:pt x="21602" y="43205"/>
                  </a:lnTo>
                  <a:lnTo>
                    <a:pt x="43205" y="216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5" name="object 95" descr=""/>
          <p:cNvSpPr txBox="1"/>
          <p:nvPr/>
        </p:nvSpPr>
        <p:spPr>
          <a:xfrm>
            <a:off x="1421066" y="5083281"/>
            <a:ext cx="2489200" cy="1000760"/>
          </a:xfrm>
          <a:prstGeom prst="rect">
            <a:avLst/>
          </a:prstGeom>
        </p:spPr>
        <p:txBody>
          <a:bodyPr wrap="square" lIns="0" tIns="393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10"/>
              </a:spcBef>
            </a:pPr>
            <a:r>
              <a:rPr dirty="0" sz="400" spc="-10">
                <a:latin typeface="Verdana"/>
                <a:cs typeface="Verdana"/>
              </a:rPr>
              <a:t>2018</a:t>
            </a:r>
            <a:r>
              <a:rPr dirty="0" sz="400" spc="50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—</a:t>
            </a:r>
            <a:r>
              <a:rPr dirty="0" sz="400" spc="55">
                <a:latin typeface="Verdana"/>
                <a:cs typeface="Verdana"/>
              </a:rPr>
              <a:t> </a:t>
            </a:r>
            <a:r>
              <a:rPr dirty="0" sz="400" spc="-20">
                <a:latin typeface="Verdana"/>
                <a:cs typeface="Verdana"/>
              </a:rPr>
              <a:t>2022</a:t>
            </a:r>
            <a:endParaRPr sz="4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250"/>
              </a:spcBef>
            </a:pPr>
            <a:r>
              <a:rPr dirty="0" sz="450" spc="10" b="1">
                <a:latin typeface="Tahoma"/>
                <a:cs typeface="Tahoma"/>
              </a:rPr>
              <a:t>Chief</a:t>
            </a:r>
            <a:r>
              <a:rPr dirty="0" sz="450" spc="110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Engineer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>
                <a:latin typeface="Verdana"/>
                <a:cs typeface="Verdana"/>
              </a:rPr>
              <a:t>LLC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«Prompodgotovka»</a:t>
            </a:r>
            <a:r>
              <a:rPr dirty="0" sz="450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>
                <a:latin typeface="Verdana"/>
                <a:cs typeface="Verdana"/>
              </a:rPr>
              <a:t> </a:t>
            </a:r>
            <a:r>
              <a:rPr dirty="0" sz="450" spc="-20">
                <a:latin typeface="Verdana"/>
                <a:cs typeface="Verdana"/>
              </a:rPr>
              <a:t>Gomel</a:t>
            </a: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dirty="0" sz="400" spc="-20">
                <a:latin typeface="Verdana"/>
                <a:cs typeface="Verdana"/>
              </a:rPr>
              <a:t>2015</a:t>
            </a:r>
            <a:r>
              <a:rPr dirty="0" sz="400" spc="55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—</a:t>
            </a:r>
            <a:r>
              <a:rPr dirty="0" sz="400" spc="60">
                <a:latin typeface="Verdana"/>
                <a:cs typeface="Verdana"/>
              </a:rPr>
              <a:t> </a:t>
            </a:r>
            <a:r>
              <a:rPr dirty="0" sz="400" spc="-20">
                <a:latin typeface="Verdana"/>
                <a:cs typeface="Verdana"/>
              </a:rPr>
              <a:t>2018</a:t>
            </a:r>
            <a:endParaRPr sz="4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250"/>
              </a:spcBef>
            </a:pPr>
            <a:r>
              <a:rPr dirty="0" sz="450" spc="-10" b="1">
                <a:latin typeface="Tahoma"/>
                <a:cs typeface="Tahoma"/>
              </a:rPr>
              <a:t>Teacher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450">
                <a:latin typeface="Verdana"/>
                <a:cs typeface="Verdana"/>
              </a:rPr>
              <a:t>Private</a:t>
            </a:r>
            <a:r>
              <a:rPr dirty="0" sz="450" spc="-1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Educational</a:t>
            </a:r>
            <a:r>
              <a:rPr dirty="0" sz="450" spc="-10">
                <a:latin typeface="Verdana"/>
                <a:cs typeface="Verdana"/>
              </a:rPr>
              <a:t> Institution «Center </a:t>
            </a:r>
            <a:r>
              <a:rPr dirty="0" sz="450" spc="-20">
                <a:latin typeface="Verdana"/>
                <a:cs typeface="Verdana"/>
              </a:rPr>
              <a:t>for</a:t>
            </a:r>
            <a:r>
              <a:rPr dirty="0" sz="450" spc="-10">
                <a:latin typeface="Verdana"/>
                <a:cs typeface="Verdana"/>
              </a:rPr>
              <a:t> training, </a:t>
            </a:r>
            <a:r>
              <a:rPr dirty="0" sz="450">
                <a:latin typeface="Verdana"/>
                <a:cs typeface="Verdana"/>
              </a:rPr>
              <a:t>advanced</a:t>
            </a:r>
            <a:r>
              <a:rPr dirty="0" sz="450" spc="-1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training</a:t>
            </a:r>
            <a:r>
              <a:rPr dirty="0" sz="450" spc="-2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and</a:t>
            </a:r>
            <a:r>
              <a:rPr dirty="0" sz="450" spc="-1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retraining</a:t>
            </a:r>
            <a:r>
              <a:rPr dirty="0" sz="450" spc="-20">
                <a:latin typeface="Verdana"/>
                <a:cs typeface="Verdana"/>
              </a:rPr>
              <a:t> </a:t>
            </a:r>
            <a:r>
              <a:rPr dirty="0" sz="450" spc="-25">
                <a:latin typeface="Verdana"/>
                <a:cs typeface="Verdana"/>
              </a:rPr>
              <a:t>of</a:t>
            </a: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dirty="0" sz="450" spc="-10">
                <a:latin typeface="Verdana"/>
                <a:cs typeface="Verdana"/>
              </a:rPr>
              <a:t>workers</a:t>
            </a:r>
            <a:r>
              <a:rPr dirty="0" sz="45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«Prompodgotovka–Obrazovanie»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 spc="-20">
                <a:latin typeface="Verdana"/>
                <a:cs typeface="Verdana"/>
              </a:rPr>
              <a:t>Gomel</a:t>
            </a: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470"/>
              </a:spcBef>
            </a:pPr>
            <a:r>
              <a:rPr dirty="0" sz="400" spc="-20">
                <a:latin typeface="Verdana"/>
                <a:cs typeface="Verdana"/>
              </a:rPr>
              <a:t>2013</a:t>
            </a:r>
            <a:r>
              <a:rPr dirty="0" sz="400" spc="55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—</a:t>
            </a:r>
            <a:r>
              <a:rPr dirty="0" sz="400" spc="60">
                <a:latin typeface="Verdana"/>
                <a:cs typeface="Verdana"/>
              </a:rPr>
              <a:t> </a:t>
            </a:r>
            <a:r>
              <a:rPr dirty="0" sz="400" spc="-20">
                <a:latin typeface="Verdana"/>
                <a:cs typeface="Verdana"/>
              </a:rPr>
              <a:t>2015</a:t>
            </a:r>
            <a:endParaRPr sz="4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254"/>
              </a:spcBef>
            </a:pPr>
            <a:r>
              <a:rPr dirty="0" sz="450" spc="10" b="1">
                <a:latin typeface="Tahoma"/>
                <a:cs typeface="Tahoma"/>
              </a:rPr>
              <a:t>Process</a:t>
            </a:r>
            <a:r>
              <a:rPr dirty="0" sz="450" spc="155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engineer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>
                <a:latin typeface="Verdana"/>
                <a:cs typeface="Verdana"/>
              </a:rPr>
              <a:t>OJSC</a:t>
            </a:r>
            <a:r>
              <a:rPr dirty="0" sz="450" spc="-1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«Gomel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Foundry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«CENTROLIT»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 spc="-20">
                <a:latin typeface="Verdana"/>
                <a:cs typeface="Verdana"/>
              </a:rPr>
              <a:t> Gomel</a:t>
            </a:r>
            <a:endParaRPr sz="450">
              <a:latin typeface="Verdana"/>
              <a:cs typeface="Verdana"/>
            </a:endParaRPr>
          </a:p>
        </p:txBody>
      </p:sp>
      <p:sp>
        <p:nvSpPr>
          <p:cNvPr id="96" name="object 96" descr=""/>
          <p:cNvSpPr/>
          <p:nvPr/>
        </p:nvSpPr>
        <p:spPr>
          <a:xfrm>
            <a:off x="3743312" y="263131"/>
            <a:ext cx="371475" cy="169545"/>
          </a:xfrm>
          <a:custGeom>
            <a:avLst/>
            <a:gdLst/>
            <a:ahLst/>
            <a:cxnLst/>
            <a:rect l="l" t="t" r="r" b="b"/>
            <a:pathLst>
              <a:path w="371475" h="169545">
                <a:moveTo>
                  <a:pt x="371475" y="0"/>
                </a:moveTo>
                <a:lnTo>
                  <a:pt x="0" y="0"/>
                </a:lnTo>
                <a:lnTo>
                  <a:pt x="0" y="169367"/>
                </a:lnTo>
                <a:lnTo>
                  <a:pt x="371475" y="169367"/>
                </a:lnTo>
                <a:lnTo>
                  <a:pt x="371475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7" name="object 97" descr=""/>
          <p:cNvSpPr/>
          <p:nvPr/>
        </p:nvSpPr>
        <p:spPr>
          <a:xfrm>
            <a:off x="0" y="0"/>
            <a:ext cx="3587115" cy="295275"/>
          </a:xfrm>
          <a:custGeom>
            <a:avLst/>
            <a:gdLst/>
            <a:ahLst/>
            <a:cxnLst/>
            <a:rect l="l" t="t" r="r" b="b"/>
            <a:pathLst>
              <a:path w="3587115" h="295275">
                <a:moveTo>
                  <a:pt x="3491801" y="198234"/>
                </a:moveTo>
                <a:lnTo>
                  <a:pt x="3351009" y="198234"/>
                </a:lnTo>
                <a:lnTo>
                  <a:pt x="3351009" y="295275"/>
                </a:lnTo>
                <a:lnTo>
                  <a:pt x="3491801" y="295275"/>
                </a:lnTo>
                <a:lnTo>
                  <a:pt x="3491801" y="198234"/>
                </a:lnTo>
                <a:close/>
              </a:path>
              <a:path w="3587115" h="295275">
                <a:moveTo>
                  <a:pt x="3587051" y="0"/>
                </a:moveTo>
                <a:lnTo>
                  <a:pt x="0" y="0"/>
                </a:lnTo>
                <a:lnTo>
                  <a:pt x="0" y="190500"/>
                </a:lnTo>
                <a:lnTo>
                  <a:pt x="3587051" y="190500"/>
                </a:lnTo>
                <a:lnTo>
                  <a:pt x="3587051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"/>
          <p:cNvSpPr/>
          <p:nvPr/>
        </p:nvSpPr>
        <p:spPr>
          <a:xfrm>
            <a:off x="-1028" y="-1930"/>
            <a:ext cx="4201160" cy="6779259"/>
          </a:xfrm>
          <a:custGeom>
            <a:avLst/>
            <a:gdLst/>
            <a:ahLst/>
            <a:cxnLst/>
            <a:rect l="l" t="t" r="r" b="b"/>
            <a:pathLst>
              <a:path w="4201160" h="6779259">
                <a:moveTo>
                  <a:pt x="4198213" y="0"/>
                </a:moveTo>
                <a:lnTo>
                  <a:pt x="2768" y="0"/>
                </a:lnTo>
                <a:lnTo>
                  <a:pt x="1866" y="368"/>
                </a:lnTo>
                <a:lnTo>
                  <a:pt x="381" y="1854"/>
                </a:lnTo>
                <a:lnTo>
                  <a:pt x="0" y="2768"/>
                </a:lnTo>
                <a:lnTo>
                  <a:pt x="0" y="6775031"/>
                </a:lnTo>
                <a:lnTo>
                  <a:pt x="0" y="6776085"/>
                </a:lnTo>
                <a:lnTo>
                  <a:pt x="381" y="6776986"/>
                </a:lnTo>
                <a:lnTo>
                  <a:pt x="1866" y="6778472"/>
                </a:lnTo>
                <a:lnTo>
                  <a:pt x="2768" y="6778853"/>
                </a:lnTo>
                <a:lnTo>
                  <a:pt x="4198213" y="6778853"/>
                </a:lnTo>
                <a:lnTo>
                  <a:pt x="4199115" y="6778472"/>
                </a:lnTo>
                <a:lnTo>
                  <a:pt x="4200613" y="6776986"/>
                </a:lnTo>
                <a:lnTo>
                  <a:pt x="4200982" y="6776085"/>
                </a:lnTo>
                <a:lnTo>
                  <a:pt x="4200982" y="2768"/>
                </a:lnTo>
                <a:lnTo>
                  <a:pt x="4200613" y="1854"/>
                </a:lnTo>
                <a:lnTo>
                  <a:pt x="4199115" y="368"/>
                </a:lnTo>
                <a:lnTo>
                  <a:pt x="4198213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 descr=""/>
          <p:cNvSpPr txBox="1"/>
          <p:nvPr/>
        </p:nvSpPr>
        <p:spPr>
          <a:xfrm>
            <a:off x="62651" y="1173854"/>
            <a:ext cx="247650" cy="20891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>
              <a:lnSpc>
                <a:spcPct val="133700"/>
              </a:lnSpc>
              <a:spcBef>
                <a:spcPts val="90"/>
              </a:spcBef>
            </a:pPr>
            <a:r>
              <a:rPr dirty="0" sz="450" spc="-10" b="1">
                <a:latin typeface="Tahoma"/>
                <a:cs typeface="Tahoma"/>
              </a:rPr>
              <a:t>Адрес:</a:t>
            </a:r>
            <a:r>
              <a:rPr dirty="0" sz="450" spc="500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Email:</a:t>
            </a:r>
            <a:endParaRPr sz="450">
              <a:latin typeface="Tahoma"/>
              <a:cs typeface="Tahoma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349" y="4645870"/>
            <a:ext cx="87838" cy="87838"/>
          </a:xfrm>
          <a:prstGeom prst="rect">
            <a:avLst/>
          </a:prstGeom>
        </p:spPr>
      </p:pic>
      <p:pic>
        <p:nvPicPr>
          <p:cNvPr id="5" name="object 5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349" y="4859738"/>
            <a:ext cx="87838" cy="87838"/>
          </a:xfrm>
          <a:prstGeom prst="rect">
            <a:avLst/>
          </a:prstGeom>
        </p:spPr>
      </p:pic>
      <p:sp>
        <p:nvSpPr>
          <p:cNvPr id="6" name="object 6" descr=""/>
          <p:cNvSpPr txBox="1"/>
          <p:nvPr/>
        </p:nvSpPr>
        <p:spPr>
          <a:xfrm>
            <a:off x="62649" y="4457494"/>
            <a:ext cx="791210" cy="58356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54330">
              <a:lnSpc>
                <a:spcPct val="100000"/>
              </a:lnSpc>
              <a:spcBef>
                <a:spcPts val="90"/>
              </a:spcBef>
            </a:pPr>
            <a:r>
              <a:rPr dirty="0" sz="850" spc="-10" b="1">
                <a:latin typeface="Tahoma"/>
                <a:cs typeface="Tahoma"/>
              </a:rPr>
              <a:t>ЯЗЫКИ</a:t>
            </a:r>
            <a:endParaRPr sz="850">
              <a:latin typeface="Tahoma"/>
              <a:cs typeface="Tahoma"/>
            </a:endParaRPr>
          </a:p>
          <a:p>
            <a:pPr marL="107950">
              <a:lnSpc>
                <a:spcPct val="100000"/>
              </a:lnSpc>
              <a:spcBef>
                <a:spcPts val="434"/>
              </a:spcBef>
            </a:pPr>
            <a:r>
              <a:rPr dirty="0" sz="450" spc="-10" b="1">
                <a:latin typeface="Tahoma"/>
                <a:cs typeface="Tahoma"/>
              </a:rPr>
              <a:t>Английский: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dirty="0" sz="450" spc="-65">
                <a:latin typeface="Verdana"/>
                <a:cs typeface="Verdana"/>
              </a:rPr>
              <a:t>B1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(Средний</a:t>
            </a:r>
            <a:r>
              <a:rPr dirty="0" sz="450" spc="-10">
                <a:latin typeface="Verdana"/>
                <a:cs typeface="Verdana"/>
              </a:rPr>
              <a:t> уровень)</a:t>
            </a:r>
            <a:endParaRPr sz="450">
              <a:latin typeface="Verdana"/>
              <a:cs typeface="Verdana"/>
            </a:endParaRPr>
          </a:p>
          <a:p>
            <a:pPr marL="107950">
              <a:lnSpc>
                <a:spcPct val="100000"/>
              </a:lnSpc>
              <a:spcBef>
                <a:spcPts val="420"/>
              </a:spcBef>
            </a:pPr>
            <a:r>
              <a:rPr dirty="0" sz="450" spc="-10" b="1">
                <a:latin typeface="Tahoma"/>
                <a:cs typeface="Tahoma"/>
              </a:rPr>
              <a:t>Русский: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dirty="0" sz="450" spc="-10">
                <a:latin typeface="Verdana"/>
                <a:cs typeface="Verdana"/>
              </a:rPr>
              <a:t>Родной</a:t>
            </a:r>
            <a:endParaRPr sz="450">
              <a:latin typeface="Verdana"/>
              <a:cs typeface="Verdana"/>
            </a:endParaRPr>
          </a:p>
        </p:txBody>
      </p:sp>
      <p:sp>
        <p:nvSpPr>
          <p:cNvPr id="7" name="object 7" descr=""/>
          <p:cNvSpPr/>
          <p:nvPr/>
        </p:nvSpPr>
        <p:spPr>
          <a:xfrm>
            <a:off x="1259268" y="1048308"/>
            <a:ext cx="4445" cy="5575935"/>
          </a:xfrm>
          <a:custGeom>
            <a:avLst/>
            <a:gdLst/>
            <a:ahLst/>
            <a:cxnLst/>
            <a:rect l="l" t="t" r="r" b="b"/>
            <a:pathLst>
              <a:path w="4444" h="5575934">
                <a:moveTo>
                  <a:pt x="3819" y="0"/>
                </a:moveTo>
                <a:lnTo>
                  <a:pt x="0" y="0"/>
                </a:lnTo>
                <a:lnTo>
                  <a:pt x="0" y="5575846"/>
                </a:lnTo>
                <a:lnTo>
                  <a:pt x="3819" y="5575846"/>
                </a:lnTo>
                <a:lnTo>
                  <a:pt x="38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 descr=""/>
          <p:cNvSpPr txBox="1"/>
          <p:nvPr/>
        </p:nvSpPr>
        <p:spPr>
          <a:xfrm>
            <a:off x="1326768" y="972788"/>
            <a:ext cx="2803525" cy="1456690"/>
          </a:xfrm>
          <a:prstGeom prst="rect">
            <a:avLst/>
          </a:prstGeom>
        </p:spPr>
        <p:txBody>
          <a:bodyPr wrap="square" lIns="0" tIns="4762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dirty="0" sz="850" spc="-10" b="1">
                <a:latin typeface="Tahoma"/>
                <a:cs typeface="Tahoma"/>
              </a:rPr>
              <a:t>ПРОФИЛЬ</a:t>
            </a:r>
            <a:endParaRPr sz="850">
              <a:latin typeface="Tahoma"/>
              <a:cs typeface="Tahoma"/>
            </a:endParaRPr>
          </a:p>
          <a:p>
            <a:pPr marL="12700" marR="250825">
              <a:lnSpc>
                <a:spcPct val="122500"/>
              </a:lnSpc>
              <a:spcBef>
                <a:spcPts val="70"/>
              </a:spcBef>
            </a:pPr>
            <a:r>
              <a:rPr dirty="0" sz="450">
                <a:latin typeface="Verdana"/>
                <a:cs typeface="Verdana"/>
              </a:rPr>
              <a:t>Привет,</a:t>
            </a:r>
            <a:r>
              <a:rPr dirty="0" sz="450" spc="19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я</a:t>
            </a:r>
            <a:r>
              <a:rPr dirty="0" sz="450" spc="26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инженер-разработчик</a:t>
            </a:r>
            <a:r>
              <a:rPr dirty="0" sz="450" spc="20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программного</a:t>
            </a:r>
            <a:r>
              <a:rPr dirty="0" sz="450" spc="21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обеспечения.</a:t>
            </a:r>
            <a:r>
              <a:rPr dirty="0" sz="450" spc="19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Мне</a:t>
            </a:r>
            <a:r>
              <a:rPr dirty="0" sz="450" spc="25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интересно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оживлять</a:t>
            </a:r>
            <a:r>
              <a:rPr dirty="0" sz="450" spc="-1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статичные</a:t>
            </a:r>
            <a:r>
              <a:rPr dirty="0" sz="45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шаблоны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художников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или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дизайнеров.</a:t>
            </a:r>
            <a:r>
              <a:rPr dirty="0" sz="450" spc="-2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А</a:t>
            </a:r>
            <a:r>
              <a:rPr dirty="0" sz="45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также</a:t>
            </a:r>
            <a:r>
              <a:rPr dirty="0" sz="45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создавать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удобные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и</a:t>
            </a:r>
            <a:r>
              <a:rPr dirty="0" sz="450" spc="1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интерактивные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интерфейсы</a:t>
            </a:r>
            <a:r>
              <a:rPr dirty="0" sz="450" spc="3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сайтов</a:t>
            </a:r>
            <a:r>
              <a:rPr dirty="0" sz="450" spc="2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и</a:t>
            </a:r>
            <a:r>
              <a:rPr dirty="0" sz="450" spc="1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приложений.</a:t>
            </a:r>
            <a:endParaRPr sz="450">
              <a:latin typeface="Verdana"/>
              <a:cs typeface="Verdana"/>
            </a:endParaRPr>
          </a:p>
          <a:p>
            <a:pPr marL="12700" marR="97790">
              <a:lnSpc>
                <a:spcPct val="122500"/>
              </a:lnSpc>
              <a:spcBef>
                <a:spcPts val="210"/>
              </a:spcBef>
            </a:pPr>
            <a:r>
              <a:rPr dirty="0" sz="450" spc="30">
                <a:latin typeface="Verdana"/>
                <a:cs typeface="Verdana"/>
              </a:rPr>
              <a:t>Многолетний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опыт</a:t>
            </a:r>
            <a:r>
              <a:rPr dirty="0" sz="450" spc="3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работы</a:t>
            </a:r>
            <a:r>
              <a:rPr dirty="0" sz="450" spc="3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преподавателем позволил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30">
                <a:latin typeface="Verdana"/>
                <a:cs typeface="Verdana"/>
              </a:rPr>
              <a:t>мне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развить</a:t>
            </a:r>
            <a:r>
              <a:rPr dirty="0" sz="450" spc="1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навыки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коммуникации</a:t>
            </a:r>
            <a:r>
              <a:rPr dirty="0" sz="450" spc="9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и</a:t>
            </a:r>
            <a:r>
              <a:rPr dirty="0" sz="450" spc="9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умение</a:t>
            </a:r>
            <a:r>
              <a:rPr dirty="0" sz="450" spc="10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четко</a:t>
            </a:r>
            <a:r>
              <a:rPr dirty="0" sz="450" spc="8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доносить</a:t>
            </a:r>
            <a:r>
              <a:rPr dirty="0" sz="450" spc="9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свои</a:t>
            </a:r>
            <a:r>
              <a:rPr dirty="0" sz="450" spc="9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мысли</a:t>
            </a:r>
            <a:r>
              <a:rPr dirty="0" sz="450" spc="9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и</a:t>
            </a:r>
            <a:r>
              <a:rPr dirty="0" sz="450" spc="9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идеи,</a:t>
            </a:r>
            <a:r>
              <a:rPr dirty="0" sz="450" spc="7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а</a:t>
            </a:r>
            <a:r>
              <a:rPr dirty="0" sz="450" spc="7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опыт</a:t>
            </a:r>
            <a:r>
              <a:rPr dirty="0" sz="450" spc="12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работы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инженером</a:t>
            </a:r>
            <a:r>
              <a:rPr dirty="0" sz="450" spc="140">
                <a:latin typeface="Verdana"/>
                <a:cs typeface="Verdana"/>
              </a:rPr>
              <a:t> </a:t>
            </a:r>
            <a:r>
              <a:rPr dirty="0" sz="450" spc="-25">
                <a:latin typeface="Verdana"/>
                <a:cs typeface="Verdana"/>
              </a:rPr>
              <a:t>-</a:t>
            </a:r>
            <a:r>
              <a:rPr dirty="0" sz="450" spc="11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находить</a:t>
            </a:r>
            <a:r>
              <a:rPr dirty="0" sz="450" spc="12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эффективные</a:t>
            </a:r>
            <a:r>
              <a:rPr dirty="0" sz="450" spc="13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решения</a:t>
            </a:r>
            <a:r>
              <a:rPr dirty="0" sz="450" spc="14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сложных</a:t>
            </a:r>
            <a:r>
              <a:rPr dirty="0" sz="450" spc="8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задач.</a:t>
            </a:r>
            <a:r>
              <a:rPr dirty="0" sz="450" spc="9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Будучи</a:t>
            </a:r>
            <a:r>
              <a:rPr dirty="0" sz="450" spc="12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главным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 spc="30">
                <a:latin typeface="Verdana"/>
                <a:cs typeface="Verdana"/>
              </a:rPr>
              <a:t>инженером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я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30">
                <a:latin typeface="Verdana"/>
                <a:cs typeface="Verdana"/>
              </a:rPr>
              <a:t>успешно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руководил</a:t>
            </a:r>
            <a:r>
              <a:rPr dirty="0" sz="450" spc="-2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командой</a:t>
            </a:r>
            <a:r>
              <a:rPr dirty="0" sz="450" spc="-2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специалистов,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 spc="30">
                <a:latin typeface="Verdana"/>
                <a:cs typeface="Verdana"/>
              </a:rPr>
              <a:t>распределяя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задания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-50">
                <a:latin typeface="Verdana"/>
                <a:cs typeface="Verdana"/>
              </a:rPr>
              <a:t>и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обязанности.</a:t>
            </a:r>
            <a:endParaRPr sz="450">
              <a:latin typeface="Verdana"/>
              <a:cs typeface="Verdana"/>
            </a:endParaRPr>
          </a:p>
          <a:p>
            <a:pPr marL="12700" marR="38735">
              <a:lnSpc>
                <a:spcPct val="122500"/>
              </a:lnSpc>
              <a:spcBef>
                <a:spcPts val="210"/>
              </a:spcBef>
            </a:pPr>
            <a:r>
              <a:rPr dirty="0" sz="450" spc="20">
                <a:latin typeface="Verdana"/>
                <a:cs typeface="Verdana"/>
              </a:rPr>
              <a:t>Мои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сильные</a:t>
            </a:r>
            <a:r>
              <a:rPr dirty="0" sz="450" spc="25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стороны: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умение</a:t>
            </a:r>
            <a:r>
              <a:rPr dirty="0" sz="450" spc="25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работать</a:t>
            </a:r>
            <a:r>
              <a:rPr dirty="0" sz="450" spc="20">
                <a:latin typeface="Verdana"/>
                <a:cs typeface="Verdana"/>
              </a:rPr>
              <a:t> в</a:t>
            </a:r>
            <a:r>
              <a:rPr dirty="0" sz="450" spc="35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команде,</a:t>
            </a:r>
            <a:r>
              <a:rPr dirty="0" sz="45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вовлеченность в</a:t>
            </a:r>
            <a:r>
              <a:rPr dirty="0" sz="450" spc="3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процесс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работы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над</a:t>
            </a:r>
            <a:r>
              <a:rPr dirty="0" sz="450" spc="-2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проектом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и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способность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поставить</a:t>
            </a:r>
            <a:r>
              <a:rPr dirty="0" sz="45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себя на</a:t>
            </a:r>
            <a:r>
              <a:rPr dirty="0" sz="450" spc="-1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место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заказчика</a:t>
            </a:r>
            <a:r>
              <a:rPr dirty="0" sz="450" spc="-1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или</a:t>
            </a:r>
            <a:r>
              <a:rPr dirty="0" sz="45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конечного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пользователя</a:t>
            </a:r>
            <a:r>
              <a:rPr dirty="0" sz="450" spc="5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чтобы</a:t>
            </a:r>
            <a:r>
              <a:rPr dirty="0" sz="450" spc="55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улучшить</a:t>
            </a:r>
            <a:r>
              <a:rPr dirty="0" sz="450" spc="3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продукт,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который</a:t>
            </a:r>
            <a:r>
              <a:rPr dirty="0" sz="450" spc="30">
                <a:latin typeface="Verdana"/>
                <a:cs typeface="Verdana"/>
              </a:rPr>
              <a:t> </a:t>
            </a:r>
            <a:r>
              <a:rPr dirty="0" sz="450" spc="10">
                <a:latin typeface="Verdana"/>
                <a:cs typeface="Verdana"/>
              </a:rPr>
              <a:t>я</a:t>
            </a:r>
            <a:r>
              <a:rPr dirty="0" sz="450" spc="5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создаю.</a:t>
            </a:r>
            <a:endParaRPr sz="450">
              <a:latin typeface="Verdana"/>
              <a:cs typeface="Verdana"/>
            </a:endParaRPr>
          </a:p>
          <a:p>
            <a:pPr marL="12700" marR="5080">
              <a:lnSpc>
                <a:spcPct val="122500"/>
              </a:lnSpc>
              <a:spcBef>
                <a:spcPts val="210"/>
              </a:spcBef>
            </a:pPr>
            <a:r>
              <a:rPr dirty="0" sz="450" spc="20">
                <a:latin typeface="Verdana"/>
                <a:cs typeface="Verdana"/>
              </a:rPr>
              <a:t>На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данный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момент</a:t>
            </a:r>
            <a:r>
              <a:rPr dirty="0" sz="450" spc="30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моя</a:t>
            </a:r>
            <a:r>
              <a:rPr dirty="0" sz="450" spc="2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цель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—</a:t>
            </a:r>
            <a:r>
              <a:rPr dirty="0" sz="450" spc="10">
                <a:latin typeface="Verdana"/>
                <a:cs typeface="Verdana"/>
              </a:rPr>
              <a:t> стать</a:t>
            </a:r>
            <a:r>
              <a:rPr dirty="0" sz="450" spc="1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успешным</a:t>
            </a:r>
            <a:r>
              <a:rPr dirty="0" sz="450" spc="25">
                <a:latin typeface="Verdana"/>
                <a:cs typeface="Verdana"/>
              </a:rPr>
              <a:t> </a:t>
            </a:r>
            <a:r>
              <a:rPr dirty="0" sz="450" spc="20">
                <a:latin typeface="Verdana"/>
                <a:cs typeface="Verdana"/>
              </a:rPr>
              <a:t>фронтенд-</a:t>
            </a:r>
            <a:r>
              <a:rPr dirty="0" sz="450" spc="-10">
                <a:latin typeface="Verdana"/>
                <a:cs typeface="Verdana"/>
              </a:rPr>
              <a:t>разработчиком,</a:t>
            </a:r>
            <a:r>
              <a:rPr dirty="0" sz="450" spc="500">
                <a:latin typeface="Verdana"/>
                <a:cs typeface="Verdana"/>
              </a:rPr>
              <a:t>  </a:t>
            </a:r>
            <a:r>
              <a:rPr dirty="0" sz="450">
                <a:latin typeface="Verdana"/>
                <a:cs typeface="Verdana"/>
              </a:rPr>
              <a:t>способным</a:t>
            </a:r>
            <a:r>
              <a:rPr dirty="0" sz="450" spc="9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решать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сложные</a:t>
            </a:r>
            <a:r>
              <a:rPr dirty="0" sz="450" spc="9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задачи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в</a:t>
            </a:r>
            <a:r>
              <a:rPr dirty="0" sz="450" spc="10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разных</a:t>
            </a:r>
            <a:r>
              <a:rPr dirty="0" sz="450" spc="5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проектах.</a:t>
            </a:r>
            <a:r>
              <a:rPr dirty="0" sz="450" spc="6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Для</a:t>
            </a:r>
            <a:r>
              <a:rPr dirty="0" sz="450" spc="10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этого</a:t>
            </a:r>
            <a:r>
              <a:rPr dirty="0" sz="450" spc="7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я</a:t>
            </a:r>
            <a:r>
              <a:rPr dirty="0" sz="450" spc="9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продолжаю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усердно</a:t>
            </a:r>
            <a:r>
              <a:rPr dirty="0" sz="450" spc="6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учиться</a:t>
            </a:r>
            <a:r>
              <a:rPr dirty="0" sz="450" spc="9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и</a:t>
            </a:r>
            <a:r>
              <a:rPr dirty="0" sz="450" spc="7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каждый</a:t>
            </a:r>
            <a:r>
              <a:rPr dirty="0" sz="450" spc="7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день</a:t>
            </a:r>
            <a:r>
              <a:rPr dirty="0" sz="450" spc="7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изучаю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что-то</a:t>
            </a:r>
            <a:r>
              <a:rPr dirty="0" sz="450" spc="6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новое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и</a:t>
            </a:r>
            <a:r>
              <a:rPr dirty="0" sz="450" spc="7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оттачиваю</a:t>
            </a:r>
            <a:r>
              <a:rPr dirty="0" sz="450" spc="8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знания</a:t>
            </a:r>
            <a:r>
              <a:rPr dirty="0" sz="450" spc="9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на</a:t>
            </a:r>
            <a:r>
              <a:rPr dirty="0" sz="450" spc="5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практике.</a:t>
            </a:r>
            <a:endParaRPr sz="450">
              <a:latin typeface="Verdana"/>
              <a:cs typeface="Verdana"/>
            </a:endParaRPr>
          </a:p>
        </p:txBody>
      </p:sp>
      <p:sp>
        <p:nvSpPr>
          <p:cNvPr id="9" name="object 9" descr=""/>
          <p:cNvSpPr txBox="1"/>
          <p:nvPr/>
        </p:nvSpPr>
        <p:spPr>
          <a:xfrm>
            <a:off x="1326768" y="4992166"/>
            <a:ext cx="922655" cy="15430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850" b="1">
                <a:latin typeface="Tahoma"/>
                <a:cs typeface="Tahoma"/>
              </a:rPr>
              <a:t>ОПЫТ</a:t>
            </a:r>
            <a:r>
              <a:rPr dirty="0" sz="850" spc="165" b="1">
                <a:latin typeface="Tahoma"/>
                <a:cs typeface="Tahoma"/>
              </a:rPr>
              <a:t> </a:t>
            </a:r>
            <a:r>
              <a:rPr dirty="0" sz="850" spc="-10" b="1">
                <a:latin typeface="Tahoma"/>
                <a:cs typeface="Tahoma"/>
              </a:rPr>
              <a:t>РАБОТЫ</a:t>
            </a:r>
            <a:endParaRPr sz="850">
              <a:latin typeface="Tahoma"/>
              <a:cs typeface="Tahoma"/>
            </a:endParaRPr>
          </a:p>
        </p:txBody>
      </p:sp>
      <p:sp>
        <p:nvSpPr>
          <p:cNvPr id="10" name="object 10" descr=""/>
          <p:cNvSpPr txBox="1"/>
          <p:nvPr/>
        </p:nvSpPr>
        <p:spPr>
          <a:xfrm>
            <a:off x="1326768" y="6195173"/>
            <a:ext cx="1045210" cy="42989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850" spc="-10" b="1">
                <a:latin typeface="Tahoma"/>
                <a:cs typeface="Tahoma"/>
              </a:rPr>
              <a:t>РЕКОМЕНДАЦИИ</a:t>
            </a:r>
            <a:endParaRPr sz="850">
              <a:latin typeface="Tahoma"/>
              <a:cs typeface="Tahoma"/>
            </a:endParaRPr>
          </a:p>
          <a:p>
            <a:pPr marL="20320">
              <a:lnSpc>
                <a:spcPct val="100000"/>
              </a:lnSpc>
              <a:spcBef>
                <a:spcPts val="405"/>
              </a:spcBef>
            </a:pPr>
            <a:r>
              <a:rPr dirty="0" sz="450" b="1">
                <a:latin typeface="Tahoma"/>
                <a:cs typeface="Tahoma"/>
              </a:rPr>
              <a:t>А.Н. </a:t>
            </a:r>
            <a:r>
              <a:rPr dirty="0" sz="450" spc="-10" b="1">
                <a:latin typeface="Tahoma"/>
                <a:cs typeface="Tahoma"/>
              </a:rPr>
              <a:t>Черненков</a:t>
            </a:r>
            <a:endParaRPr sz="450">
              <a:latin typeface="Tahoma"/>
              <a:cs typeface="Tahoma"/>
            </a:endParaRPr>
          </a:p>
          <a:p>
            <a:pPr marL="20320">
              <a:lnSpc>
                <a:spcPct val="100000"/>
              </a:lnSpc>
              <a:spcBef>
                <a:spcPts val="100"/>
              </a:spcBef>
            </a:pPr>
            <a:r>
              <a:rPr dirty="0" sz="350">
                <a:latin typeface="Verdana"/>
                <a:cs typeface="Verdana"/>
              </a:rPr>
              <a:t>ООО</a:t>
            </a:r>
            <a:r>
              <a:rPr dirty="0" sz="350" spc="25">
                <a:latin typeface="Verdana"/>
                <a:cs typeface="Verdana"/>
              </a:rPr>
              <a:t> </a:t>
            </a:r>
            <a:r>
              <a:rPr dirty="0" sz="350">
                <a:latin typeface="Verdana"/>
                <a:cs typeface="Verdana"/>
              </a:rPr>
              <a:t>«Промподготовка»</a:t>
            </a:r>
            <a:r>
              <a:rPr dirty="0" sz="350" spc="55">
                <a:latin typeface="Verdana"/>
                <a:cs typeface="Verdana"/>
              </a:rPr>
              <a:t> </a:t>
            </a:r>
            <a:r>
              <a:rPr dirty="0" sz="350" spc="-50">
                <a:latin typeface="Verdana"/>
                <a:cs typeface="Verdana"/>
              </a:rPr>
              <a:t>/</a:t>
            </a:r>
            <a:r>
              <a:rPr dirty="0" sz="350" spc="35">
                <a:latin typeface="Verdana"/>
                <a:cs typeface="Verdana"/>
              </a:rPr>
              <a:t> </a:t>
            </a:r>
            <a:r>
              <a:rPr dirty="0" sz="350" spc="-10">
                <a:latin typeface="Verdana"/>
                <a:cs typeface="Verdana"/>
              </a:rPr>
              <a:t>Директор</a:t>
            </a:r>
            <a:endParaRPr sz="350">
              <a:latin typeface="Verdana"/>
              <a:cs typeface="Verdana"/>
            </a:endParaRPr>
          </a:p>
          <a:p>
            <a:pPr marL="20320">
              <a:lnSpc>
                <a:spcPct val="100000"/>
              </a:lnSpc>
              <a:spcBef>
                <a:spcPts val="220"/>
              </a:spcBef>
            </a:pPr>
            <a:r>
              <a:rPr dirty="0" sz="400" b="1">
                <a:latin typeface="Tahoma"/>
                <a:cs typeface="Tahoma"/>
              </a:rPr>
              <a:t>Email:</a:t>
            </a:r>
            <a:r>
              <a:rPr dirty="0" sz="400" spc="50" b="1">
                <a:latin typeface="Tahoma"/>
                <a:cs typeface="Tahoma"/>
              </a:rPr>
              <a:t> </a:t>
            </a:r>
            <a:r>
              <a:rPr dirty="0" sz="400" spc="-10">
                <a:latin typeface="Verdana"/>
                <a:cs typeface="Verdana"/>
                <a:hlinkClick r:id="rId3"/>
              </a:rPr>
              <a:t>dkranprom@mail.ru</a:t>
            </a:r>
            <a:endParaRPr sz="400">
              <a:latin typeface="Verdana"/>
              <a:cs typeface="Verdana"/>
            </a:endParaRPr>
          </a:p>
        </p:txBody>
      </p:sp>
      <p:sp>
        <p:nvSpPr>
          <p:cNvPr id="11" name="object 11" descr=""/>
          <p:cNvSpPr txBox="1"/>
          <p:nvPr/>
        </p:nvSpPr>
        <p:spPr>
          <a:xfrm>
            <a:off x="2722642" y="6360346"/>
            <a:ext cx="1217930" cy="264795"/>
          </a:xfrm>
          <a:prstGeom prst="rect">
            <a:avLst/>
          </a:prstGeom>
        </p:spPr>
        <p:txBody>
          <a:bodyPr wrap="square" lIns="0" tIns="266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10"/>
              </a:spcBef>
            </a:pPr>
            <a:r>
              <a:rPr dirty="0" sz="450" b="1">
                <a:latin typeface="Tahoma"/>
                <a:cs typeface="Tahoma"/>
              </a:rPr>
              <a:t>С.А.</a:t>
            </a:r>
            <a:r>
              <a:rPr dirty="0" sz="450" spc="20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Шевцов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350">
                <a:latin typeface="Verdana"/>
                <a:cs typeface="Verdana"/>
              </a:rPr>
              <a:t>ЧУО</a:t>
            </a:r>
            <a:r>
              <a:rPr dirty="0" sz="350" spc="40">
                <a:latin typeface="Verdana"/>
                <a:cs typeface="Verdana"/>
              </a:rPr>
              <a:t> </a:t>
            </a:r>
            <a:r>
              <a:rPr dirty="0" sz="350">
                <a:latin typeface="Verdana"/>
                <a:cs typeface="Verdana"/>
              </a:rPr>
              <a:t>«Промподготовка–Образование»</a:t>
            </a:r>
            <a:r>
              <a:rPr dirty="0" sz="350" spc="75">
                <a:latin typeface="Verdana"/>
                <a:cs typeface="Verdana"/>
              </a:rPr>
              <a:t> </a:t>
            </a:r>
            <a:r>
              <a:rPr dirty="0" sz="350" spc="-50">
                <a:latin typeface="Verdana"/>
                <a:cs typeface="Verdana"/>
              </a:rPr>
              <a:t>/</a:t>
            </a:r>
            <a:r>
              <a:rPr dirty="0" sz="350" spc="50">
                <a:latin typeface="Verdana"/>
                <a:cs typeface="Verdana"/>
              </a:rPr>
              <a:t> </a:t>
            </a:r>
            <a:r>
              <a:rPr dirty="0" sz="350" spc="-10">
                <a:latin typeface="Verdana"/>
                <a:cs typeface="Verdana"/>
              </a:rPr>
              <a:t>Директор</a:t>
            </a:r>
            <a:endParaRPr sz="3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dirty="0" sz="400" b="1">
                <a:latin typeface="Tahoma"/>
                <a:cs typeface="Tahoma"/>
              </a:rPr>
              <a:t>Email:</a:t>
            </a:r>
            <a:r>
              <a:rPr dirty="0" sz="400" spc="150" b="1">
                <a:latin typeface="Tahoma"/>
                <a:cs typeface="Tahoma"/>
              </a:rPr>
              <a:t> </a:t>
            </a:r>
            <a:r>
              <a:rPr dirty="0" sz="400" spc="-10">
                <a:latin typeface="Verdana"/>
                <a:cs typeface="Verdana"/>
                <a:hlinkClick r:id="rId4"/>
              </a:rPr>
              <a:t>prompodgotovka@mail.ru</a:t>
            </a:r>
            <a:endParaRPr sz="400">
              <a:latin typeface="Verdana"/>
              <a:cs typeface="Verdana"/>
            </a:endParaRPr>
          </a:p>
        </p:txBody>
      </p:sp>
      <p:pic>
        <p:nvPicPr>
          <p:cNvPr id="12" name="object 12" descr="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3646" y="207966"/>
            <a:ext cx="688044" cy="688044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3335">
              <a:lnSpc>
                <a:spcPts val="1964"/>
              </a:lnSpc>
              <a:spcBef>
                <a:spcPts val="130"/>
              </a:spcBef>
            </a:pPr>
            <a:r>
              <a:rPr dirty="0" spc="310"/>
              <a:t>НИКИТА</a:t>
            </a:r>
          </a:p>
          <a:p>
            <a:pPr marL="17145">
              <a:lnSpc>
                <a:spcPts val="1964"/>
              </a:lnSpc>
            </a:pPr>
            <a:r>
              <a:rPr dirty="0" u="sng" spc="320" b="1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КОНСТАНТИНОВ</a:t>
            </a:r>
          </a:p>
        </p:txBody>
      </p:sp>
      <p:sp>
        <p:nvSpPr>
          <p:cNvPr id="14" name="object 14" descr=""/>
          <p:cNvSpPr txBox="1"/>
          <p:nvPr/>
        </p:nvSpPr>
        <p:spPr>
          <a:xfrm>
            <a:off x="1326768" y="775910"/>
            <a:ext cx="1059815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>
                <a:latin typeface="Microsoft Sans Serif"/>
                <a:cs typeface="Microsoft Sans Serif"/>
              </a:rPr>
              <a:t>Ф</a:t>
            </a:r>
            <a:r>
              <a:rPr dirty="0" sz="450" spc="-10">
                <a:latin typeface="Microsoft Sans Serif"/>
                <a:cs typeface="Microsoft Sans Serif"/>
              </a:rPr>
              <a:t> </a:t>
            </a:r>
            <a:r>
              <a:rPr dirty="0" sz="450" spc="-30">
                <a:latin typeface="Microsoft Sans Serif"/>
                <a:cs typeface="Microsoft Sans Serif"/>
              </a:rPr>
              <a:t>Р</a:t>
            </a:r>
            <a:r>
              <a:rPr dirty="0" sz="450" spc="-20">
                <a:latin typeface="Microsoft Sans Serif"/>
                <a:cs typeface="Microsoft Sans Serif"/>
              </a:rPr>
              <a:t> </a:t>
            </a:r>
            <a:r>
              <a:rPr dirty="0" sz="450" spc="60">
                <a:latin typeface="Microsoft Sans Serif"/>
                <a:cs typeface="Microsoft Sans Serif"/>
              </a:rPr>
              <a:t>О</a:t>
            </a:r>
            <a:r>
              <a:rPr dirty="0" sz="450" spc="-10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Н</a:t>
            </a:r>
            <a:r>
              <a:rPr dirty="0" sz="450" spc="-30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Т</a:t>
            </a:r>
            <a:r>
              <a:rPr dirty="0" sz="450" spc="-10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Е</a:t>
            </a:r>
            <a:r>
              <a:rPr dirty="0" sz="450" spc="-25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Н</a:t>
            </a:r>
            <a:r>
              <a:rPr dirty="0" sz="450" spc="-30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Д</a:t>
            </a:r>
            <a:r>
              <a:rPr dirty="0" sz="450" spc="-25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-</a:t>
            </a:r>
            <a:r>
              <a:rPr dirty="0" sz="450" spc="-15">
                <a:latin typeface="Microsoft Sans Serif"/>
                <a:cs typeface="Microsoft Sans Serif"/>
              </a:rPr>
              <a:t> </a:t>
            </a:r>
            <a:r>
              <a:rPr dirty="0" sz="450" spc="-30">
                <a:latin typeface="Microsoft Sans Serif"/>
                <a:cs typeface="Microsoft Sans Serif"/>
              </a:rPr>
              <a:t>Р</a:t>
            </a:r>
            <a:r>
              <a:rPr dirty="0" sz="450" spc="-20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А</a:t>
            </a:r>
            <a:r>
              <a:rPr dirty="0" sz="450" spc="-5">
                <a:latin typeface="Microsoft Sans Serif"/>
                <a:cs typeface="Microsoft Sans Serif"/>
              </a:rPr>
              <a:t> </a:t>
            </a:r>
            <a:r>
              <a:rPr dirty="0" sz="450" spc="-10">
                <a:latin typeface="Microsoft Sans Serif"/>
                <a:cs typeface="Microsoft Sans Serif"/>
              </a:rPr>
              <a:t>З</a:t>
            </a:r>
            <a:r>
              <a:rPr dirty="0" sz="450" spc="-25">
                <a:latin typeface="Microsoft Sans Serif"/>
                <a:cs typeface="Microsoft Sans Serif"/>
              </a:rPr>
              <a:t> </a:t>
            </a:r>
            <a:r>
              <a:rPr dirty="0" sz="450" spc="-30">
                <a:latin typeface="Microsoft Sans Serif"/>
                <a:cs typeface="Microsoft Sans Serif"/>
              </a:rPr>
              <a:t>Р</a:t>
            </a:r>
            <a:r>
              <a:rPr dirty="0" sz="450" spc="-20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А Б</a:t>
            </a:r>
            <a:r>
              <a:rPr dirty="0" sz="450" spc="-5">
                <a:latin typeface="Microsoft Sans Serif"/>
                <a:cs typeface="Microsoft Sans Serif"/>
              </a:rPr>
              <a:t> </a:t>
            </a:r>
            <a:r>
              <a:rPr dirty="0" sz="450" spc="70">
                <a:latin typeface="Microsoft Sans Serif"/>
                <a:cs typeface="Microsoft Sans Serif"/>
              </a:rPr>
              <a:t>ОТ</a:t>
            </a:r>
            <a:r>
              <a:rPr dirty="0" sz="450" spc="-5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Ч</a:t>
            </a:r>
            <a:r>
              <a:rPr dirty="0" sz="450" spc="-20">
                <a:latin typeface="Microsoft Sans Serif"/>
                <a:cs typeface="Microsoft Sans Serif"/>
              </a:rPr>
              <a:t> </a:t>
            </a:r>
            <a:r>
              <a:rPr dirty="0" sz="450">
                <a:latin typeface="Microsoft Sans Serif"/>
                <a:cs typeface="Microsoft Sans Serif"/>
              </a:rPr>
              <a:t>И</a:t>
            </a:r>
            <a:r>
              <a:rPr dirty="0" sz="450" spc="-35">
                <a:latin typeface="Microsoft Sans Serif"/>
                <a:cs typeface="Microsoft Sans Serif"/>
              </a:rPr>
              <a:t> </a:t>
            </a:r>
            <a:r>
              <a:rPr dirty="0" sz="450" spc="-50">
                <a:latin typeface="Microsoft Sans Serif"/>
                <a:cs typeface="Microsoft Sans Serif"/>
              </a:rPr>
              <a:t>К</a:t>
            </a:r>
            <a:endParaRPr sz="450">
              <a:latin typeface="Microsoft Sans Serif"/>
              <a:cs typeface="Microsoft Sans Serif"/>
            </a:endParaRPr>
          </a:p>
        </p:txBody>
      </p:sp>
      <p:grpSp>
        <p:nvGrpSpPr>
          <p:cNvPr id="15" name="object 15" descr=""/>
          <p:cNvGrpSpPr/>
          <p:nvPr/>
        </p:nvGrpSpPr>
        <p:grpSpPr>
          <a:xfrm>
            <a:off x="3737533" y="93231"/>
            <a:ext cx="321945" cy="153670"/>
            <a:chOff x="3737533" y="93231"/>
            <a:chExt cx="321945" cy="153670"/>
          </a:xfrm>
        </p:grpSpPr>
        <p:sp>
          <p:nvSpPr>
            <p:cNvPr id="16" name="object 16" descr=""/>
            <p:cNvSpPr/>
            <p:nvPr/>
          </p:nvSpPr>
          <p:spPr>
            <a:xfrm>
              <a:off x="3739755" y="95453"/>
              <a:ext cx="149225" cy="149225"/>
            </a:xfrm>
            <a:custGeom>
              <a:avLst/>
              <a:gdLst/>
              <a:ahLst/>
              <a:cxnLst/>
              <a:rect l="l" t="t" r="r" b="b"/>
              <a:pathLst>
                <a:path w="149225" h="149225">
                  <a:moveTo>
                    <a:pt x="148945" y="74472"/>
                  </a:moveTo>
                  <a:lnTo>
                    <a:pt x="148945" y="79362"/>
                  </a:lnTo>
                  <a:lnTo>
                    <a:pt x="148462" y="84200"/>
                  </a:lnTo>
                  <a:lnTo>
                    <a:pt x="147510" y="89001"/>
                  </a:lnTo>
                  <a:lnTo>
                    <a:pt x="146557" y="93789"/>
                  </a:lnTo>
                  <a:lnTo>
                    <a:pt x="145148" y="98450"/>
                  </a:lnTo>
                  <a:lnTo>
                    <a:pt x="143268" y="102971"/>
                  </a:lnTo>
                  <a:lnTo>
                    <a:pt x="141401" y="107492"/>
                  </a:lnTo>
                  <a:lnTo>
                    <a:pt x="127126" y="127126"/>
                  </a:lnTo>
                  <a:lnTo>
                    <a:pt x="123672" y="130581"/>
                  </a:lnTo>
                  <a:lnTo>
                    <a:pt x="119913" y="133680"/>
                  </a:lnTo>
                  <a:lnTo>
                    <a:pt x="115849" y="136385"/>
                  </a:lnTo>
                  <a:lnTo>
                    <a:pt x="111785" y="139103"/>
                  </a:lnTo>
                  <a:lnTo>
                    <a:pt x="79362" y="148945"/>
                  </a:lnTo>
                  <a:lnTo>
                    <a:pt x="74472" y="148945"/>
                  </a:lnTo>
                  <a:lnTo>
                    <a:pt x="69583" y="148945"/>
                  </a:lnTo>
                  <a:lnTo>
                    <a:pt x="64731" y="148462"/>
                  </a:lnTo>
                  <a:lnTo>
                    <a:pt x="59943" y="147510"/>
                  </a:lnTo>
                  <a:lnTo>
                    <a:pt x="55143" y="146557"/>
                  </a:lnTo>
                  <a:lnTo>
                    <a:pt x="33096" y="136385"/>
                  </a:lnTo>
                  <a:lnTo>
                    <a:pt x="29032" y="133680"/>
                  </a:lnTo>
                  <a:lnTo>
                    <a:pt x="5664" y="102971"/>
                  </a:lnTo>
                  <a:lnTo>
                    <a:pt x="1435" y="89001"/>
                  </a:lnTo>
                  <a:lnTo>
                    <a:pt x="469" y="84200"/>
                  </a:lnTo>
                  <a:lnTo>
                    <a:pt x="0" y="79362"/>
                  </a:lnTo>
                  <a:lnTo>
                    <a:pt x="0" y="74472"/>
                  </a:lnTo>
                  <a:lnTo>
                    <a:pt x="0" y="69583"/>
                  </a:lnTo>
                  <a:lnTo>
                    <a:pt x="469" y="64744"/>
                  </a:lnTo>
                  <a:lnTo>
                    <a:pt x="1435" y="59943"/>
                  </a:lnTo>
                  <a:lnTo>
                    <a:pt x="2387" y="55143"/>
                  </a:lnTo>
                  <a:lnTo>
                    <a:pt x="21805" y="21805"/>
                  </a:lnTo>
                  <a:lnTo>
                    <a:pt x="55143" y="2387"/>
                  </a:lnTo>
                  <a:lnTo>
                    <a:pt x="69583" y="0"/>
                  </a:lnTo>
                  <a:lnTo>
                    <a:pt x="74472" y="0"/>
                  </a:lnTo>
                  <a:lnTo>
                    <a:pt x="79362" y="0"/>
                  </a:lnTo>
                  <a:lnTo>
                    <a:pt x="115849" y="12547"/>
                  </a:lnTo>
                  <a:lnTo>
                    <a:pt x="119913" y="15265"/>
                  </a:lnTo>
                  <a:lnTo>
                    <a:pt x="136385" y="33096"/>
                  </a:lnTo>
                  <a:lnTo>
                    <a:pt x="139103" y="37160"/>
                  </a:lnTo>
                  <a:lnTo>
                    <a:pt x="141401" y="41452"/>
                  </a:lnTo>
                  <a:lnTo>
                    <a:pt x="143268" y="45973"/>
                  </a:lnTo>
                  <a:lnTo>
                    <a:pt x="145148" y="50495"/>
                  </a:lnTo>
                  <a:lnTo>
                    <a:pt x="146557" y="55143"/>
                  </a:lnTo>
                  <a:lnTo>
                    <a:pt x="147510" y="59943"/>
                  </a:lnTo>
                  <a:lnTo>
                    <a:pt x="148462" y="64744"/>
                  </a:lnTo>
                  <a:lnTo>
                    <a:pt x="148945" y="69583"/>
                  </a:lnTo>
                  <a:lnTo>
                    <a:pt x="148945" y="74472"/>
                  </a:lnTo>
                  <a:close/>
                </a:path>
              </a:pathLst>
            </a:custGeom>
            <a:ln w="3819">
              <a:solidFill>
                <a:srgbClr val="30323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 descr=""/>
            <p:cNvSpPr/>
            <p:nvPr/>
          </p:nvSpPr>
          <p:spPr>
            <a:xfrm>
              <a:off x="3907789" y="95453"/>
              <a:ext cx="149225" cy="149225"/>
            </a:xfrm>
            <a:custGeom>
              <a:avLst/>
              <a:gdLst/>
              <a:ahLst/>
              <a:cxnLst/>
              <a:rect l="l" t="t" r="r" b="b"/>
              <a:pathLst>
                <a:path w="149225" h="149225">
                  <a:moveTo>
                    <a:pt x="79362" y="0"/>
                  </a:moveTo>
                  <a:lnTo>
                    <a:pt x="69583" y="0"/>
                  </a:lnTo>
                  <a:lnTo>
                    <a:pt x="64744" y="469"/>
                  </a:lnTo>
                  <a:lnTo>
                    <a:pt x="29032" y="15265"/>
                  </a:lnTo>
                  <a:lnTo>
                    <a:pt x="3797" y="50495"/>
                  </a:lnTo>
                  <a:lnTo>
                    <a:pt x="0" y="69583"/>
                  </a:lnTo>
                  <a:lnTo>
                    <a:pt x="0" y="79362"/>
                  </a:lnTo>
                  <a:lnTo>
                    <a:pt x="15265" y="119913"/>
                  </a:lnTo>
                  <a:lnTo>
                    <a:pt x="50495" y="145148"/>
                  </a:lnTo>
                  <a:lnTo>
                    <a:pt x="69583" y="148945"/>
                  </a:lnTo>
                  <a:lnTo>
                    <a:pt x="79362" y="148945"/>
                  </a:lnTo>
                  <a:lnTo>
                    <a:pt x="119913" y="133680"/>
                  </a:lnTo>
                  <a:lnTo>
                    <a:pt x="145148" y="98450"/>
                  </a:lnTo>
                  <a:lnTo>
                    <a:pt x="148945" y="79362"/>
                  </a:lnTo>
                  <a:lnTo>
                    <a:pt x="148945" y="74472"/>
                  </a:lnTo>
                  <a:lnTo>
                    <a:pt x="148945" y="69583"/>
                  </a:lnTo>
                  <a:lnTo>
                    <a:pt x="133680" y="29032"/>
                  </a:lnTo>
                  <a:lnTo>
                    <a:pt x="98463" y="3797"/>
                  </a:lnTo>
                  <a:lnTo>
                    <a:pt x="84200" y="469"/>
                  </a:lnTo>
                  <a:lnTo>
                    <a:pt x="79362" y="0"/>
                  </a:lnTo>
                  <a:close/>
                </a:path>
              </a:pathLst>
            </a:custGeom>
            <a:solidFill>
              <a:srgbClr val="30323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 descr=""/>
            <p:cNvSpPr/>
            <p:nvPr/>
          </p:nvSpPr>
          <p:spPr>
            <a:xfrm>
              <a:off x="3907789" y="95453"/>
              <a:ext cx="149225" cy="149225"/>
            </a:xfrm>
            <a:custGeom>
              <a:avLst/>
              <a:gdLst/>
              <a:ahLst/>
              <a:cxnLst/>
              <a:rect l="l" t="t" r="r" b="b"/>
              <a:pathLst>
                <a:path w="149225" h="149225">
                  <a:moveTo>
                    <a:pt x="148945" y="74472"/>
                  </a:moveTo>
                  <a:lnTo>
                    <a:pt x="148945" y="79362"/>
                  </a:lnTo>
                  <a:lnTo>
                    <a:pt x="148475" y="84200"/>
                  </a:lnTo>
                  <a:lnTo>
                    <a:pt x="133680" y="119913"/>
                  </a:lnTo>
                  <a:lnTo>
                    <a:pt x="127126" y="127126"/>
                  </a:lnTo>
                  <a:lnTo>
                    <a:pt x="123672" y="130581"/>
                  </a:lnTo>
                  <a:lnTo>
                    <a:pt x="119913" y="133680"/>
                  </a:lnTo>
                  <a:lnTo>
                    <a:pt x="115849" y="136385"/>
                  </a:lnTo>
                  <a:lnTo>
                    <a:pt x="111785" y="139103"/>
                  </a:lnTo>
                  <a:lnTo>
                    <a:pt x="89001" y="147510"/>
                  </a:lnTo>
                  <a:lnTo>
                    <a:pt x="84200" y="148462"/>
                  </a:lnTo>
                  <a:lnTo>
                    <a:pt x="79362" y="148945"/>
                  </a:lnTo>
                  <a:lnTo>
                    <a:pt x="74472" y="148945"/>
                  </a:lnTo>
                  <a:lnTo>
                    <a:pt x="69583" y="148945"/>
                  </a:lnTo>
                  <a:lnTo>
                    <a:pt x="64744" y="148462"/>
                  </a:lnTo>
                  <a:lnTo>
                    <a:pt x="59943" y="147510"/>
                  </a:lnTo>
                  <a:lnTo>
                    <a:pt x="55143" y="146557"/>
                  </a:lnTo>
                  <a:lnTo>
                    <a:pt x="33096" y="136385"/>
                  </a:lnTo>
                  <a:lnTo>
                    <a:pt x="29032" y="133680"/>
                  </a:lnTo>
                  <a:lnTo>
                    <a:pt x="25272" y="130581"/>
                  </a:lnTo>
                  <a:lnTo>
                    <a:pt x="21818" y="127126"/>
                  </a:lnTo>
                  <a:lnTo>
                    <a:pt x="18364" y="123672"/>
                  </a:lnTo>
                  <a:lnTo>
                    <a:pt x="15265" y="119913"/>
                  </a:lnTo>
                  <a:lnTo>
                    <a:pt x="12560" y="115849"/>
                  </a:lnTo>
                  <a:lnTo>
                    <a:pt x="9842" y="111772"/>
                  </a:lnTo>
                  <a:lnTo>
                    <a:pt x="7543" y="107492"/>
                  </a:lnTo>
                  <a:lnTo>
                    <a:pt x="5676" y="102971"/>
                  </a:lnTo>
                  <a:lnTo>
                    <a:pt x="3797" y="98450"/>
                  </a:lnTo>
                  <a:lnTo>
                    <a:pt x="2387" y="93789"/>
                  </a:lnTo>
                  <a:lnTo>
                    <a:pt x="1435" y="89001"/>
                  </a:lnTo>
                  <a:lnTo>
                    <a:pt x="482" y="84200"/>
                  </a:lnTo>
                  <a:lnTo>
                    <a:pt x="0" y="79362"/>
                  </a:lnTo>
                  <a:lnTo>
                    <a:pt x="0" y="74472"/>
                  </a:lnTo>
                  <a:lnTo>
                    <a:pt x="0" y="69583"/>
                  </a:lnTo>
                  <a:lnTo>
                    <a:pt x="482" y="64744"/>
                  </a:lnTo>
                  <a:lnTo>
                    <a:pt x="1435" y="59943"/>
                  </a:lnTo>
                  <a:lnTo>
                    <a:pt x="2387" y="55143"/>
                  </a:lnTo>
                  <a:lnTo>
                    <a:pt x="3797" y="50495"/>
                  </a:lnTo>
                  <a:lnTo>
                    <a:pt x="5676" y="45973"/>
                  </a:lnTo>
                  <a:lnTo>
                    <a:pt x="7543" y="41452"/>
                  </a:lnTo>
                  <a:lnTo>
                    <a:pt x="9842" y="37160"/>
                  </a:lnTo>
                  <a:lnTo>
                    <a:pt x="12560" y="33096"/>
                  </a:lnTo>
                  <a:lnTo>
                    <a:pt x="15265" y="29032"/>
                  </a:lnTo>
                  <a:lnTo>
                    <a:pt x="45973" y="5664"/>
                  </a:lnTo>
                  <a:lnTo>
                    <a:pt x="69583" y="0"/>
                  </a:lnTo>
                  <a:lnTo>
                    <a:pt x="74472" y="0"/>
                  </a:lnTo>
                  <a:lnTo>
                    <a:pt x="79362" y="0"/>
                  </a:lnTo>
                  <a:lnTo>
                    <a:pt x="115849" y="12547"/>
                  </a:lnTo>
                  <a:lnTo>
                    <a:pt x="127126" y="21805"/>
                  </a:lnTo>
                  <a:lnTo>
                    <a:pt x="130594" y="25272"/>
                  </a:lnTo>
                  <a:lnTo>
                    <a:pt x="133680" y="29032"/>
                  </a:lnTo>
                  <a:lnTo>
                    <a:pt x="136397" y="33096"/>
                  </a:lnTo>
                  <a:lnTo>
                    <a:pt x="139115" y="37160"/>
                  </a:lnTo>
                  <a:lnTo>
                    <a:pt x="148945" y="69583"/>
                  </a:lnTo>
                  <a:lnTo>
                    <a:pt x="148945" y="74472"/>
                  </a:lnTo>
                  <a:close/>
                </a:path>
              </a:pathLst>
            </a:custGeom>
            <a:ln w="3819">
              <a:solidFill>
                <a:srgbClr val="30323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9" name="object 19" descr=""/>
          <p:cNvSpPr txBox="1"/>
          <p:nvPr/>
        </p:nvSpPr>
        <p:spPr>
          <a:xfrm>
            <a:off x="3763340" y="122847"/>
            <a:ext cx="272415" cy="90170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00">
                <a:latin typeface="Verdana"/>
                <a:cs typeface="Verdana"/>
              </a:rPr>
              <a:t>EN</a:t>
            </a:r>
            <a:r>
              <a:rPr dirty="0" sz="400" spc="225">
                <a:latin typeface="Verdana"/>
                <a:cs typeface="Verdana"/>
              </a:rPr>
              <a:t>  </a:t>
            </a:r>
            <a:r>
              <a:rPr dirty="0" sz="400" spc="-25">
                <a:solidFill>
                  <a:srgbClr val="F1F1F1"/>
                </a:solidFill>
                <a:latin typeface="Verdana"/>
                <a:cs typeface="Verdana"/>
              </a:rPr>
              <a:t>RU</a:t>
            </a:r>
            <a:endParaRPr sz="400">
              <a:latin typeface="Verdana"/>
              <a:cs typeface="Verdana"/>
            </a:endParaRPr>
          </a:p>
        </p:txBody>
      </p:sp>
      <p:sp>
        <p:nvSpPr>
          <p:cNvPr id="20" name="object 20" descr=""/>
          <p:cNvSpPr txBox="1"/>
          <p:nvPr/>
        </p:nvSpPr>
        <p:spPr>
          <a:xfrm>
            <a:off x="286067" y="1008875"/>
            <a:ext cx="856615" cy="44640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850" spc="-10" b="1">
                <a:latin typeface="Tahoma"/>
                <a:cs typeface="Tahoma"/>
              </a:rPr>
              <a:t>КОНТАКТЫ</a:t>
            </a:r>
            <a:endParaRPr sz="850">
              <a:latin typeface="Tahoma"/>
              <a:cs typeface="Tahoma"/>
            </a:endParaRPr>
          </a:p>
          <a:p>
            <a:pPr marL="127000">
              <a:lnSpc>
                <a:spcPct val="100000"/>
              </a:lnSpc>
              <a:spcBef>
                <a:spcPts val="464"/>
              </a:spcBef>
            </a:pPr>
            <a:r>
              <a:rPr dirty="0" sz="450">
                <a:latin typeface="Verdana"/>
                <a:cs typeface="Verdana"/>
                <a:hlinkClick r:id="rId6"/>
              </a:rPr>
              <a:t>г.Батуми,</a:t>
            </a:r>
            <a:r>
              <a:rPr dirty="0" sz="450" spc="-25">
                <a:latin typeface="Verdana"/>
                <a:cs typeface="Verdana"/>
                <a:hlinkClick r:id="rId6"/>
              </a:rPr>
              <a:t> </a:t>
            </a:r>
            <a:r>
              <a:rPr dirty="0" sz="450" spc="-10">
                <a:latin typeface="Verdana"/>
                <a:cs typeface="Verdana"/>
                <a:hlinkClick r:id="rId6"/>
              </a:rPr>
              <a:t>Грузия</a:t>
            </a:r>
            <a:endParaRPr sz="450">
              <a:latin typeface="Verdana"/>
              <a:cs typeface="Verdana"/>
            </a:endParaRPr>
          </a:p>
          <a:p>
            <a:pPr marL="127000" marR="5080">
              <a:lnSpc>
                <a:spcPct val="105800"/>
              </a:lnSpc>
              <a:spcBef>
                <a:spcPts val="150"/>
              </a:spcBef>
            </a:pPr>
            <a:r>
              <a:rPr dirty="0" sz="450" spc="-10">
                <a:latin typeface="Verdana"/>
                <a:cs typeface="Verdana"/>
                <a:hlinkClick r:id="rId7"/>
              </a:rPr>
              <a:t>nick.konstantinov.job@</a:t>
            </a:r>
            <a:r>
              <a:rPr dirty="0" sz="450" spc="500">
                <a:latin typeface="Verdana"/>
                <a:cs typeface="Verdana"/>
                <a:hlinkClick r:id="rId7"/>
              </a:rPr>
              <a:t> </a:t>
            </a:r>
            <a:r>
              <a:rPr dirty="0" sz="450" spc="-10">
                <a:latin typeface="Verdana"/>
                <a:cs typeface="Verdana"/>
                <a:hlinkClick r:id="rId7"/>
              </a:rPr>
              <a:t>gmail.com</a:t>
            </a:r>
            <a:endParaRPr sz="450">
              <a:latin typeface="Verdana"/>
              <a:cs typeface="Verdana"/>
            </a:endParaRPr>
          </a:p>
        </p:txBody>
      </p:sp>
      <p:sp>
        <p:nvSpPr>
          <p:cNvPr id="21" name="object 21" descr=""/>
          <p:cNvSpPr txBox="1"/>
          <p:nvPr/>
        </p:nvSpPr>
        <p:spPr>
          <a:xfrm>
            <a:off x="62651" y="1429736"/>
            <a:ext cx="1008380" cy="3009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algn="just" marL="12700" marR="5080">
              <a:lnSpc>
                <a:spcPct val="133700"/>
              </a:lnSpc>
              <a:spcBef>
                <a:spcPts val="90"/>
              </a:spcBef>
            </a:pPr>
            <a:r>
              <a:rPr dirty="0" sz="450" b="1">
                <a:latin typeface="Tahoma"/>
                <a:cs typeface="Tahoma"/>
              </a:rPr>
              <a:t>Telegram:</a:t>
            </a:r>
            <a:r>
              <a:rPr dirty="0" sz="450" spc="204" b="1">
                <a:latin typeface="Tahoma"/>
                <a:cs typeface="Tahoma"/>
              </a:rPr>
              <a:t> </a:t>
            </a:r>
            <a:r>
              <a:rPr dirty="0" sz="450" spc="-10">
                <a:latin typeface="Verdana"/>
                <a:cs typeface="Verdana"/>
                <a:hlinkClick r:id="rId8"/>
              </a:rPr>
              <a:t>@nick_konstantinov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 spc="10" b="1">
                <a:latin typeface="Tahoma"/>
                <a:cs typeface="Tahoma"/>
              </a:rPr>
              <a:t>LinkedIn:</a:t>
            </a:r>
            <a:r>
              <a:rPr dirty="0" sz="450" spc="280" b="1">
                <a:latin typeface="Tahoma"/>
                <a:cs typeface="Tahoma"/>
              </a:rPr>
              <a:t> </a:t>
            </a:r>
            <a:r>
              <a:rPr dirty="0" sz="450" spc="10">
                <a:latin typeface="Verdana"/>
                <a:cs typeface="Verdana"/>
                <a:hlinkClick r:id="rId9"/>
              </a:rPr>
              <a:t>Mikita</a:t>
            </a:r>
            <a:r>
              <a:rPr dirty="0" sz="450" spc="-25">
                <a:latin typeface="Verdana"/>
                <a:cs typeface="Verdana"/>
                <a:hlinkClick r:id="rId9"/>
              </a:rPr>
              <a:t> </a:t>
            </a:r>
            <a:r>
              <a:rPr dirty="0" sz="450" spc="-10">
                <a:latin typeface="Verdana"/>
                <a:cs typeface="Verdana"/>
                <a:hlinkClick r:id="rId9"/>
              </a:rPr>
              <a:t>Kanstantsinau</a:t>
            </a:r>
            <a:r>
              <a:rPr dirty="0" sz="450" spc="500">
                <a:latin typeface="Verdana"/>
                <a:cs typeface="Verdana"/>
              </a:rPr>
              <a:t> </a:t>
            </a:r>
            <a:r>
              <a:rPr dirty="0" sz="450" b="1">
                <a:latin typeface="Tahoma"/>
                <a:cs typeface="Tahoma"/>
              </a:rPr>
              <a:t>GitHub:</a:t>
            </a:r>
            <a:r>
              <a:rPr dirty="0" sz="450" spc="355" b="1">
                <a:latin typeface="Tahoma"/>
                <a:cs typeface="Tahoma"/>
              </a:rPr>
              <a:t>  </a:t>
            </a:r>
            <a:r>
              <a:rPr dirty="0" sz="450">
                <a:latin typeface="Verdana"/>
                <a:cs typeface="Verdana"/>
                <a:hlinkClick r:id="rId10"/>
              </a:rPr>
              <a:t>nick-</a:t>
            </a:r>
            <a:r>
              <a:rPr dirty="0" sz="450" spc="-10">
                <a:latin typeface="Verdana"/>
                <a:cs typeface="Verdana"/>
                <a:hlinkClick r:id="rId10"/>
              </a:rPr>
              <a:t>konstantinov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22" name="object 22" descr=""/>
          <p:cNvGrpSpPr/>
          <p:nvPr/>
        </p:nvGrpSpPr>
        <p:grpSpPr>
          <a:xfrm>
            <a:off x="75349" y="1972627"/>
            <a:ext cx="1108075" cy="820419"/>
            <a:chOff x="75349" y="1972627"/>
            <a:chExt cx="1108075" cy="820419"/>
          </a:xfrm>
        </p:grpSpPr>
        <p:pic>
          <p:nvPicPr>
            <p:cNvPr id="23" name="object 23" descr="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1020" y="1972627"/>
              <a:ext cx="75603" cy="106730"/>
            </a:xfrm>
            <a:prstGeom prst="rect">
              <a:avLst/>
            </a:prstGeom>
          </p:spPr>
        </p:pic>
        <p:sp>
          <p:nvSpPr>
            <p:cNvPr id="24" name="object 24" descr=""/>
            <p:cNvSpPr/>
            <p:nvPr/>
          </p:nvSpPr>
          <p:spPr>
            <a:xfrm>
              <a:off x="75349" y="2102374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 descr=""/>
            <p:cNvSpPr/>
            <p:nvPr/>
          </p:nvSpPr>
          <p:spPr>
            <a:xfrm>
              <a:off x="75349" y="2102374"/>
              <a:ext cx="1054100" cy="15875"/>
            </a:xfrm>
            <a:custGeom>
              <a:avLst/>
              <a:gdLst/>
              <a:ahLst/>
              <a:cxnLst/>
              <a:rect l="l" t="t" r="r" b="b"/>
              <a:pathLst>
                <a:path w="1054100" h="15875">
                  <a:moveTo>
                    <a:pt x="1054065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054065" y="15274"/>
                  </a:lnTo>
                  <a:lnTo>
                    <a:pt x="105406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6" name="object 26" descr="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0728" y="2152129"/>
              <a:ext cx="76187" cy="106718"/>
            </a:xfrm>
            <a:prstGeom prst="rect">
              <a:avLst/>
            </a:prstGeom>
          </p:spPr>
        </p:pic>
        <p:sp>
          <p:nvSpPr>
            <p:cNvPr id="27" name="object 27" descr=""/>
            <p:cNvSpPr/>
            <p:nvPr/>
          </p:nvSpPr>
          <p:spPr>
            <a:xfrm>
              <a:off x="75349" y="2281876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 descr=""/>
            <p:cNvSpPr/>
            <p:nvPr/>
          </p:nvSpPr>
          <p:spPr>
            <a:xfrm>
              <a:off x="75349" y="2281876"/>
              <a:ext cx="1054100" cy="15875"/>
            </a:xfrm>
            <a:custGeom>
              <a:avLst/>
              <a:gdLst/>
              <a:ahLst/>
              <a:cxnLst/>
              <a:rect l="l" t="t" r="r" b="b"/>
              <a:pathLst>
                <a:path w="1054100" h="15875">
                  <a:moveTo>
                    <a:pt x="1054065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054065" y="15274"/>
                  </a:lnTo>
                  <a:lnTo>
                    <a:pt x="105406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9" name="object 29" descr="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82042" y="2338196"/>
              <a:ext cx="93560" cy="93573"/>
            </a:xfrm>
            <a:prstGeom prst="rect">
              <a:avLst/>
            </a:prstGeom>
          </p:spPr>
        </p:pic>
        <p:sp>
          <p:nvSpPr>
            <p:cNvPr id="30" name="object 30" descr=""/>
            <p:cNvSpPr/>
            <p:nvPr/>
          </p:nvSpPr>
          <p:spPr>
            <a:xfrm>
              <a:off x="75349" y="2461365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 descr=""/>
            <p:cNvSpPr/>
            <p:nvPr/>
          </p:nvSpPr>
          <p:spPr>
            <a:xfrm>
              <a:off x="75349" y="2461365"/>
              <a:ext cx="943610" cy="15875"/>
            </a:xfrm>
            <a:custGeom>
              <a:avLst/>
              <a:gdLst/>
              <a:ahLst/>
              <a:cxnLst/>
              <a:rect l="l" t="t" r="r" b="b"/>
              <a:pathLst>
                <a:path w="943610" h="15875">
                  <a:moveTo>
                    <a:pt x="943312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943312" y="15274"/>
                  </a:lnTo>
                  <a:lnTo>
                    <a:pt x="94331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 descr=""/>
            <p:cNvSpPr/>
            <p:nvPr/>
          </p:nvSpPr>
          <p:spPr>
            <a:xfrm>
              <a:off x="75349" y="2640866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3" name="object 33" descr="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79171" y="2514828"/>
              <a:ext cx="98717" cy="98717"/>
            </a:xfrm>
            <a:prstGeom prst="rect">
              <a:avLst/>
            </a:prstGeom>
          </p:spPr>
        </p:pic>
        <p:sp>
          <p:nvSpPr>
            <p:cNvPr id="34" name="object 34" descr=""/>
            <p:cNvSpPr/>
            <p:nvPr/>
          </p:nvSpPr>
          <p:spPr>
            <a:xfrm>
              <a:off x="75349" y="2640866"/>
              <a:ext cx="775335" cy="15875"/>
            </a:xfrm>
            <a:custGeom>
              <a:avLst/>
              <a:gdLst/>
              <a:ahLst/>
              <a:cxnLst/>
              <a:rect l="l" t="t" r="r" b="b"/>
              <a:pathLst>
                <a:path w="775335" h="15875">
                  <a:moveTo>
                    <a:pt x="775270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775270" y="15274"/>
                  </a:lnTo>
                  <a:lnTo>
                    <a:pt x="77527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5" name="object 35" descr="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84264" y="2694965"/>
              <a:ext cx="89115" cy="98031"/>
            </a:xfrm>
            <a:prstGeom prst="rect">
              <a:avLst/>
            </a:prstGeom>
          </p:spPr>
        </p:pic>
      </p:grpSp>
      <p:sp>
        <p:nvSpPr>
          <p:cNvPr id="36" name="object 36" descr=""/>
          <p:cNvSpPr txBox="1"/>
          <p:nvPr/>
        </p:nvSpPr>
        <p:spPr>
          <a:xfrm>
            <a:off x="146669" y="1784146"/>
            <a:ext cx="1047750" cy="100330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850" b="1">
                <a:latin typeface="Tahoma"/>
                <a:cs typeface="Tahoma"/>
              </a:rPr>
              <a:t>ПРОФ.</a:t>
            </a:r>
            <a:r>
              <a:rPr dirty="0" sz="850" spc="100" b="1">
                <a:latin typeface="Tahoma"/>
                <a:cs typeface="Tahoma"/>
              </a:rPr>
              <a:t> </a:t>
            </a:r>
            <a:r>
              <a:rPr dirty="0" sz="850" spc="-10" b="1">
                <a:latin typeface="Tahoma"/>
                <a:cs typeface="Tahoma"/>
              </a:rPr>
              <a:t>НАВЫКИ</a:t>
            </a:r>
            <a:endParaRPr sz="850">
              <a:latin typeface="Tahoma"/>
              <a:cs typeface="Tahoma"/>
            </a:endParaRPr>
          </a:p>
          <a:p>
            <a:pPr marL="54610">
              <a:lnSpc>
                <a:spcPct val="100000"/>
              </a:lnSpc>
              <a:spcBef>
                <a:spcPts val="495"/>
              </a:spcBef>
              <a:tabLst>
                <a:tab pos="940435" algn="l"/>
              </a:tabLst>
            </a:pPr>
            <a:r>
              <a:rPr dirty="0" sz="450" spc="-10">
                <a:latin typeface="Verdana"/>
                <a:cs typeface="Verdana"/>
              </a:rPr>
              <a:t>HTML5</a:t>
            </a:r>
            <a:r>
              <a:rPr dirty="0" sz="450">
                <a:latin typeface="Verdana"/>
                <a:cs typeface="Verdana"/>
              </a:rPr>
              <a:t>	</a:t>
            </a:r>
            <a:r>
              <a:rPr dirty="0" sz="450" spc="-30">
                <a:solidFill>
                  <a:srgbClr val="7F7F7F"/>
                </a:solidFill>
                <a:latin typeface="Verdana"/>
                <a:cs typeface="Verdana"/>
              </a:rPr>
              <a:t>2г+</a:t>
            </a:r>
            <a:endParaRPr sz="45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325"/>
              </a:spcBef>
            </a:pPr>
            <a:endParaRPr sz="450">
              <a:latin typeface="Verdana"/>
              <a:cs typeface="Verdana"/>
            </a:endParaRPr>
          </a:p>
          <a:p>
            <a:pPr marL="54610">
              <a:lnSpc>
                <a:spcPct val="100000"/>
              </a:lnSpc>
              <a:tabLst>
                <a:tab pos="940435" algn="l"/>
              </a:tabLst>
            </a:pPr>
            <a:r>
              <a:rPr dirty="0" sz="450" spc="-35">
                <a:latin typeface="Verdana"/>
                <a:cs typeface="Verdana"/>
              </a:rPr>
              <a:t>CSS3 </a:t>
            </a:r>
            <a:r>
              <a:rPr dirty="0" sz="450" spc="-10">
                <a:latin typeface="Verdana"/>
                <a:cs typeface="Verdana"/>
              </a:rPr>
              <a:t>(SCSS/SASS/LESS)</a:t>
            </a:r>
            <a:r>
              <a:rPr dirty="0" sz="450">
                <a:latin typeface="Verdana"/>
                <a:cs typeface="Verdana"/>
              </a:rPr>
              <a:t>	</a:t>
            </a:r>
            <a:r>
              <a:rPr dirty="0" sz="450" spc="-30">
                <a:solidFill>
                  <a:srgbClr val="7F7F7F"/>
                </a:solidFill>
                <a:latin typeface="Verdana"/>
                <a:cs typeface="Verdana"/>
              </a:rPr>
              <a:t>2г+</a:t>
            </a:r>
            <a:endParaRPr sz="45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325"/>
              </a:spcBef>
            </a:pPr>
            <a:endParaRPr sz="450">
              <a:latin typeface="Verdana"/>
              <a:cs typeface="Verdana"/>
            </a:endParaRPr>
          </a:p>
          <a:p>
            <a:pPr marL="54610">
              <a:lnSpc>
                <a:spcPct val="100000"/>
              </a:lnSpc>
              <a:tabLst>
                <a:tab pos="913765" algn="l"/>
              </a:tabLst>
            </a:pPr>
            <a:r>
              <a:rPr dirty="0" sz="450" spc="-10">
                <a:latin typeface="Verdana"/>
                <a:cs typeface="Verdana"/>
              </a:rPr>
              <a:t>JavaScript</a:t>
            </a:r>
            <a:r>
              <a:rPr dirty="0" sz="450">
                <a:latin typeface="Verdana"/>
                <a:cs typeface="Verdana"/>
              </a:rPr>
              <a:t>	</a:t>
            </a:r>
            <a:r>
              <a:rPr dirty="0" sz="450" spc="-70">
                <a:solidFill>
                  <a:srgbClr val="7F7F7F"/>
                </a:solidFill>
                <a:latin typeface="Verdana"/>
                <a:cs typeface="Verdana"/>
              </a:rPr>
              <a:t>1.5г+</a:t>
            </a:r>
            <a:endParaRPr sz="45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325"/>
              </a:spcBef>
            </a:pPr>
            <a:endParaRPr sz="450">
              <a:latin typeface="Verdana"/>
              <a:cs typeface="Verdana"/>
            </a:endParaRPr>
          </a:p>
          <a:p>
            <a:pPr marL="54610">
              <a:lnSpc>
                <a:spcPct val="100000"/>
              </a:lnSpc>
              <a:spcBef>
                <a:spcPts val="5"/>
              </a:spcBef>
              <a:tabLst>
                <a:tab pos="894715" algn="l"/>
              </a:tabLst>
            </a:pPr>
            <a:r>
              <a:rPr dirty="0" sz="450" spc="-10">
                <a:latin typeface="Verdana"/>
                <a:cs typeface="Verdana"/>
              </a:rPr>
              <a:t>TypeScript</a:t>
            </a:r>
            <a:r>
              <a:rPr dirty="0" sz="450" spc="-25">
                <a:latin typeface="Verdana"/>
                <a:cs typeface="Verdana"/>
              </a:rPr>
              <a:t> v.5</a:t>
            </a:r>
            <a:r>
              <a:rPr dirty="0" sz="450">
                <a:latin typeface="Verdana"/>
                <a:cs typeface="Verdana"/>
              </a:rPr>
              <a:t>	</a:t>
            </a:r>
            <a:r>
              <a:rPr dirty="0" sz="450" spc="-40">
                <a:solidFill>
                  <a:srgbClr val="7F7F7F"/>
                </a:solidFill>
                <a:latin typeface="Verdana"/>
                <a:cs typeface="Verdana"/>
              </a:rPr>
              <a:t>0.5г+</a:t>
            </a:r>
            <a:endParaRPr sz="45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325"/>
              </a:spcBef>
            </a:pPr>
            <a:endParaRPr sz="450">
              <a:latin typeface="Verdana"/>
              <a:cs typeface="Verdana"/>
            </a:endParaRPr>
          </a:p>
          <a:p>
            <a:pPr marL="54610">
              <a:lnSpc>
                <a:spcPct val="100000"/>
              </a:lnSpc>
              <a:tabLst>
                <a:tab pos="894715" algn="l"/>
              </a:tabLst>
            </a:pPr>
            <a:r>
              <a:rPr dirty="0" sz="450">
                <a:latin typeface="Verdana"/>
                <a:cs typeface="Verdana"/>
              </a:rPr>
              <a:t>Angular</a:t>
            </a:r>
            <a:r>
              <a:rPr dirty="0" sz="450" spc="-10">
                <a:latin typeface="Verdana"/>
                <a:cs typeface="Verdana"/>
              </a:rPr>
              <a:t> </a:t>
            </a:r>
            <a:r>
              <a:rPr dirty="0" sz="450" spc="-25">
                <a:latin typeface="Verdana"/>
                <a:cs typeface="Verdana"/>
              </a:rPr>
              <a:t>v.5</a:t>
            </a:r>
            <a:r>
              <a:rPr dirty="0" sz="450">
                <a:latin typeface="Verdana"/>
                <a:cs typeface="Verdana"/>
              </a:rPr>
              <a:t>	</a:t>
            </a:r>
            <a:r>
              <a:rPr dirty="0" sz="450" spc="-40">
                <a:solidFill>
                  <a:srgbClr val="7F7F7F"/>
                </a:solidFill>
                <a:latin typeface="Verdana"/>
                <a:cs typeface="Verdana"/>
              </a:rPr>
              <a:t>0.5г+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37" name="object 37" descr=""/>
          <p:cNvGrpSpPr/>
          <p:nvPr/>
        </p:nvGrpSpPr>
        <p:grpSpPr>
          <a:xfrm>
            <a:off x="75349" y="2820355"/>
            <a:ext cx="1108075" cy="15875"/>
            <a:chOff x="75349" y="2820355"/>
            <a:chExt cx="1108075" cy="15875"/>
          </a:xfrm>
        </p:grpSpPr>
        <p:sp>
          <p:nvSpPr>
            <p:cNvPr id="38" name="object 38" descr=""/>
            <p:cNvSpPr/>
            <p:nvPr/>
          </p:nvSpPr>
          <p:spPr>
            <a:xfrm>
              <a:off x="75349" y="2820355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 descr=""/>
            <p:cNvSpPr/>
            <p:nvPr/>
          </p:nvSpPr>
          <p:spPr>
            <a:xfrm>
              <a:off x="75349" y="2820355"/>
              <a:ext cx="554355" cy="15875"/>
            </a:xfrm>
            <a:custGeom>
              <a:avLst/>
              <a:gdLst/>
              <a:ahLst/>
              <a:cxnLst/>
              <a:rect l="l" t="t" r="r" b="b"/>
              <a:pathLst>
                <a:path w="554355" h="15875">
                  <a:moveTo>
                    <a:pt x="553764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553764" y="15274"/>
                  </a:lnTo>
                  <a:lnTo>
                    <a:pt x="5537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0" name="object 40" descr=""/>
          <p:cNvGrpSpPr/>
          <p:nvPr/>
        </p:nvGrpSpPr>
        <p:grpSpPr>
          <a:xfrm>
            <a:off x="75349" y="3102965"/>
            <a:ext cx="1108075" cy="280670"/>
            <a:chOff x="75349" y="3102965"/>
            <a:chExt cx="1108075" cy="280670"/>
          </a:xfrm>
        </p:grpSpPr>
        <p:pic>
          <p:nvPicPr>
            <p:cNvPr id="41" name="object 41" descr="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79806" y="3102965"/>
              <a:ext cx="96329" cy="106934"/>
            </a:xfrm>
            <a:prstGeom prst="rect">
              <a:avLst/>
            </a:prstGeom>
          </p:spPr>
        </p:pic>
        <p:sp>
          <p:nvSpPr>
            <p:cNvPr id="42" name="object 42" descr=""/>
            <p:cNvSpPr/>
            <p:nvPr/>
          </p:nvSpPr>
          <p:spPr>
            <a:xfrm>
              <a:off x="75349" y="3232821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1107528" y="15279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 descr=""/>
            <p:cNvSpPr/>
            <p:nvPr/>
          </p:nvSpPr>
          <p:spPr>
            <a:xfrm>
              <a:off x="75349" y="3232821"/>
              <a:ext cx="833119" cy="15875"/>
            </a:xfrm>
            <a:custGeom>
              <a:avLst/>
              <a:gdLst/>
              <a:ahLst/>
              <a:cxnLst/>
              <a:rect l="l" t="t" r="r" b="b"/>
              <a:pathLst>
                <a:path w="833119" h="15875">
                  <a:moveTo>
                    <a:pt x="832554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832554" y="15279"/>
                  </a:lnTo>
                  <a:lnTo>
                    <a:pt x="83255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4" name="object 44" descr="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81381" y="3288499"/>
              <a:ext cx="94869" cy="94869"/>
            </a:xfrm>
            <a:prstGeom prst="rect">
              <a:avLst/>
            </a:prstGeom>
          </p:spPr>
        </p:pic>
      </p:grpSp>
      <p:sp>
        <p:nvSpPr>
          <p:cNvPr id="45" name="object 45" descr=""/>
          <p:cNvSpPr txBox="1"/>
          <p:nvPr/>
        </p:nvSpPr>
        <p:spPr>
          <a:xfrm>
            <a:off x="188683" y="2914590"/>
            <a:ext cx="1005840" cy="46482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4604">
              <a:lnSpc>
                <a:spcPct val="100000"/>
              </a:lnSpc>
              <a:spcBef>
                <a:spcPts val="90"/>
              </a:spcBef>
            </a:pPr>
            <a:r>
              <a:rPr dirty="0" sz="850" b="1">
                <a:latin typeface="Tahoma"/>
                <a:cs typeface="Tahoma"/>
              </a:rPr>
              <a:t>ДОП.</a:t>
            </a:r>
            <a:r>
              <a:rPr dirty="0" sz="850" spc="75" b="1">
                <a:latin typeface="Tahoma"/>
                <a:cs typeface="Tahoma"/>
              </a:rPr>
              <a:t> </a:t>
            </a:r>
            <a:r>
              <a:rPr dirty="0" sz="850" spc="-10" b="1">
                <a:latin typeface="Tahoma"/>
                <a:cs typeface="Tahoma"/>
              </a:rPr>
              <a:t>НАВЫКИ</a:t>
            </a:r>
            <a:endParaRPr sz="8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  <a:tabLst>
                <a:tab pos="913765" algn="l"/>
              </a:tabLst>
            </a:pPr>
            <a:r>
              <a:rPr dirty="0" sz="450">
                <a:latin typeface="Verdana"/>
                <a:cs typeface="Verdana"/>
              </a:rPr>
              <a:t>Webpack</a:t>
            </a:r>
            <a:r>
              <a:rPr dirty="0" sz="450" spc="25">
                <a:latin typeface="Verdana"/>
                <a:cs typeface="Verdana"/>
              </a:rPr>
              <a:t> </a:t>
            </a:r>
            <a:r>
              <a:rPr dirty="0" sz="450" spc="-25">
                <a:latin typeface="Verdana"/>
                <a:cs typeface="Verdana"/>
              </a:rPr>
              <a:t>v.5</a:t>
            </a:r>
            <a:r>
              <a:rPr dirty="0" sz="450">
                <a:latin typeface="Verdana"/>
                <a:cs typeface="Verdana"/>
              </a:rPr>
              <a:t>	</a:t>
            </a:r>
            <a:r>
              <a:rPr dirty="0" sz="450" spc="-70">
                <a:solidFill>
                  <a:srgbClr val="7F7F7F"/>
                </a:solidFill>
                <a:latin typeface="Verdana"/>
                <a:cs typeface="Verdana"/>
              </a:rPr>
              <a:t>1г+</a:t>
            </a:r>
            <a:endParaRPr sz="45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325"/>
              </a:spcBef>
            </a:pP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dirty="0" sz="450" spc="-25">
                <a:latin typeface="Verdana"/>
                <a:cs typeface="Verdana"/>
              </a:rPr>
              <a:t>Сист.</a:t>
            </a:r>
            <a:r>
              <a:rPr dirty="0" sz="450" spc="-4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контроля</a:t>
            </a:r>
            <a:r>
              <a:rPr dirty="0" sz="450" spc="-4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версий</a:t>
            </a:r>
            <a:r>
              <a:rPr dirty="0" sz="450" spc="-4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(Git)</a:t>
            </a:r>
            <a:r>
              <a:rPr dirty="0" sz="450" spc="260">
                <a:latin typeface="Verdana"/>
                <a:cs typeface="Verdana"/>
              </a:rPr>
              <a:t> </a:t>
            </a:r>
            <a:r>
              <a:rPr dirty="0" sz="450" spc="-55">
                <a:solidFill>
                  <a:srgbClr val="7F7F7F"/>
                </a:solidFill>
                <a:latin typeface="Verdana"/>
                <a:cs typeface="Verdana"/>
              </a:rPr>
              <a:t>1.5г+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46" name="object 46" descr=""/>
          <p:cNvGrpSpPr/>
          <p:nvPr/>
        </p:nvGrpSpPr>
        <p:grpSpPr>
          <a:xfrm>
            <a:off x="75349" y="3412315"/>
            <a:ext cx="1108075" cy="149225"/>
            <a:chOff x="75349" y="3412315"/>
            <a:chExt cx="1108075" cy="149225"/>
          </a:xfrm>
        </p:grpSpPr>
        <p:sp>
          <p:nvSpPr>
            <p:cNvPr id="47" name="object 47" descr=""/>
            <p:cNvSpPr/>
            <p:nvPr/>
          </p:nvSpPr>
          <p:spPr>
            <a:xfrm>
              <a:off x="75349" y="3412315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 descr=""/>
            <p:cNvSpPr/>
            <p:nvPr/>
          </p:nvSpPr>
          <p:spPr>
            <a:xfrm>
              <a:off x="75349" y="3412315"/>
              <a:ext cx="996950" cy="15875"/>
            </a:xfrm>
            <a:custGeom>
              <a:avLst/>
              <a:gdLst/>
              <a:ahLst/>
              <a:cxnLst/>
              <a:rect l="l" t="t" r="r" b="b"/>
              <a:pathLst>
                <a:path w="996950" h="15875">
                  <a:moveTo>
                    <a:pt x="996776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996776" y="15274"/>
                  </a:lnTo>
                  <a:lnTo>
                    <a:pt x="9967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9" name="object 49" descr="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82994" y="3469601"/>
              <a:ext cx="91655" cy="91655"/>
            </a:xfrm>
            <a:prstGeom prst="rect">
              <a:avLst/>
            </a:prstGeom>
          </p:spPr>
        </p:pic>
      </p:grpSp>
      <p:sp>
        <p:nvSpPr>
          <p:cNvPr id="50" name="object 50" descr=""/>
          <p:cNvSpPr txBox="1"/>
          <p:nvPr/>
        </p:nvSpPr>
        <p:spPr>
          <a:xfrm>
            <a:off x="188683" y="3464538"/>
            <a:ext cx="1005840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 spc="-30">
                <a:latin typeface="Verdana"/>
                <a:cs typeface="Verdana"/>
              </a:rPr>
              <a:t>Граф.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редакторы</a:t>
            </a:r>
            <a:r>
              <a:rPr dirty="0" sz="450" spc="-10">
                <a:latin typeface="Verdana"/>
                <a:cs typeface="Verdana"/>
              </a:rPr>
              <a:t> </a:t>
            </a:r>
            <a:r>
              <a:rPr dirty="0" sz="450" spc="-30">
                <a:latin typeface="Verdana"/>
                <a:cs typeface="Verdana"/>
              </a:rPr>
              <a:t>(Ps,</a:t>
            </a:r>
            <a:r>
              <a:rPr dirty="0" sz="450" spc="-2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Figma)</a:t>
            </a:r>
            <a:r>
              <a:rPr dirty="0" sz="450" spc="310">
                <a:latin typeface="Verdana"/>
                <a:cs typeface="Verdana"/>
              </a:rPr>
              <a:t> </a:t>
            </a:r>
            <a:r>
              <a:rPr dirty="0" sz="450" spc="-25">
                <a:solidFill>
                  <a:srgbClr val="7F7F7F"/>
                </a:solidFill>
                <a:latin typeface="Verdana"/>
                <a:cs typeface="Verdana"/>
              </a:rPr>
              <a:t>2г+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51" name="object 51" descr=""/>
          <p:cNvGrpSpPr/>
          <p:nvPr/>
        </p:nvGrpSpPr>
        <p:grpSpPr>
          <a:xfrm>
            <a:off x="75349" y="3591817"/>
            <a:ext cx="1108075" cy="15875"/>
            <a:chOff x="75349" y="3591817"/>
            <a:chExt cx="1108075" cy="15875"/>
          </a:xfrm>
        </p:grpSpPr>
        <p:sp>
          <p:nvSpPr>
            <p:cNvPr id="52" name="object 52" descr=""/>
            <p:cNvSpPr/>
            <p:nvPr/>
          </p:nvSpPr>
          <p:spPr>
            <a:xfrm>
              <a:off x="75349" y="3591817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1107528" y="15274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 descr=""/>
            <p:cNvSpPr/>
            <p:nvPr/>
          </p:nvSpPr>
          <p:spPr>
            <a:xfrm>
              <a:off x="75349" y="3591817"/>
              <a:ext cx="943610" cy="15875"/>
            </a:xfrm>
            <a:custGeom>
              <a:avLst/>
              <a:gdLst/>
              <a:ahLst/>
              <a:cxnLst/>
              <a:rect l="l" t="t" r="r" b="b"/>
              <a:pathLst>
                <a:path w="943610" h="15875">
                  <a:moveTo>
                    <a:pt x="943312" y="0"/>
                  </a:moveTo>
                  <a:lnTo>
                    <a:pt x="0" y="0"/>
                  </a:lnTo>
                  <a:lnTo>
                    <a:pt x="0" y="15274"/>
                  </a:lnTo>
                  <a:lnTo>
                    <a:pt x="943312" y="15274"/>
                  </a:lnTo>
                  <a:lnTo>
                    <a:pt x="94331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54" name="object 54" descr="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77863" y="3883609"/>
            <a:ext cx="101917" cy="88557"/>
          </a:xfrm>
          <a:prstGeom prst="rect">
            <a:avLst/>
          </a:prstGeom>
        </p:spPr>
      </p:pic>
      <p:sp>
        <p:nvSpPr>
          <p:cNvPr id="55" name="object 55" descr=""/>
          <p:cNvSpPr txBox="1"/>
          <p:nvPr/>
        </p:nvSpPr>
        <p:spPr>
          <a:xfrm>
            <a:off x="188683" y="3686039"/>
            <a:ext cx="811530" cy="28511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81280">
              <a:lnSpc>
                <a:spcPct val="100000"/>
              </a:lnSpc>
              <a:spcBef>
                <a:spcPts val="90"/>
              </a:spcBef>
            </a:pPr>
            <a:r>
              <a:rPr dirty="0" sz="850" spc="-10" b="1">
                <a:latin typeface="Tahoma"/>
                <a:cs typeface="Tahoma"/>
              </a:rPr>
              <a:t>ПРИНЦИПЫ</a:t>
            </a:r>
            <a:endParaRPr sz="8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dirty="0" sz="450">
                <a:latin typeface="Verdana"/>
                <a:cs typeface="Verdana"/>
              </a:rPr>
              <a:t>BEM</a:t>
            </a:r>
            <a:r>
              <a:rPr dirty="0" sz="450" spc="-15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OOP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SOLID</a:t>
            </a:r>
            <a:r>
              <a:rPr dirty="0" sz="450" spc="-15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FIRST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56" name="object 56" descr=""/>
          <p:cNvGrpSpPr/>
          <p:nvPr/>
        </p:nvGrpSpPr>
        <p:grpSpPr>
          <a:xfrm>
            <a:off x="75349" y="4004270"/>
            <a:ext cx="1108075" cy="15875"/>
            <a:chOff x="75349" y="4004270"/>
            <a:chExt cx="1108075" cy="15875"/>
          </a:xfrm>
        </p:grpSpPr>
        <p:sp>
          <p:nvSpPr>
            <p:cNvPr id="57" name="object 57" descr=""/>
            <p:cNvSpPr/>
            <p:nvPr/>
          </p:nvSpPr>
          <p:spPr>
            <a:xfrm>
              <a:off x="75349" y="4004270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1107528" y="15279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 descr=""/>
            <p:cNvSpPr/>
            <p:nvPr/>
          </p:nvSpPr>
          <p:spPr>
            <a:xfrm>
              <a:off x="75349" y="4004270"/>
              <a:ext cx="996950" cy="15875"/>
            </a:xfrm>
            <a:custGeom>
              <a:avLst/>
              <a:gdLst/>
              <a:ahLst/>
              <a:cxnLst/>
              <a:rect l="l" t="t" r="r" b="b"/>
              <a:pathLst>
                <a:path w="996950" h="15875">
                  <a:moveTo>
                    <a:pt x="996776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996776" y="15279"/>
                  </a:lnTo>
                  <a:lnTo>
                    <a:pt x="9967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9" name="object 59" descr=""/>
          <p:cNvSpPr/>
          <p:nvPr/>
        </p:nvSpPr>
        <p:spPr>
          <a:xfrm>
            <a:off x="90995" y="4078630"/>
            <a:ext cx="76200" cy="59055"/>
          </a:xfrm>
          <a:custGeom>
            <a:avLst/>
            <a:gdLst/>
            <a:ahLst/>
            <a:cxnLst/>
            <a:rect l="l" t="t" r="r" b="b"/>
            <a:pathLst>
              <a:path w="76200" h="59054">
                <a:moveTo>
                  <a:pt x="190" y="46647"/>
                </a:moveTo>
                <a:lnTo>
                  <a:pt x="0" y="55143"/>
                </a:lnTo>
                <a:lnTo>
                  <a:pt x="64719" y="55143"/>
                </a:lnTo>
                <a:lnTo>
                  <a:pt x="64719" y="59016"/>
                </a:lnTo>
                <a:lnTo>
                  <a:pt x="75679" y="50939"/>
                </a:lnTo>
                <a:lnTo>
                  <a:pt x="69914" y="46697"/>
                </a:lnTo>
                <a:lnTo>
                  <a:pt x="53807" y="46672"/>
                </a:lnTo>
                <a:lnTo>
                  <a:pt x="26136" y="46672"/>
                </a:lnTo>
                <a:lnTo>
                  <a:pt x="190" y="46647"/>
                </a:lnTo>
                <a:close/>
              </a:path>
              <a:path w="76200" h="59054">
                <a:moveTo>
                  <a:pt x="64719" y="42875"/>
                </a:moveTo>
                <a:lnTo>
                  <a:pt x="64757" y="46456"/>
                </a:lnTo>
                <a:lnTo>
                  <a:pt x="64554" y="46697"/>
                </a:lnTo>
                <a:lnTo>
                  <a:pt x="69914" y="46697"/>
                </a:lnTo>
                <a:lnTo>
                  <a:pt x="64719" y="42875"/>
                </a:lnTo>
                <a:close/>
              </a:path>
              <a:path w="76200" h="59054">
                <a:moveTo>
                  <a:pt x="60566" y="46659"/>
                </a:moveTo>
                <a:lnTo>
                  <a:pt x="53809" y="46672"/>
                </a:lnTo>
                <a:lnTo>
                  <a:pt x="61895" y="46672"/>
                </a:lnTo>
                <a:lnTo>
                  <a:pt x="60566" y="46659"/>
                </a:lnTo>
                <a:close/>
              </a:path>
              <a:path w="76200" h="59054">
                <a:moveTo>
                  <a:pt x="51657" y="15938"/>
                </a:moveTo>
                <a:lnTo>
                  <a:pt x="29222" y="15938"/>
                </a:lnTo>
                <a:lnTo>
                  <a:pt x="37236" y="17106"/>
                </a:lnTo>
                <a:lnTo>
                  <a:pt x="44040" y="19954"/>
                </a:lnTo>
                <a:lnTo>
                  <a:pt x="48474" y="25415"/>
                </a:lnTo>
                <a:lnTo>
                  <a:pt x="49943" y="32273"/>
                </a:lnTo>
                <a:lnTo>
                  <a:pt x="47853" y="39306"/>
                </a:lnTo>
                <a:lnTo>
                  <a:pt x="44843" y="44259"/>
                </a:lnTo>
                <a:lnTo>
                  <a:pt x="40309" y="46647"/>
                </a:lnTo>
                <a:lnTo>
                  <a:pt x="26136" y="46672"/>
                </a:lnTo>
                <a:lnTo>
                  <a:pt x="53807" y="46672"/>
                </a:lnTo>
                <a:lnTo>
                  <a:pt x="53365" y="46634"/>
                </a:lnTo>
                <a:lnTo>
                  <a:pt x="53340" y="46443"/>
                </a:lnTo>
                <a:lnTo>
                  <a:pt x="53555" y="46088"/>
                </a:lnTo>
                <a:lnTo>
                  <a:pt x="57810" y="40347"/>
                </a:lnTo>
                <a:lnTo>
                  <a:pt x="59283" y="34124"/>
                </a:lnTo>
                <a:lnTo>
                  <a:pt x="57988" y="27317"/>
                </a:lnTo>
                <a:lnTo>
                  <a:pt x="54014" y="18068"/>
                </a:lnTo>
                <a:lnTo>
                  <a:pt x="51657" y="15938"/>
                </a:lnTo>
                <a:close/>
              </a:path>
              <a:path w="76200" h="59054">
                <a:moveTo>
                  <a:pt x="14973" y="0"/>
                </a:moveTo>
                <a:lnTo>
                  <a:pt x="6362" y="1625"/>
                </a:lnTo>
                <a:lnTo>
                  <a:pt x="2324" y="5638"/>
                </a:lnTo>
                <a:lnTo>
                  <a:pt x="210" y="15697"/>
                </a:lnTo>
                <a:lnTo>
                  <a:pt x="175" y="15938"/>
                </a:lnTo>
                <a:lnTo>
                  <a:pt x="2380" y="21323"/>
                </a:lnTo>
                <a:lnTo>
                  <a:pt x="8308" y="25415"/>
                </a:lnTo>
                <a:lnTo>
                  <a:pt x="10160" y="26136"/>
                </a:lnTo>
                <a:lnTo>
                  <a:pt x="12204" y="26479"/>
                </a:lnTo>
                <a:lnTo>
                  <a:pt x="12255" y="26682"/>
                </a:lnTo>
                <a:lnTo>
                  <a:pt x="11823" y="28841"/>
                </a:lnTo>
                <a:lnTo>
                  <a:pt x="11734" y="33261"/>
                </a:lnTo>
                <a:lnTo>
                  <a:pt x="11455" y="33566"/>
                </a:lnTo>
                <a:lnTo>
                  <a:pt x="10261" y="33820"/>
                </a:lnTo>
                <a:lnTo>
                  <a:pt x="9245" y="33959"/>
                </a:lnTo>
                <a:lnTo>
                  <a:pt x="8470" y="34099"/>
                </a:lnTo>
                <a:lnTo>
                  <a:pt x="17805" y="43713"/>
                </a:lnTo>
                <a:lnTo>
                  <a:pt x="23746" y="32219"/>
                </a:lnTo>
                <a:lnTo>
                  <a:pt x="20167" y="32219"/>
                </a:lnTo>
                <a:lnTo>
                  <a:pt x="20256" y="30327"/>
                </a:lnTo>
                <a:lnTo>
                  <a:pt x="21659" y="21894"/>
                </a:lnTo>
                <a:lnTo>
                  <a:pt x="13843" y="21894"/>
                </a:lnTo>
                <a:lnTo>
                  <a:pt x="9245" y="21513"/>
                </a:lnTo>
                <a:lnTo>
                  <a:pt x="5791" y="17856"/>
                </a:lnTo>
                <a:lnTo>
                  <a:pt x="5672" y="11571"/>
                </a:lnTo>
                <a:lnTo>
                  <a:pt x="5715" y="8343"/>
                </a:lnTo>
                <a:lnTo>
                  <a:pt x="10248" y="4381"/>
                </a:lnTo>
                <a:lnTo>
                  <a:pt x="23816" y="4381"/>
                </a:lnTo>
                <a:lnTo>
                  <a:pt x="23417" y="2768"/>
                </a:lnTo>
                <a:lnTo>
                  <a:pt x="21869" y="2768"/>
                </a:lnTo>
                <a:lnTo>
                  <a:pt x="21551" y="2717"/>
                </a:lnTo>
                <a:lnTo>
                  <a:pt x="18122" y="609"/>
                </a:lnTo>
                <a:lnTo>
                  <a:pt x="14973" y="0"/>
                </a:lnTo>
                <a:close/>
              </a:path>
              <a:path w="76200" h="59054">
                <a:moveTo>
                  <a:pt x="24015" y="31699"/>
                </a:moveTo>
                <a:lnTo>
                  <a:pt x="20167" y="32219"/>
                </a:lnTo>
                <a:lnTo>
                  <a:pt x="23746" y="32219"/>
                </a:lnTo>
                <a:lnTo>
                  <a:pt x="24015" y="31699"/>
                </a:lnTo>
                <a:close/>
              </a:path>
              <a:path w="76200" h="59054">
                <a:moveTo>
                  <a:pt x="37562" y="8552"/>
                </a:moveTo>
                <a:lnTo>
                  <a:pt x="27381" y="9740"/>
                </a:lnTo>
                <a:lnTo>
                  <a:pt x="21463" y="11785"/>
                </a:lnTo>
                <a:lnTo>
                  <a:pt x="17119" y="15697"/>
                </a:lnTo>
                <a:lnTo>
                  <a:pt x="14020" y="21628"/>
                </a:lnTo>
                <a:lnTo>
                  <a:pt x="13843" y="21894"/>
                </a:lnTo>
                <a:lnTo>
                  <a:pt x="21659" y="21894"/>
                </a:lnTo>
                <a:lnTo>
                  <a:pt x="21772" y="21310"/>
                </a:lnTo>
                <a:lnTo>
                  <a:pt x="29222" y="15938"/>
                </a:lnTo>
                <a:lnTo>
                  <a:pt x="51657" y="15938"/>
                </a:lnTo>
                <a:lnTo>
                  <a:pt x="46823" y="11571"/>
                </a:lnTo>
                <a:lnTo>
                  <a:pt x="37562" y="8552"/>
                </a:lnTo>
                <a:close/>
              </a:path>
              <a:path w="76200" h="59054">
                <a:moveTo>
                  <a:pt x="23816" y="4381"/>
                </a:moveTo>
                <a:lnTo>
                  <a:pt x="10248" y="4381"/>
                </a:lnTo>
                <a:lnTo>
                  <a:pt x="16598" y="5422"/>
                </a:lnTo>
                <a:lnTo>
                  <a:pt x="17653" y="5791"/>
                </a:lnTo>
                <a:lnTo>
                  <a:pt x="18605" y="6502"/>
                </a:lnTo>
                <a:lnTo>
                  <a:pt x="17335" y="8089"/>
                </a:lnTo>
                <a:lnTo>
                  <a:pt x="24650" y="8597"/>
                </a:lnTo>
                <a:lnTo>
                  <a:pt x="24758" y="8432"/>
                </a:lnTo>
                <a:lnTo>
                  <a:pt x="24742" y="8089"/>
                </a:lnTo>
                <a:lnTo>
                  <a:pt x="24498" y="7239"/>
                </a:lnTo>
                <a:lnTo>
                  <a:pt x="23816" y="4381"/>
                </a:lnTo>
                <a:close/>
              </a:path>
              <a:path w="76200" h="59054">
                <a:moveTo>
                  <a:pt x="23037" y="1231"/>
                </a:moveTo>
                <a:lnTo>
                  <a:pt x="22694" y="1625"/>
                </a:lnTo>
                <a:lnTo>
                  <a:pt x="22402" y="1892"/>
                </a:lnTo>
                <a:lnTo>
                  <a:pt x="21869" y="2768"/>
                </a:lnTo>
                <a:lnTo>
                  <a:pt x="23417" y="2768"/>
                </a:lnTo>
                <a:lnTo>
                  <a:pt x="23037" y="123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0" name="object 60" descr=""/>
          <p:cNvSpPr txBox="1"/>
          <p:nvPr/>
        </p:nvSpPr>
        <p:spPr>
          <a:xfrm>
            <a:off x="188683" y="4056498"/>
            <a:ext cx="662940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>
                <a:latin typeface="Verdana"/>
                <a:cs typeface="Verdana"/>
              </a:rPr>
              <a:t>Agile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-25">
                <a:latin typeface="Verdana"/>
                <a:cs typeface="Verdana"/>
              </a:rPr>
              <a:t>(Scrum,</a:t>
            </a:r>
            <a:r>
              <a:rPr dirty="0" sz="450" spc="-10">
                <a:latin typeface="Verdana"/>
                <a:cs typeface="Verdana"/>
              </a:rPr>
              <a:t> Kanban)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61" name="object 61" descr=""/>
          <p:cNvGrpSpPr/>
          <p:nvPr/>
        </p:nvGrpSpPr>
        <p:grpSpPr>
          <a:xfrm>
            <a:off x="75349" y="4183759"/>
            <a:ext cx="1108075" cy="156845"/>
            <a:chOff x="75349" y="4183759"/>
            <a:chExt cx="1108075" cy="156845"/>
          </a:xfrm>
        </p:grpSpPr>
        <p:sp>
          <p:nvSpPr>
            <p:cNvPr id="62" name="object 62" descr=""/>
            <p:cNvSpPr/>
            <p:nvPr/>
          </p:nvSpPr>
          <p:spPr>
            <a:xfrm>
              <a:off x="75349" y="4183759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1107528" y="15279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3" name="object 63" descr=""/>
            <p:cNvSpPr/>
            <p:nvPr/>
          </p:nvSpPr>
          <p:spPr>
            <a:xfrm>
              <a:off x="75349" y="4183759"/>
              <a:ext cx="996950" cy="15875"/>
            </a:xfrm>
            <a:custGeom>
              <a:avLst/>
              <a:gdLst/>
              <a:ahLst/>
              <a:cxnLst/>
              <a:rect l="l" t="t" r="r" b="b"/>
              <a:pathLst>
                <a:path w="996950" h="15875">
                  <a:moveTo>
                    <a:pt x="996776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996776" y="15279"/>
                  </a:lnTo>
                  <a:lnTo>
                    <a:pt x="9967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4" name="object 64" descr="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75349" y="4233417"/>
              <a:ext cx="106934" cy="106934"/>
            </a:xfrm>
            <a:prstGeom prst="rect">
              <a:avLst/>
            </a:prstGeom>
          </p:spPr>
        </p:pic>
      </p:grpSp>
      <p:sp>
        <p:nvSpPr>
          <p:cNvPr id="65" name="object 65" descr=""/>
          <p:cNvSpPr txBox="1"/>
          <p:nvPr/>
        </p:nvSpPr>
        <p:spPr>
          <a:xfrm>
            <a:off x="188683" y="4235987"/>
            <a:ext cx="624840" cy="946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50" spc="-20">
                <a:latin typeface="Verdana"/>
                <a:cs typeface="Verdana"/>
              </a:rPr>
              <a:t>REST </a:t>
            </a:r>
            <a:r>
              <a:rPr dirty="0" sz="450">
                <a:latin typeface="Verdana"/>
                <a:cs typeface="Verdana"/>
              </a:rPr>
              <a:t>(HTTP</a:t>
            </a:r>
            <a:r>
              <a:rPr dirty="0" sz="450" spc="-20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 spc="-3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HTTPS)</a:t>
            </a:r>
            <a:endParaRPr sz="450">
              <a:latin typeface="Verdana"/>
              <a:cs typeface="Verdana"/>
            </a:endParaRPr>
          </a:p>
        </p:txBody>
      </p:sp>
      <p:grpSp>
        <p:nvGrpSpPr>
          <p:cNvPr id="66" name="object 66" descr=""/>
          <p:cNvGrpSpPr/>
          <p:nvPr/>
        </p:nvGrpSpPr>
        <p:grpSpPr>
          <a:xfrm>
            <a:off x="75349" y="4363261"/>
            <a:ext cx="1108075" cy="15875"/>
            <a:chOff x="75349" y="4363261"/>
            <a:chExt cx="1108075" cy="15875"/>
          </a:xfrm>
        </p:grpSpPr>
        <p:sp>
          <p:nvSpPr>
            <p:cNvPr id="67" name="object 67" descr=""/>
            <p:cNvSpPr/>
            <p:nvPr/>
          </p:nvSpPr>
          <p:spPr>
            <a:xfrm>
              <a:off x="75349" y="4363261"/>
              <a:ext cx="1108075" cy="15875"/>
            </a:xfrm>
            <a:custGeom>
              <a:avLst/>
              <a:gdLst/>
              <a:ahLst/>
              <a:cxnLst/>
              <a:rect l="l" t="t" r="r" b="b"/>
              <a:pathLst>
                <a:path w="1108075" h="15875">
                  <a:moveTo>
                    <a:pt x="1107528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1107528" y="15279"/>
                  </a:lnTo>
                  <a:lnTo>
                    <a:pt x="1107528" y="0"/>
                  </a:lnTo>
                  <a:close/>
                </a:path>
              </a:pathLst>
            </a:custGeom>
            <a:solidFill>
              <a:srgbClr val="DADAD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8" name="object 68" descr=""/>
            <p:cNvSpPr/>
            <p:nvPr/>
          </p:nvSpPr>
          <p:spPr>
            <a:xfrm>
              <a:off x="75349" y="4363261"/>
              <a:ext cx="833119" cy="15875"/>
            </a:xfrm>
            <a:custGeom>
              <a:avLst/>
              <a:gdLst/>
              <a:ahLst/>
              <a:cxnLst/>
              <a:rect l="l" t="t" r="r" b="b"/>
              <a:pathLst>
                <a:path w="833119" h="15875">
                  <a:moveTo>
                    <a:pt x="832554" y="0"/>
                  </a:moveTo>
                  <a:lnTo>
                    <a:pt x="0" y="0"/>
                  </a:lnTo>
                  <a:lnTo>
                    <a:pt x="0" y="15279"/>
                  </a:lnTo>
                  <a:lnTo>
                    <a:pt x="832554" y="15279"/>
                  </a:lnTo>
                  <a:lnTo>
                    <a:pt x="83255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9" name="object 69" descr=""/>
          <p:cNvSpPr txBox="1"/>
          <p:nvPr/>
        </p:nvSpPr>
        <p:spPr>
          <a:xfrm>
            <a:off x="95108" y="5037389"/>
            <a:ext cx="1067435" cy="332105"/>
          </a:xfrm>
          <a:prstGeom prst="rect">
            <a:avLst/>
          </a:prstGeom>
        </p:spPr>
        <p:txBody>
          <a:bodyPr wrap="square" lIns="0" tIns="61594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484"/>
              </a:spcBef>
            </a:pPr>
            <a:r>
              <a:rPr dirty="0" sz="850" spc="10" b="1">
                <a:latin typeface="Tahoma"/>
                <a:cs typeface="Tahoma"/>
              </a:rPr>
              <a:t>ПРИМЕРЫ</a:t>
            </a:r>
            <a:r>
              <a:rPr dirty="0" sz="850" spc="190" b="1">
                <a:latin typeface="Tahoma"/>
                <a:cs typeface="Tahoma"/>
              </a:rPr>
              <a:t> </a:t>
            </a:r>
            <a:r>
              <a:rPr dirty="0" sz="850" spc="-10" b="1">
                <a:latin typeface="Tahoma"/>
                <a:cs typeface="Tahoma"/>
              </a:rPr>
              <a:t>РАБОТ</a:t>
            </a:r>
            <a:endParaRPr sz="85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285"/>
              </a:spcBef>
            </a:pPr>
            <a:r>
              <a:rPr dirty="0" u="sng" sz="600" spc="45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ВЕРСТКА</a:t>
            </a:r>
            <a:endParaRPr sz="600">
              <a:latin typeface="Tahoma"/>
              <a:cs typeface="Tahoma"/>
            </a:endParaRPr>
          </a:p>
        </p:txBody>
      </p:sp>
      <p:pic>
        <p:nvPicPr>
          <p:cNvPr id="70" name="object 70" descr="">
            <a:hlinkClick r:id="rId21"/>
          </p:cNvPr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257759" y="5409234"/>
            <a:ext cx="344633" cy="229755"/>
          </a:xfrm>
          <a:prstGeom prst="rect">
            <a:avLst/>
          </a:prstGeom>
        </p:spPr>
      </p:pic>
      <p:pic>
        <p:nvPicPr>
          <p:cNvPr id="71" name="object 71" descr="">
            <a:hlinkClick r:id="rId23"/>
          </p:cNvPr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654938" y="5409234"/>
            <a:ext cx="344633" cy="229755"/>
          </a:xfrm>
          <a:prstGeom prst="rect">
            <a:avLst/>
          </a:prstGeom>
        </p:spPr>
      </p:pic>
      <p:sp>
        <p:nvSpPr>
          <p:cNvPr id="72" name="object 72" descr=""/>
          <p:cNvSpPr txBox="1"/>
          <p:nvPr/>
        </p:nvSpPr>
        <p:spPr>
          <a:xfrm>
            <a:off x="247878" y="5679601"/>
            <a:ext cx="763270" cy="1174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u="sng" sz="600" spc="60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ВЕБ-ПРИЛОЖ.</a:t>
            </a:r>
            <a:r>
              <a:rPr dirty="0" u="sng" sz="600" spc="-25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 </a:t>
            </a:r>
            <a:r>
              <a:rPr dirty="0" u="sng" sz="600" spc="-40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/</a:t>
            </a:r>
            <a:r>
              <a:rPr dirty="0" u="sng" sz="600" spc="-35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 </a:t>
            </a:r>
            <a:r>
              <a:rPr dirty="0" u="sng" sz="600" spc="-25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JS</a:t>
            </a:r>
            <a:endParaRPr sz="600">
              <a:latin typeface="Tahoma"/>
              <a:cs typeface="Tahoma"/>
            </a:endParaRPr>
          </a:p>
        </p:txBody>
      </p:sp>
      <p:pic>
        <p:nvPicPr>
          <p:cNvPr id="73" name="object 73" descr="">
            <a:hlinkClick r:id="rId25"/>
          </p:cNvPr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257759" y="5836970"/>
            <a:ext cx="344633" cy="229755"/>
          </a:xfrm>
          <a:prstGeom prst="rect">
            <a:avLst/>
          </a:prstGeom>
        </p:spPr>
      </p:pic>
      <p:pic>
        <p:nvPicPr>
          <p:cNvPr id="74" name="object 74" descr="">
            <a:hlinkClick r:id="rId27"/>
          </p:cNvPr>
          <p:cNvPicPr/>
          <p:nvPr/>
        </p:nvPicPr>
        <p:blipFill>
          <a:blip r:embed="rId28" cstate="print"/>
          <a:stretch>
            <a:fillRect/>
          </a:stretch>
        </p:blipFill>
        <p:spPr>
          <a:xfrm>
            <a:off x="654938" y="5836970"/>
            <a:ext cx="344633" cy="229755"/>
          </a:xfrm>
          <a:prstGeom prst="rect">
            <a:avLst/>
          </a:prstGeom>
        </p:spPr>
      </p:pic>
      <p:sp>
        <p:nvSpPr>
          <p:cNvPr id="75" name="object 75" descr=""/>
          <p:cNvSpPr txBox="1"/>
          <p:nvPr/>
        </p:nvSpPr>
        <p:spPr>
          <a:xfrm>
            <a:off x="97027" y="6107337"/>
            <a:ext cx="1066165" cy="1174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u="sng" sz="600" spc="60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ВЕБ-ПРИЛОЖ.</a:t>
            </a:r>
            <a:r>
              <a:rPr dirty="0" u="sng" sz="600" spc="-25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 </a:t>
            </a:r>
            <a:r>
              <a:rPr dirty="0" u="sng" sz="600" spc="-40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/</a:t>
            </a:r>
            <a:r>
              <a:rPr dirty="0" u="sng" sz="600" spc="-35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 </a:t>
            </a:r>
            <a:r>
              <a:rPr dirty="0" u="sng" sz="600" spc="50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ANGULAR</a:t>
            </a:r>
            <a:endParaRPr sz="600">
              <a:latin typeface="Tahoma"/>
              <a:cs typeface="Tahoma"/>
            </a:endParaRPr>
          </a:p>
        </p:txBody>
      </p:sp>
      <p:pic>
        <p:nvPicPr>
          <p:cNvPr id="76" name="object 76" descr="">
            <a:hlinkClick r:id="rId29"/>
          </p:cNvPr>
          <p:cNvPicPr/>
          <p:nvPr/>
        </p:nvPicPr>
        <p:blipFill>
          <a:blip r:embed="rId30" cstate="print"/>
          <a:stretch>
            <a:fillRect/>
          </a:stretch>
        </p:blipFill>
        <p:spPr>
          <a:xfrm>
            <a:off x="456958" y="6264707"/>
            <a:ext cx="344633" cy="229755"/>
          </a:xfrm>
          <a:prstGeom prst="rect">
            <a:avLst/>
          </a:prstGeom>
        </p:spPr>
      </p:pic>
      <p:sp>
        <p:nvSpPr>
          <p:cNvPr id="77" name="object 77" descr=""/>
          <p:cNvSpPr/>
          <p:nvPr/>
        </p:nvSpPr>
        <p:spPr>
          <a:xfrm>
            <a:off x="1340777" y="2833128"/>
            <a:ext cx="43815" cy="43815"/>
          </a:xfrm>
          <a:custGeom>
            <a:avLst/>
            <a:gdLst/>
            <a:ahLst/>
            <a:cxnLst/>
            <a:rect l="l" t="t" r="r" b="b"/>
            <a:pathLst>
              <a:path w="43815" h="43814">
                <a:moveTo>
                  <a:pt x="21602" y="0"/>
                </a:moveTo>
                <a:lnTo>
                  <a:pt x="0" y="21602"/>
                </a:lnTo>
                <a:lnTo>
                  <a:pt x="21602" y="43205"/>
                </a:lnTo>
                <a:lnTo>
                  <a:pt x="43205" y="21602"/>
                </a:lnTo>
                <a:lnTo>
                  <a:pt x="2160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8" name="object 78" descr=""/>
          <p:cNvSpPr txBox="1"/>
          <p:nvPr/>
        </p:nvSpPr>
        <p:spPr>
          <a:xfrm>
            <a:off x="1326768" y="2490672"/>
            <a:ext cx="2456180" cy="79883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850" spc="-10" b="1">
                <a:latin typeface="Tahoma"/>
                <a:cs typeface="Tahoma"/>
              </a:rPr>
              <a:t>ОБРАЗОВАНИЕ</a:t>
            </a:r>
            <a:endParaRPr sz="8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dirty="0" sz="500" spc="60">
                <a:latin typeface="Microsoft Sans Serif"/>
                <a:cs typeface="Microsoft Sans Serif"/>
              </a:rPr>
              <a:t>ВЫСШЕЕ</a:t>
            </a:r>
            <a:r>
              <a:rPr dirty="0" sz="500" spc="100">
                <a:latin typeface="Microsoft Sans Serif"/>
                <a:cs typeface="Microsoft Sans Serif"/>
              </a:rPr>
              <a:t> </a:t>
            </a:r>
            <a:r>
              <a:rPr dirty="0" sz="500" spc="45">
                <a:latin typeface="Microsoft Sans Serif"/>
                <a:cs typeface="Microsoft Sans Serif"/>
              </a:rPr>
              <a:t>ОБРАЗОВАНИЕ</a:t>
            </a:r>
            <a:endParaRPr sz="500">
              <a:latin typeface="Microsoft Sans Serif"/>
              <a:cs typeface="Microsoft Sans Serif"/>
            </a:endParaRPr>
          </a:p>
          <a:p>
            <a:pPr marL="107950">
              <a:lnSpc>
                <a:spcPct val="100000"/>
              </a:lnSpc>
              <a:spcBef>
                <a:spcPts val="430"/>
              </a:spcBef>
            </a:pPr>
            <a:r>
              <a:rPr dirty="0" sz="400">
                <a:latin typeface="Verdana"/>
                <a:cs typeface="Verdana"/>
              </a:rPr>
              <a:t>2008</a:t>
            </a:r>
            <a:r>
              <a:rPr dirty="0" sz="400" spc="95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—</a:t>
            </a:r>
            <a:r>
              <a:rPr dirty="0" sz="400" spc="95">
                <a:latin typeface="Verdana"/>
                <a:cs typeface="Verdana"/>
              </a:rPr>
              <a:t> </a:t>
            </a:r>
            <a:r>
              <a:rPr dirty="0" sz="400" spc="-20">
                <a:latin typeface="Verdana"/>
                <a:cs typeface="Verdana"/>
              </a:rPr>
              <a:t>2013</a:t>
            </a:r>
            <a:endParaRPr sz="400">
              <a:latin typeface="Verdana"/>
              <a:cs typeface="Verdana"/>
            </a:endParaRPr>
          </a:p>
          <a:p>
            <a:pPr marL="107950" marR="5080">
              <a:lnSpc>
                <a:spcPct val="111400"/>
              </a:lnSpc>
              <a:spcBef>
                <a:spcPts val="190"/>
              </a:spcBef>
            </a:pPr>
            <a:r>
              <a:rPr dirty="0" sz="450" b="1">
                <a:latin typeface="Tahoma"/>
                <a:cs typeface="Tahoma"/>
              </a:rPr>
              <a:t>«Организация</a:t>
            </a:r>
            <a:r>
              <a:rPr dirty="0" sz="450" spc="235" b="1">
                <a:latin typeface="Tahoma"/>
                <a:cs typeface="Tahoma"/>
              </a:rPr>
              <a:t> </a:t>
            </a:r>
            <a:r>
              <a:rPr dirty="0" sz="450" spc="50" b="1">
                <a:latin typeface="Tahoma"/>
                <a:cs typeface="Tahoma"/>
              </a:rPr>
              <a:t>и</a:t>
            </a:r>
            <a:r>
              <a:rPr dirty="0" sz="450" spc="21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управление</a:t>
            </a:r>
            <a:r>
              <a:rPr dirty="0" sz="450" spc="21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литейным</a:t>
            </a:r>
            <a:r>
              <a:rPr dirty="0" sz="450" spc="23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производством»</a:t>
            </a:r>
            <a:r>
              <a:rPr dirty="0" sz="450" spc="235" b="1">
                <a:latin typeface="Tahoma"/>
                <a:cs typeface="Tahoma"/>
              </a:rPr>
              <a:t> </a:t>
            </a:r>
            <a:r>
              <a:rPr dirty="0" sz="450" spc="-85" b="1">
                <a:latin typeface="Tahoma"/>
                <a:cs typeface="Tahoma"/>
              </a:rPr>
              <a:t>/</a:t>
            </a:r>
            <a:r>
              <a:rPr dirty="0" sz="450" spc="22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«Машины</a:t>
            </a:r>
            <a:r>
              <a:rPr dirty="0" sz="450" spc="26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и</a:t>
            </a:r>
            <a:r>
              <a:rPr dirty="0" sz="450" spc="50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технология</a:t>
            </a:r>
            <a:r>
              <a:rPr dirty="0" sz="450" spc="23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литейного</a:t>
            </a:r>
            <a:r>
              <a:rPr dirty="0" sz="450" spc="19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производства»</a:t>
            </a:r>
            <a:r>
              <a:rPr dirty="0" sz="450" spc="235" b="1">
                <a:latin typeface="Tahoma"/>
                <a:cs typeface="Tahoma"/>
              </a:rPr>
              <a:t> </a:t>
            </a:r>
            <a:r>
              <a:rPr dirty="0" sz="450" spc="-85" b="1">
                <a:latin typeface="Tahoma"/>
                <a:cs typeface="Tahoma"/>
              </a:rPr>
              <a:t>/</a:t>
            </a:r>
            <a:r>
              <a:rPr dirty="0" sz="450" spc="225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Инженер</a:t>
            </a:r>
            <a:endParaRPr sz="450">
              <a:latin typeface="Tahoma"/>
              <a:cs typeface="Tahoma"/>
            </a:endParaRPr>
          </a:p>
          <a:p>
            <a:pPr marL="107950">
              <a:lnSpc>
                <a:spcPct val="100000"/>
              </a:lnSpc>
              <a:spcBef>
                <a:spcPts val="120"/>
              </a:spcBef>
            </a:pPr>
            <a:r>
              <a:rPr dirty="0" sz="450">
                <a:latin typeface="Verdana"/>
                <a:cs typeface="Verdana"/>
              </a:rPr>
              <a:t>Гомельский</a:t>
            </a:r>
            <a:r>
              <a:rPr dirty="0" sz="450" spc="-1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государственный</a:t>
            </a:r>
            <a:r>
              <a:rPr dirty="0" sz="450" spc="-1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технический</a:t>
            </a:r>
            <a:r>
              <a:rPr dirty="0" sz="450" spc="-1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университет</a:t>
            </a:r>
            <a:r>
              <a:rPr dirty="0" sz="450" spc="-1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имени</a:t>
            </a:r>
            <a:r>
              <a:rPr dirty="0" sz="450" spc="-10">
                <a:latin typeface="Verdana"/>
                <a:cs typeface="Verdana"/>
              </a:rPr>
              <a:t> П.О.Сухого</a:t>
            </a: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dirty="0" sz="500" spc="70">
                <a:latin typeface="Microsoft Sans Serif"/>
                <a:cs typeface="Microsoft Sans Serif"/>
              </a:rPr>
              <a:t>ДОПОЛНИТЕЛЬНОЕ</a:t>
            </a:r>
            <a:r>
              <a:rPr dirty="0" sz="500" spc="130">
                <a:latin typeface="Microsoft Sans Serif"/>
                <a:cs typeface="Microsoft Sans Serif"/>
              </a:rPr>
              <a:t> </a:t>
            </a:r>
            <a:r>
              <a:rPr dirty="0" sz="500" spc="45">
                <a:latin typeface="Microsoft Sans Serif"/>
                <a:cs typeface="Microsoft Sans Serif"/>
              </a:rPr>
              <a:t>ОБРАЗОВАНИЕ</a:t>
            </a:r>
            <a:endParaRPr sz="500">
              <a:latin typeface="Microsoft Sans Serif"/>
              <a:cs typeface="Microsoft Sans Serif"/>
            </a:endParaRPr>
          </a:p>
        </p:txBody>
      </p:sp>
      <p:grpSp>
        <p:nvGrpSpPr>
          <p:cNvPr id="79" name="object 79" descr=""/>
          <p:cNvGrpSpPr/>
          <p:nvPr/>
        </p:nvGrpSpPr>
        <p:grpSpPr>
          <a:xfrm>
            <a:off x="1340777" y="3337242"/>
            <a:ext cx="43815" cy="1418590"/>
            <a:chOff x="1340777" y="3337242"/>
            <a:chExt cx="43815" cy="1418590"/>
          </a:xfrm>
        </p:grpSpPr>
        <p:sp>
          <p:nvSpPr>
            <p:cNvPr id="80" name="object 80" descr=""/>
            <p:cNvSpPr/>
            <p:nvPr/>
          </p:nvSpPr>
          <p:spPr>
            <a:xfrm>
              <a:off x="1360468" y="3355035"/>
              <a:ext cx="0" cy="1363980"/>
            </a:xfrm>
            <a:custGeom>
              <a:avLst/>
              <a:gdLst/>
              <a:ahLst/>
              <a:cxnLst/>
              <a:rect l="l" t="t" r="r" b="b"/>
              <a:pathLst>
                <a:path w="0" h="1363979">
                  <a:moveTo>
                    <a:pt x="0" y="0"/>
                  </a:moveTo>
                  <a:lnTo>
                    <a:pt x="0" y="1363395"/>
                  </a:lnTo>
                </a:path>
              </a:pathLst>
            </a:custGeom>
            <a:ln w="382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1" name="object 81" descr=""/>
            <p:cNvSpPr/>
            <p:nvPr/>
          </p:nvSpPr>
          <p:spPr>
            <a:xfrm>
              <a:off x="1340777" y="3337242"/>
              <a:ext cx="43815" cy="1418590"/>
            </a:xfrm>
            <a:custGeom>
              <a:avLst/>
              <a:gdLst/>
              <a:ahLst/>
              <a:cxnLst/>
              <a:rect l="l" t="t" r="r" b="b"/>
              <a:pathLst>
                <a:path w="43815" h="1418589">
                  <a:moveTo>
                    <a:pt x="43205" y="1396466"/>
                  </a:moveTo>
                  <a:lnTo>
                    <a:pt x="21602" y="1374863"/>
                  </a:lnTo>
                  <a:lnTo>
                    <a:pt x="0" y="1396466"/>
                  </a:lnTo>
                  <a:lnTo>
                    <a:pt x="21602" y="1418082"/>
                  </a:lnTo>
                  <a:lnTo>
                    <a:pt x="43205" y="1396466"/>
                  </a:lnTo>
                  <a:close/>
                </a:path>
                <a:path w="43815" h="1418589">
                  <a:moveTo>
                    <a:pt x="43205" y="1014564"/>
                  </a:moveTo>
                  <a:lnTo>
                    <a:pt x="21602" y="992962"/>
                  </a:lnTo>
                  <a:lnTo>
                    <a:pt x="0" y="1014564"/>
                  </a:lnTo>
                  <a:lnTo>
                    <a:pt x="21602" y="1036167"/>
                  </a:lnTo>
                  <a:lnTo>
                    <a:pt x="43205" y="1014564"/>
                  </a:lnTo>
                  <a:close/>
                </a:path>
                <a:path w="43815" h="1418589">
                  <a:moveTo>
                    <a:pt x="43205" y="709041"/>
                  </a:moveTo>
                  <a:lnTo>
                    <a:pt x="21602" y="687438"/>
                  </a:lnTo>
                  <a:lnTo>
                    <a:pt x="0" y="709041"/>
                  </a:lnTo>
                  <a:lnTo>
                    <a:pt x="21602" y="730643"/>
                  </a:lnTo>
                  <a:lnTo>
                    <a:pt x="43205" y="709041"/>
                  </a:lnTo>
                  <a:close/>
                </a:path>
                <a:path w="43815" h="1418589">
                  <a:moveTo>
                    <a:pt x="43205" y="327126"/>
                  </a:moveTo>
                  <a:lnTo>
                    <a:pt x="21602" y="305523"/>
                  </a:lnTo>
                  <a:lnTo>
                    <a:pt x="0" y="327126"/>
                  </a:lnTo>
                  <a:lnTo>
                    <a:pt x="21602" y="348742"/>
                  </a:lnTo>
                  <a:lnTo>
                    <a:pt x="43205" y="327126"/>
                  </a:lnTo>
                  <a:close/>
                </a:path>
                <a:path w="43815" h="1418589">
                  <a:moveTo>
                    <a:pt x="43205" y="21602"/>
                  </a:moveTo>
                  <a:lnTo>
                    <a:pt x="21602" y="0"/>
                  </a:lnTo>
                  <a:lnTo>
                    <a:pt x="0" y="21602"/>
                  </a:lnTo>
                  <a:lnTo>
                    <a:pt x="21602" y="43205"/>
                  </a:lnTo>
                  <a:lnTo>
                    <a:pt x="43205" y="216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2" name="object 82" descr="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393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10"/>
              </a:spcBef>
            </a:pPr>
            <a:r>
              <a:rPr dirty="0"/>
              <a:t>Декабрь,</a:t>
            </a:r>
            <a:r>
              <a:rPr dirty="0" spc="-5"/>
              <a:t> </a:t>
            </a:r>
            <a:r>
              <a:rPr dirty="0"/>
              <a:t>2022</a:t>
            </a:r>
            <a:r>
              <a:rPr dirty="0" spc="90"/>
              <a:t> </a:t>
            </a:r>
            <a:r>
              <a:rPr dirty="0"/>
              <a:t>—</a:t>
            </a:r>
            <a:r>
              <a:rPr dirty="0" spc="90"/>
              <a:t> </a:t>
            </a:r>
            <a:r>
              <a:rPr dirty="0"/>
              <a:t>Август,</a:t>
            </a:r>
            <a:r>
              <a:rPr dirty="0" spc="-5"/>
              <a:t> </a:t>
            </a:r>
            <a:r>
              <a:rPr dirty="0" spc="-20"/>
              <a:t>2023</a:t>
            </a:r>
          </a:p>
          <a:p>
            <a:pPr marL="12700">
              <a:lnSpc>
                <a:spcPct val="100000"/>
              </a:lnSpc>
              <a:spcBef>
                <a:spcPts val="250"/>
              </a:spcBef>
            </a:pPr>
            <a:r>
              <a:rPr dirty="0" sz="450" b="1">
                <a:latin typeface="Tahoma"/>
                <a:cs typeface="Tahoma"/>
              </a:rPr>
              <a:t>Онлайн-курс</a:t>
            </a:r>
            <a:r>
              <a:rPr dirty="0" sz="450" spc="10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«UpSkill</a:t>
            </a:r>
            <a:r>
              <a:rPr dirty="0" sz="450" spc="14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Me»</a:t>
            </a:r>
            <a:r>
              <a:rPr dirty="0" sz="450" spc="130" b="1">
                <a:latin typeface="Tahoma"/>
                <a:cs typeface="Tahoma"/>
              </a:rPr>
              <a:t> </a:t>
            </a:r>
            <a:r>
              <a:rPr dirty="0" sz="450" spc="-85" b="1">
                <a:latin typeface="Tahoma"/>
                <a:cs typeface="Tahoma"/>
              </a:rPr>
              <a:t>/</a:t>
            </a:r>
            <a:r>
              <a:rPr dirty="0" sz="450" spc="12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JS</a:t>
            </a:r>
            <a:r>
              <a:rPr dirty="0" sz="450" spc="120" b="1">
                <a:latin typeface="Tahoma"/>
                <a:cs typeface="Tahoma"/>
              </a:rPr>
              <a:t> </a:t>
            </a:r>
            <a:r>
              <a:rPr dirty="0" sz="450" spc="-85" b="1">
                <a:latin typeface="Tahoma"/>
                <a:cs typeface="Tahoma"/>
              </a:rPr>
              <a:t>/</a:t>
            </a:r>
            <a:r>
              <a:rPr dirty="0" sz="450" spc="12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Front-</a:t>
            </a:r>
            <a:r>
              <a:rPr dirty="0" sz="450" spc="-25" b="1">
                <a:latin typeface="Tahoma"/>
                <a:cs typeface="Tahoma"/>
              </a:rPr>
              <a:t>End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 spc="-40"/>
              <a:t>«RS</a:t>
            </a:r>
            <a:r>
              <a:rPr dirty="0" sz="450" spc="-30"/>
              <a:t> </a:t>
            </a:r>
            <a:r>
              <a:rPr dirty="0" sz="450" spc="-10"/>
              <a:t>School»</a:t>
            </a:r>
            <a:endParaRPr sz="450"/>
          </a:p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dirty="0"/>
              <a:t>Ноябрь,</a:t>
            </a:r>
            <a:r>
              <a:rPr dirty="0" spc="80"/>
              <a:t> </a:t>
            </a:r>
            <a:r>
              <a:rPr dirty="0" spc="-20"/>
              <a:t>2022</a:t>
            </a:r>
          </a:p>
          <a:p>
            <a:pPr marL="12700" marR="263525">
              <a:lnSpc>
                <a:spcPct val="111400"/>
              </a:lnSpc>
              <a:spcBef>
                <a:spcPts val="190"/>
              </a:spcBef>
            </a:pPr>
            <a:r>
              <a:rPr dirty="0" sz="450" b="1">
                <a:latin typeface="Tahoma"/>
                <a:cs typeface="Tahoma"/>
              </a:rPr>
              <a:t>Онлайн</a:t>
            </a:r>
            <a:r>
              <a:rPr dirty="0" sz="450" spc="19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курс</a:t>
            </a:r>
            <a:r>
              <a:rPr dirty="0" sz="450" spc="160" b="1">
                <a:latin typeface="Tahoma"/>
                <a:cs typeface="Tahoma"/>
              </a:rPr>
              <a:t> </a:t>
            </a:r>
            <a:r>
              <a:rPr dirty="0" sz="450" spc="-20" b="1">
                <a:latin typeface="Tahoma"/>
                <a:cs typeface="Tahoma"/>
              </a:rPr>
              <a:t>«IT</a:t>
            </a:r>
            <a:r>
              <a:rPr dirty="0" sz="450" spc="204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Fundamentals»</a:t>
            </a:r>
            <a:r>
              <a:rPr dirty="0" sz="450" spc="19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«Основы</a:t>
            </a:r>
            <a:r>
              <a:rPr dirty="0" sz="450" spc="21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информатики</a:t>
            </a:r>
            <a:r>
              <a:rPr dirty="0" sz="450" spc="170" b="1">
                <a:latin typeface="Tahoma"/>
                <a:cs typeface="Tahoma"/>
              </a:rPr>
              <a:t> </a:t>
            </a:r>
            <a:r>
              <a:rPr dirty="0" sz="450" spc="-85" b="1">
                <a:latin typeface="Tahoma"/>
                <a:cs typeface="Tahoma"/>
              </a:rPr>
              <a:t>/</a:t>
            </a:r>
            <a:r>
              <a:rPr dirty="0" sz="450" spc="185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Основы</a:t>
            </a:r>
            <a:r>
              <a:rPr dirty="0" sz="450" spc="50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программирования</a:t>
            </a:r>
            <a:r>
              <a:rPr dirty="0" sz="450" spc="245" b="1">
                <a:latin typeface="Tahoma"/>
                <a:cs typeface="Tahoma"/>
              </a:rPr>
              <a:t> </a:t>
            </a:r>
            <a:r>
              <a:rPr dirty="0" sz="450" spc="-85" b="1">
                <a:latin typeface="Tahoma"/>
                <a:cs typeface="Tahoma"/>
              </a:rPr>
              <a:t>/</a:t>
            </a:r>
            <a:r>
              <a:rPr dirty="0" sz="450" spc="23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Математика</a:t>
            </a:r>
            <a:r>
              <a:rPr dirty="0" sz="450" spc="27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для</a:t>
            </a:r>
            <a:r>
              <a:rPr dirty="0" sz="450" spc="250" b="1">
                <a:latin typeface="Tahoma"/>
                <a:cs typeface="Tahoma"/>
              </a:rPr>
              <a:t> </a:t>
            </a:r>
            <a:r>
              <a:rPr dirty="0" sz="450" spc="-25" b="1">
                <a:latin typeface="Tahoma"/>
                <a:cs typeface="Tahoma"/>
              </a:rPr>
              <a:t>ИТ»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/>
              <a:t>«EPAM</a:t>
            </a:r>
            <a:r>
              <a:rPr dirty="0" sz="450" spc="-35"/>
              <a:t> </a:t>
            </a:r>
            <a:r>
              <a:rPr dirty="0" sz="450"/>
              <a:t>Learn</a:t>
            </a:r>
            <a:r>
              <a:rPr dirty="0" sz="450" spc="-30"/>
              <a:t> </a:t>
            </a:r>
            <a:r>
              <a:rPr dirty="0" sz="450" spc="-10"/>
              <a:t>Platform»</a:t>
            </a:r>
            <a:endParaRPr sz="450"/>
          </a:p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dirty="0"/>
              <a:t>Март,</a:t>
            </a:r>
            <a:r>
              <a:rPr dirty="0" spc="-5"/>
              <a:t> </a:t>
            </a:r>
            <a:r>
              <a:rPr dirty="0"/>
              <a:t>2022</a:t>
            </a:r>
            <a:r>
              <a:rPr dirty="0" spc="100"/>
              <a:t> </a:t>
            </a:r>
            <a:r>
              <a:rPr dirty="0"/>
              <a:t>—</a:t>
            </a:r>
            <a:r>
              <a:rPr dirty="0" spc="95"/>
              <a:t> </a:t>
            </a:r>
            <a:r>
              <a:rPr dirty="0"/>
              <a:t>Апрель, </a:t>
            </a:r>
            <a:r>
              <a:rPr dirty="0" spc="-20"/>
              <a:t>2022</a:t>
            </a:r>
          </a:p>
          <a:p>
            <a:pPr marL="12700">
              <a:lnSpc>
                <a:spcPct val="100000"/>
              </a:lnSpc>
              <a:spcBef>
                <a:spcPts val="250"/>
              </a:spcBef>
            </a:pPr>
            <a:r>
              <a:rPr dirty="0" sz="450" b="1">
                <a:latin typeface="Tahoma"/>
                <a:cs typeface="Tahoma"/>
              </a:rPr>
              <a:t>Онлайн</a:t>
            </a:r>
            <a:r>
              <a:rPr dirty="0" sz="450" spc="125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курс</a:t>
            </a:r>
            <a:r>
              <a:rPr dirty="0" sz="450" spc="100" b="1">
                <a:latin typeface="Tahoma"/>
                <a:cs typeface="Tahoma"/>
              </a:rPr>
              <a:t> </a:t>
            </a:r>
            <a:r>
              <a:rPr dirty="0" sz="450" b="1">
                <a:latin typeface="Tahoma"/>
                <a:cs typeface="Tahoma"/>
              </a:rPr>
              <a:t>«HTML5»</a:t>
            </a:r>
            <a:r>
              <a:rPr dirty="0" sz="450" spc="125" b="1">
                <a:latin typeface="Tahoma"/>
                <a:cs typeface="Tahoma"/>
              </a:rPr>
              <a:t> </a:t>
            </a:r>
            <a:r>
              <a:rPr dirty="0" sz="450" spc="-85" b="1">
                <a:latin typeface="Tahoma"/>
                <a:cs typeface="Tahoma"/>
              </a:rPr>
              <a:t>/</a:t>
            </a:r>
            <a:r>
              <a:rPr dirty="0" sz="450" spc="120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«CSS3»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 spc="-10"/>
              <a:t>«SoloLearn»</a:t>
            </a:r>
            <a:endParaRPr sz="450"/>
          </a:p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dirty="0"/>
              <a:t>Июль,</a:t>
            </a:r>
            <a:r>
              <a:rPr dirty="0" spc="-15"/>
              <a:t> </a:t>
            </a:r>
            <a:r>
              <a:rPr dirty="0" spc="-10"/>
              <a:t>2021</a:t>
            </a:r>
            <a:r>
              <a:rPr dirty="0" spc="80"/>
              <a:t> </a:t>
            </a:r>
            <a:r>
              <a:rPr dirty="0"/>
              <a:t>—</a:t>
            </a:r>
            <a:r>
              <a:rPr dirty="0" spc="80"/>
              <a:t> </a:t>
            </a:r>
            <a:r>
              <a:rPr dirty="0"/>
              <a:t>Январь,</a:t>
            </a:r>
            <a:r>
              <a:rPr dirty="0" spc="-15"/>
              <a:t> </a:t>
            </a:r>
            <a:r>
              <a:rPr dirty="0" spc="-20"/>
              <a:t>2022</a:t>
            </a:r>
          </a:p>
          <a:p>
            <a:pPr marL="12700" marR="5080">
              <a:lnSpc>
                <a:spcPct val="111400"/>
              </a:lnSpc>
              <a:spcBef>
                <a:spcPts val="190"/>
              </a:spcBef>
            </a:pPr>
            <a:r>
              <a:rPr dirty="0" sz="450" spc="30" b="1">
                <a:latin typeface="Tahoma"/>
                <a:cs typeface="Tahoma"/>
              </a:rPr>
              <a:t>Обучающие</a:t>
            </a:r>
            <a:r>
              <a:rPr dirty="0" sz="450" spc="20" b="1">
                <a:latin typeface="Tahoma"/>
                <a:cs typeface="Tahoma"/>
              </a:rPr>
              <a:t> </a:t>
            </a:r>
            <a:r>
              <a:rPr dirty="0" sz="450" spc="30" b="1">
                <a:latin typeface="Tahoma"/>
                <a:cs typeface="Tahoma"/>
              </a:rPr>
              <a:t>курсы</a:t>
            </a:r>
            <a:r>
              <a:rPr dirty="0" sz="450" spc="45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«Базовые </a:t>
            </a:r>
            <a:r>
              <a:rPr dirty="0" sz="450" spc="30" b="1">
                <a:latin typeface="Tahoma"/>
                <a:cs typeface="Tahoma"/>
              </a:rPr>
              <a:t>знания</a:t>
            </a:r>
            <a:r>
              <a:rPr dirty="0" sz="450" spc="35" b="1">
                <a:latin typeface="Tahoma"/>
                <a:cs typeface="Tahoma"/>
              </a:rPr>
              <a:t> </a:t>
            </a:r>
            <a:r>
              <a:rPr dirty="0" sz="450" spc="30" b="1">
                <a:latin typeface="Tahoma"/>
                <a:cs typeface="Tahoma"/>
              </a:rPr>
              <a:t>программирования </a:t>
            </a:r>
            <a:r>
              <a:rPr dirty="0" sz="450" spc="50" b="1">
                <a:latin typeface="Tahoma"/>
                <a:cs typeface="Tahoma"/>
              </a:rPr>
              <a:t>и</a:t>
            </a:r>
            <a:r>
              <a:rPr dirty="0" sz="450" spc="25" b="1">
                <a:latin typeface="Tahoma"/>
                <a:cs typeface="Tahoma"/>
              </a:rPr>
              <a:t> </a:t>
            </a:r>
            <a:r>
              <a:rPr dirty="0" sz="450" spc="30" b="1">
                <a:latin typeface="Tahoma"/>
                <a:cs typeface="Tahoma"/>
              </a:rPr>
              <a:t>алгоритмов</a:t>
            </a:r>
            <a:r>
              <a:rPr dirty="0" sz="450" spc="35" b="1">
                <a:latin typeface="Tahoma"/>
                <a:cs typeface="Tahoma"/>
              </a:rPr>
              <a:t> </a:t>
            </a:r>
            <a:r>
              <a:rPr dirty="0" sz="450" spc="-50" b="1">
                <a:latin typeface="Tahoma"/>
                <a:cs typeface="Tahoma"/>
              </a:rPr>
              <a:t>с</a:t>
            </a:r>
            <a:r>
              <a:rPr dirty="0" sz="450" spc="500" b="1">
                <a:latin typeface="Tahoma"/>
                <a:cs typeface="Tahoma"/>
              </a:rPr>
              <a:t> </a:t>
            </a:r>
            <a:r>
              <a:rPr dirty="0" sz="450" spc="30" b="1">
                <a:latin typeface="Tahoma"/>
                <a:cs typeface="Tahoma"/>
              </a:rPr>
              <a:t>использованием</a:t>
            </a:r>
            <a:r>
              <a:rPr dirty="0" sz="450" spc="20" b="1">
                <a:latin typeface="Tahoma"/>
                <a:cs typeface="Tahoma"/>
              </a:rPr>
              <a:t> </a:t>
            </a:r>
            <a:r>
              <a:rPr dirty="0" sz="450" spc="30" b="1">
                <a:latin typeface="Tahoma"/>
                <a:cs typeface="Tahoma"/>
              </a:rPr>
              <a:t>языков</a:t>
            </a:r>
            <a:r>
              <a:rPr dirty="0" sz="450" spc="20" b="1">
                <a:latin typeface="Tahoma"/>
                <a:cs typeface="Tahoma"/>
              </a:rPr>
              <a:t> </a:t>
            </a:r>
            <a:r>
              <a:rPr dirty="0" sz="450" spc="50" b="1">
                <a:latin typeface="Tahoma"/>
                <a:cs typeface="Tahoma"/>
              </a:rPr>
              <a:t>C</a:t>
            </a:r>
            <a:r>
              <a:rPr dirty="0" sz="450" spc="30" b="1">
                <a:latin typeface="Tahoma"/>
                <a:cs typeface="Tahoma"/>
              </a:rPr>
              <a:t> </a:t>
            </a:r>
            <a:r>
              <a:rPr dirty="0" sz="450" spc="50" b="1">
                <a:latin typeface="Tahoma"/>
                <a:cs typeface="Tahoma"/>
              </a:rPr>
              <a:t>и</a:t>
            </a:r>
            <a:r>
              <a:rPr dirty="0" sz="450" spc="10" b="1">
                <a:latin typeface="Tahoma"/>
                <a:cs typeface="Tahoma"/>
              </a:rPr>
              <a:t> </a:t>
            </a:r>
            <a:r>
              <a:rPr dirty="0" sz="450" spc="-25" b="1">
                <a:latin typeface="Tahoma"/>
                <a:cs typeface="Tahoma"/>
              </a:rPr>
              <a:t>JS»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 spc="-50"/>
              <a:t>«IT</a:t>
            </a:r>
            <a:r>
              <a:rPr dirty="0" sz="450" spc="-10"/>
              <a:t> </a:t>
            </a:r>
            <a:r>
              <a:rPr dirty="0" sz="450" spc="-30"/>
              <a:t>Class» </a:t>
            </a:r>
            <a:r>
              <a:rPr dirty="0" sz="450" spc="-55"/>
              <a:t>/</a:t>
            </a:r>
            <a:r>
              <a:rPr dirty="0" sz="450" spc="-20"/>
              <a:t> </a:t>
            </a:r>
            <a:r>
              <a:rPr dirty="0" sz="450" spc="-10"/>
              <a:t>Гомель</a:t>
            </a:r>
            <a:endParaRPr sz="450"/>
          </a:p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dirty="0"/>
              <a:t>2006</a:t>
            </a:r>
            <a:r>
              <a:rPr dirty="0" spc="95"/>
              <a:t> </a:t>
            </a:r>
            <a:r>
              <a:rPr dirty="0"/>
              <a:t>—</a:t>
            </a:r>
            <a:r>
              <a:rPr dirty="0" spc="90"/>
              <a:t> </a:t>
            </a:r>
            <a:r>
              <a:rPr dirty="0" spc="-20"/>
              <a:t>2008</a:t>
            </a:r>
          </a:p>
          <a:p>
            <a:pPr marL="12700">
              <a:lnSpc>
                <a:spcPct val="100000"/>
              </a:lnSpc>
              <a:spcBef>
                <a:spcPts val="250"/>
              </a:spcBef>
            </a:pPr>
            <a:r>
              <a:rPr dirty="0" sz="450" spc="20" b="1">
                <a:latin typeface="Tahoma"/>
                <a:cs typeface="Tahoma"/>
              </a:rPr>
              <a:t>Обучение</a:t>
            </a:r>
            <a:r>
              <a:rPr dirty="0" sz="450" spc="105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профессии</a:t>
            </a:r>
            <a:r>
              <a:rPr dirty="0" sz="450" spc="105" b="1">
                <a:latin typeface="Tahoma"/>
                <a:cs typeface="Tahoma"/>
              </a:rPr>
              <a:t> </a:t>
            </a:r>
            <a:r>
              <a:rPr dirty="0" sz="450" spc="20" b="1">
                <a:latin typeface="Tahoma"/>
                <a:cs typeface="Tahoma"/>
              </a:rPr>
              <a:t>«Оператор</a:t>
            </a:r>
            <a:r>
              <a:rPr dirty="0" sz="450" spc="120" b="1">
                <a:latin typeface="Tahoma"/>
                <a:cs typeface="Tahoma"/>
              </a:rPr>
              <a:t> </a:t>
            </a:r>
            <a:r>
              <a:rPr dirty="0" sz="450" spc="-20" b="1">
                <a:latin typeface="Tahoma"/>
                <a:cs typeface="Tahoma"/>
              </a:rPr>
              <a:t>ЭВМ»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/>
              <a:t>УО</a:t>
            </a:r>
            <a:r>
              <a:rPr dirty="0" sz="450" spc="30"/>
              <a:t> </a:t>
            </a:r>
            <a:r>
              <a:rPr dirty="0" sz="450" spc="-10"/>
              <a:t>«Межшкольный</a:t>
            </a:r>
            <a:r>
              <a:rPr dirty="0" sz="450" spc="10"/>
              <a:t> </a:t>
            </a:r>
            <a:r>
              <a:rPr dirty="0" sz="450"/>
              <a:t>УПК</a:t>
            </a:r>
            <a:r>
              <a:rPr dirty="0" sz="450" spc="50"/>
              <a:t> </a:t>
            </a:r>
            <a:r>
              <a:rPr dirty="0" sz="450" spc="-25"/>
              <a:t>№1»</a:t>
            </a:r>
            <a:endParaRPr sz="450"/>
          </a:p>
        </p:txBody>
      </p:sp>
      <p:grpSp>
        <p:nvGrpSpPr>
          <p:cNvPr id="83" name="object 83" descr=""/>
          <p:cNvGrpSpPr/>
          <p:nvPr/>
        </p:nvGrpSpPr>
        <p:grpSpPr>
          <a:xfrm>
            <a:off x="1340777" y="5212410"/>
            <a:ext cx="43815" cy="746125"/>
            <a:chOff x="1340777" y="5212410"/>
            <a:chExt cx="43815" cy="746125"/>
          </a:xfrm>
        </p:grpSpPr>
        <p:sp>
          <p:nvSpPr>
            <p:cNvPr id="84" name="object 84" descr=""/>
            <p:cNvSpPr/>
            <p:nvPr/>
          </p:nvSpPr>
          <p:spPr>
            <a:xfrm>
              <a:off x="1360468" y="5237835"/>
              <a:ext cx="0" cy="683895"/>
            </a:xfrm>
            <a:custGeom>
              <a:avLst/>
              <a:gdLst/>
              <a:ahLst/>
              <a:cxnLst/>
              <a:rect l="l" t="t" r="r" b="b"/>
              <a:pathLst>
                <a:path w="0" h="683895">
                  <a:moveTo>
                    <a:pt x="0" y="0"/>
                  </a:moveTo>
                  <a:lnTo>
                    <a:pt x="0" y="683602"/>
                  </a:lnTo>
                </a:path>
              </a:pathLst>
            </a:custGeom>
            <a:ln w="3822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5" name="object 85" descr=""/>
            <p:cNvSpPr/>
            <p:nvPr/>
          </p:nvSpPr>
          <p:spPr>
            <a:xfrm>
              <a:off x="1340777" y="5212422"/>
              <a:ext cx="43815" cy="746125"/>
            </a:xfrm>
            <a:custGeom>
              <a:avLst/>
              <a:gdLst/>
              <a:ahLst/>
              <a:cxnLst/>
              <a:rect l="l" t="t" r="r" b="b"/>
              <a:pathLst>
                <a:path w="43815" h="746125">
                  <a:moveTo>
                    <a:pt x="43205" y="724293"/>
                  </a:moveTo>
                  <a:lnTo>
                    <a:pt x="21602" y="702691"/>
                  </a:lnTo>
                  <a:lnTo>
                    <a:pt x="0" y="724293"/>
                  </a:lnTo>
                  <a:lnTo>
                    <a:pt x="21602" y="745909"/>
                  </a:lnTo>
                  <a:lnTo>
                    <a:pt x="43205" y="724293"/>
                  </a:lnTo>
                  <a:close/>
                </a:path>
                <a:path w="43815" h="746125">
                  <a:moveTo>
                    <a:pt x="43205" y="327113"/>
                  </a:moveTo>
                  <a:lnTo>
                    <a:pt x="21602" y="305511"/>
                  </a:lnTo>
                  <a:lnTo>
                    <a:pt x="0" y="327113"/>
                  </a:lnTo>
                  <a:lnTo>
                    <a:pt x="21602" y="348716"/>
                  </a:lnTo>
                  <a:lnTo>
                    <a:pt x="43205" y="327113"/>
                  </a:lnTo>
                  <a:close/>
                </a:path>
                <a:path w="43815" h="746125">
                  <a:moveTo>
                    <a:pt x="43205" y="21590"/>
                  </a:moveTo>
                  <a:lnTo>
                    <a:pt x="21602" y="0"/>
                  </a:lnTo>
                  <a:lnTo>
                    <a:pt x="0" y="21590"/>
                  </a:lnTo>
                  <a:lnTo>
                    <a:pt x="21602" y="43192"/>
                  </a:lnTo>
                  <a:lnTo>
                    <a:pt x="43205" y="215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6" name="object 86" descr=""/>
          <p:cNvSpPr txBox="1"/>
          <p:nvPr/>
        </p:nvSpPr>
        <p:spPr>
          <a:xfrm>
            <a:off x="1422247" y="5166694"/>
            <a:ext cx="2419985" cy="1000760"/>
          </a:xfrm>
          <a:prstGeom prst="rect">
            <a:avLst/>
          </a:prstGeom>
        </p:spPr>
        <p:txBody>
          <a:bodyPr wrap="square" lIns="0" tIns="393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10"/>
              </a:spcBef>
            </a:pPr>
            <a:r>
              <a:rPr dirty="0" sz="400" spc="-10">
                <a:latin typeface="Verdana"/>
                <a:cs typeface="Verdana"/>
              </a:rPr>
              <a:t>2018</a:t>
            </a:r>
            <a:r>
              <a:rPr dirty="0" sz="400" spc="50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—</a:t>
            </a:r>
            <a:r>
              <a:rPr dirty="0" sz="400" spc="55">
                <a:latin typeface="Verdana"/>
                <a:cs typeface="Verdana"/>
              </a:rPr>
              <a:t> </a:t>
            </a:r>
            <a:r>
              <a:rPr dirty="0" sz="400" spc="-20">
                <a:latin typeface="Verdana"/>
                <a:cs typeface="Verdana"/>
              </a:rPr>
              <a:t>2022</a:t>
            </a:r>
            <a:endParaRPr sz="4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250"/>
              </a:spcBef>
            </a:pPr>
            <a:r>
              <a:rPr dirty="0" sz="450" spc="10" b="1">
                <a:latin typeface="Tahoma"/>
                <a:cs typeface="Tahoma"/>
              </a:rPr>
              <a:t>Главный</a:t>
            </a:r>
            <a:r>
              <a:rPr dirty="0" sz="450" spc="100" b="1">
                <a:latin typeface="Tahoma"/>
                <a:cs typeface="Tahoma"/>
              </a:rPr>
              <a:t> </a:t>
            </a:r>
            <a:r>
              <a:rPr dirty="0" sz="450" spc="-10" b="1">
                <a:latin typeface="Tahoma"/>
                <a:cs typeface="Tahoma"/>
              </a:rPr>
              <a:t>инженер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>
                <a:latin typeface="Verdana"/>
                <a:cs typeface="Verdana"/>
              </a:rPr>
              <a:t>ООО</a:t>
            </a:r>
            <a:r>
              <a:rPr dirty="0" sz="450" spc="1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«Промподготовка»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Гомель</a:t>
            </a: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475"/>
              </a:spcBef>
            </a:pPr>
            <a:r>
              <a:rPr dirty="0" sz="400" spc="-20">
                <a:latin typeface="Verdana"/>
                <a:cs typeface="Verdana"/>
              </a:rPr>
              <a:t>2015</a:t>
            </a:r>
            <a:r>
              <a:rPr dirty="0" sz="400" spc="55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—</a:t>
            </a:r>
            <a:r>
              <a:rPr dirty="0" sz="400" spc="60">
                <a:latin typeface="Verdana"/>
                <a:cs typeface="Verdana"/>
              </a:rPr>
              <a:t> </a:t>
            </a:r>
            <a:r>
              <a:rPr dirty="0" sz="400" spc="-20">
                <a:latin typeface="Verdana"/>
                <a:cs typeface="Verdana"/>
              </a:rPr>
              <a:t>2018</a:t>
            </a:r>
            <a:endParaRPr sz="4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250"/>
              </a:spcBef>
            </a:pPr>
            <a:r>
              <a:rPr dirty="0" sz="450" spc="-10" b="1">
                <a:latin typeface="Tahoma"/>
                <a:cs typeface="Tahoma"/>
              </a:rPr>
              <a:t>Преподаватель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450">
                <a:latin typeface="Verdana"/>
                <a:cs typeface="Verdana"/>
              </a:rPr>
              <a:t>ЧУО</a:t>
            </a:r>
            <a:r>
              <a:rPr dirty="0" sz="450" spc="2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«Центр</a:t>
            </a:r>
            <a:r>
              <a:rPr dirty="0" sz="450">
                <a:latin typeface="Verdana"/>
                <a:cs typeface="Verdana"/>
              </a:rPr>
              <a:t> подготовки,</a:t>
            </a:r>
            <a:r>
              <a:rPr dirty="0" sz="450" spc="1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повышения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квалификации и переподготовки </a:t>
            </a:r>
            <a:r>
              <a:rPr dirty="0" sz="450" spc="-10">
                <a:latin typeface="Verdana"/>
                <a:cs typeface="Verdana"/>
              </a:rPr>
              <a:t>рабочих</a:t>
            </a: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dirty="0" sz="450">
                <a:latin typeface="Verdana"/>
                <a:cs typeface="Verdana"/>
              </a:rPr>
              <a:t>«Промподготовка–Образование»</a:t>
            </a:r>
            <a:r>
              <a:rPr dirty="0" sz="450" spc="-5">
                <a:latin typeface="Verdana"/>
                <a:cs typeface="Verdana"/>
              </a:rPr>
              <a:t>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 spc="1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Гомель</a:t>
            </a:r>
            <a:endParaRPr sz="4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470"/>
              </a:spcBef>
            </a:pPr>
            <a:r>
              <a:rPr dirty="0" sz="400" spc="-20">
                <a:latin typeface="Verdana"/>
                <a:cs typeface="Verdana"/>
              </a:rPr>
              <a:t>2013</a:t>
            </a:r>
            <a:r>
              <a:rPr dirty="0" sz="400" spc="55">
                <a:latin typeface="Verdana"/>
                <a:cs typeface="Verdana"/>
              </a:rPr>
              <a:t> </a:t>
            </a:r>
            <a:r>
              <a:rPr dirty="0" sz="400">
                <a:latin typeface="Verdana"/>
                <a:cs typeface="Verdana"/>
              </a:rPr>
              <a:t>—</a:t>
            </a:r>
            <a:r>
              <a:rPr dirty="0" sz="400" spc="60">
                <a:latin typeface="Verdana"/>
                <a:cs typeface="Verdana"/>
              </a:rPr>
              <a:t> </a:t>
            </a:r>
            <a:r>
              <a:rPr dirty="0" sz="400" spc="-20">
                <a:latin typeface="Verdana"/>
                <a:cs typeface="Verdana"/>
              </a:rPr>
              <a:t>2015</a:t>
            </a:r>
            <a:endParaRPr sz="4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254"/>
              </a:spcBef>
            </a:pPr>
            <a:r>
              <a:rPr dirty="0" sz="450" b="1">
                <a:latin typeface="Tahoma"/>
                <a:cs typeface="Tahoma"/>
              </a:rPr>
              <a:t>Инженер-</a:t>
            </a:r>
            <a:r>
              <a:rPr dirty="0" sz="450" spc="-10" b="1">
                <a:latin typeface="Tahoma"/>
                <a:cs typeface="Tahoma"/>
              </a:rPr>
              <a:t>технолог</a:t>
            </a:r>
            <a:endParaRPr sz="4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50">
                <a:latin typeface="Verdana"/>
                <a:cs typeface="Verdana"/>
              </a:rPr>
              <a:t>ОАО</a:t>
            </a:r>
            <a:r>
              <a:rPr dirty="0" sz="450" spc="5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«Гомельский литейных</a:t>
            </a:r>
            <a:r>
              <a:rPr dirty="0" sz="450" spc="1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завод</a:t>
            </a:r>
            <a:r>
              <a:rPr dirty="0" sz="450" spc="10">
                <a:latin typeface="Verdana"/>
                <a:cs typeface="Verdana"/>
              </a:rPr>
              <a:t> </a:t>
            </a:r>
            <a:r>
              <a:rPr dirty="0" sz="450">
                <a:latin typeface="Verdana"/>
                <a:cs typeface="Verdana"/>
              </a:rPr>
              <a:t>«ЦЕНТРОЛИТ» </a:t>
            </a:r>
            <a:r>
              <a:rPr dirty="0" sz="450" spc="-55">
                <a:latin typeface="Verdana"/>
                <a:cs typeface="Verdana"/>
              </a:rPr>
              <a:t>/</a:t>
            </a:r>
            <a:r>
              <a:rPr dirty="0" sz="450">
                <a:latin typeface="Verdana"/>
                <a:cs typeface="Verdana"/>
              </a:rPr>
              <a:t> </a:t>
            </a:r>
            <a:r>
              <a:rPr dirty="0" sz="450" spc="-10">
                <a:latin typeface="Verdana"/>
                <a:cs typeface="Verdana"/>
              </a:rPr>
              <a:t>Гомель</a:t>
            </a:r>
            <a:endParaRPr sz="450">
              <a:latin typeface="Verdana"/>
              <a:cs typeface="Verdana"/>
            </a:endParaRPr>
          </a:p>
        </p:txBody>
      </p:sp>
      <p:sp>
        <p:nvSpPr>
          <p:cNvPr id="87" name="object 87" descr=""/>
          <p:cNvSpPr/>
          <p:nvPr/>
        </p:nvSpPr>
        <p:spPr>
          <a:xfrm>
            <a:off x="3762375" y="258965"/>
            <a:ext cx="328295" cy="173990"/>
          </a:xfrm>
          <a:custGeom>
            <a:avLst/>
            <a:gdLst/>
            <a:ahLst/>
            <a:cxnLst/>
            <a:rect l="l" t="t" r="r" b="b"/>
            <a:pathLst>
              <a:path w="328295" h="173990">
                <a:moveTo>
                  <a:pt x="327723" y="0"/>
                </a:moveTo>
                <a:lnTo>
                  <a:pt x="0" y="0"/>
                </a:lnTo>
                <a:lnTo>
                  <a:pt x="0" y="173532"/>
                </a:lnTo>
                <a:lnTo>
                  <a:pt x="327723" y="173532"/>
                </a:lnTo>
                <a:lnTo>
                  <a:pt x="327723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2024-07-03T15:27:55Z</dcterms:created>
  <dcterms:modified xsi:type="dcterms:W3CDTF">2024-07-03T15:27:55Z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2024-07-03T00:00:00Z</vt:filetime>
  </property>
  <property fmtid="{D5CDD505-2E9C-101B-9397-08002B2CF9AE}" pid="3" name="Creator">
    <vt:lpwstr>ABBYY FineReader PDF</vt:lpwstr>
  </property>
  <property fmtid="{D5CDD505-2E9C-101B-9397-08002B2CF9AE}" pid="4" name="LastSaved">
    <vt:filetime>2024-07-03T00:00:00Z</vt:filetime>
  </property>
  <property fmtid="{D5CDD505-2E9C-101B-9397-08002B2CF9AE}" pid="5" name="Producer">
    <vt:lpwstr>ABBYY FineReader PDF</vt:lpwstr>
  </property>
</Properties>
</file>