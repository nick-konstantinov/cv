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</p:sldIdLst>
  <p:sldSz cx="7556500" cy="10693400"/>
  <p:notesSz cx="7556500" cy="106934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12952" y="1039621"/>
            <a:ext cx="6428105" cy="9525"/>
          </a:xfrm>
          <a:custGeom>
            <a:avLst/>
            <a:gdLst/>
            <a:ahLst/>
            <a:cxnLst/>
            <a:rect l="l" t="t" r="r" b="b"/>
            <a:pathLst>
              <a:path w="6428105" h="9525">
                <a:moveTo>
                  <a:pt x="6427597" y="0"/>
                </a:moveTo>
                <a:lnTo>
                  <a:pt x="0" y="0"/>
                </a:lnTo>
                <a:lnTo>
                  <a:pt x="0" y="9144"/>
                </a:lnTo>
                <a:lnTo>
                  <a:pt x="6427597" y="9144"/>
                </a:lnTo>
                <a:lnTo>
                  <a:pt x="642759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t.me/nick_konstantinov" TargetMode="External"/><Relationship Id="rId3" Type="http://schemas.openxmlformats.org/officeDocument/2006/relationships/hyperlink" Target="mailto:nick.konstantinov.job@gmail.com" TargetMode="External"/><Relationship Id="rId4" Type="http://schemas.openxmlformats.org/officeDocument/2006/relationships/hyperlink" Target="http://www.linkedin.com/in/mikita-kanstantsinau-81b656262" TargetMode="External"/><Relationship Id="rId5" Type="http://schemas.openxmlformats.org/officeDocument/2006/relationships/hyperlink" Target="https://github.com/nick-konstantinov" TargetMode="External"/><Relationship Id="rId6" Type="http://schemas.openxmlformats.org/officeDocument/2006/relationships/hyperlink" Target="https://cctv-montaj.ru/" TargetMode="Externa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t.me/nick_konstantinov" TargetMode="External"/><Relationship Id="rId3" Type="http://schemas.openxmlformats.org/officeDocument/2006/relationships/hyperlink" Target="mailto:nick.konstantinov.job@gmail.com" TargetMode="External"/><Relationship Id="rId4" Type="http://schemas.openxmlformats.org/officeDocument/2006/relationships/hyperlink" Target="http://www.linkedin.com/in/mikita-kanstantsinau-81b656262" TargetMode="External"/><Relationship Id="rId5" Type="http://schemas.openxmlformats.org/officeDocument/2006/relationships/hyperlink" Target="https://github.com/nick-konstantinov" TargetMode="External"/><Relationship Id="rId6" Type="http://schemas.openxmlformats.org/officeDocument/2006/relationships/hyperlink" Target="https://cctv-montaj.ru/" TargetMode="Externa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"/>
          <p:cNvSpPr txBox="1"/>
          <p:nvPr/>
        </p:nvSpPr>
        <p:spPr>
          <a:xfrm>
            <a:off x="618540" y="331977"/>
            <a:ext cx="6418580" cy="31464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ts val="2110"/>
              </a:lnSpc>
              <a:spcBef>
                <a:spcPts val="100"/>
              </a:spcBef>
            </a:pPr>
            <a:r>
              <a:rPr dirty="0" sz="1800" b="1">
                <a:latin typeface="Times New Roman"/>
                <a:cs typeface="Times New Roman"/>
              </a:rPr>
              <a:t>Никита</a:t>
            </a:r>
            <a:r>
              <a:rPr dirty="0" sz="1800" spc="-85" b="1">
                <a:latin typeface="Times New Roman"/>
                <a:cs typeface="Times New Roman"/>
              </a:rPr>
              <a:t> </a:t>
            </a:r>
            <a:r>
              <a:rPr dirty="0" sz="1800" spc="-10" b="1">
                <a:latin typeface="Times New Roman"/>
                <a:cs typeface="Times New Roman"/>
              </a:rPr>
              <a:t>Константинов</a:t>
            </a:r>
            <a:endParaRPr sz="1800">
              <a:latin typeface="Times New Roman"/>
              <a:cs typeface="Times New Roman"/>
            </a:endParaRPr>
          </a:p>
          <a:p>
            <a:pPr marL="12700">
              <a:lnSpc>
                <a:spcPts val="1390"/>
              </a:lnSpc>
            </a:pPr>
            <a:r>
              <a:rPr dirty="0" sz="1200">
                <a:latin typeface="Times New Roman"/>
                <a:cs typeface="Times New Roman"/>
              </a:rPr>
              <a:t>Angular</a:t>
            </a:r>
            <a:r>
              <a:rPr dirty="0" sz="1200" spc="-30">
                <a:latin typeface="Times New Roman"/>
                <a:cs typeface="Times New Roman"/>
              </a:rPr>
              <a:t> </a:t>
            </a:r>
            <a:r>
              <a:rPr dirty="0" sz="1200">
                <a:latin typeface="Times New Roman"/>
                <a:cs typeface="Times New Roman"/>
              </a:rPr>
              <a:t>Frontend</a:t>
            </a:r>
            <a:r>
              <a:rPr dirty="0" sz="1200" spc="-35">
                <a:latin typeface="Times New Roman"/>
                <a:cs typeface="Times New Roman"/>
              </a:rPr>
              <a:t> </a:t>
            </a:r>
            <a:r>
              <a:rPr dirty="0" sz="1200" spc="-10">
                <a:latin typeface="Times New Roman"/>
                <a:cs typeface="Times New Roman"/>
              </a:rPr>
              <a:t>разработчик</a:t>
            </a:r>
            <a:endParaRPr sz="1200">
              <a:latin typeface="Times New Roman"/>
              <a:cs typeface="Times New Roman"/>
            </a:endParaRPr>
          </a:p>
          <a:p>
            <a:pPr algn="just" marL="12700">
              <a:lnSpc>
                <a:spcPct val="100000"/>
              </a:lnSpc>
              <a:spcBef>
                <a:spcPts val="680"/>
              </a:spcBef>
            </a:pPr>
            <a:r>
              <a:rPr dirty="0" sz="950">
                <a:latin typeface="Times New Roman"/>
                <a:cs typeface="Times New Roman"/>
              </a:rPr>
              <a:t>Батуми,</a:t>
            </a:r>
            <a:r>
              <a:rPr dirty="0" sz="950" spc="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Грузия</a:t>
            </a:r>
            <a:r>
              <a:rPr dirty="0" sz="950" spc="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|</a:t>
            </a:r>
            <a:r>
              <a:rPr dirty="0" sz="950" spc="10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+</a:t>
            </a:r>
            <a:r>
              <a:rPr dirty="0" sz="950" spc="20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995</a:t>
            </a:r>
            <a:r>
              <a:rPr dirty="0" sz="950" spc="10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591</a:t>
            </a:r>
            <a:r>
              <a:rPr dirty="0" sz="950" spc="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94</a:t>
            </a:r>
            <a:r>
              <a:rPr dirty="0" sz="950" spc="10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89</a:t>
            </a:r>
            <a:r>
              <a:rPr dirty="0" sz="950" spc="10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92</a:t>
            </a:r>
            <a:r>
              <a:rPr dirty="0" sz="950" spc="1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|</a:t>
            </a:r>
            <a:r>
              <a:rPr dirty="0" sz="950" spc="10">
                <a:latin typeface="Times New Roman"/>
                <a:cs typeface="Times New Roman"/>
              </a:rPr>
              <a:t> </a:t>
            </a:r>
            <a:r>
              <a:rPr dirty="0" u="sng" sz="950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2"/>
              </a:rPr>
              <a:t>Telegram</a:t>
            </a:r>
            <a:r>
              <a:rPr dirty="0" u="sng" sz="950" spc="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|</a:t>
            </a:r>
            <a:r>
              <a:rPr dirty="0" sz="950" spc="5">
                <a:latin typeface="Times New Roman"/>
                <a:cs typeface="Times New Roman"/>
              </a:rPr>
              <a:t> </a:t>
            </a:r>
            <a:r>
              <a:rPr dirty="0" u="sng" sz="950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3"/>
              </a:rPr>
              <a:t>nick.konstantinov.job@gmail.com</a:t>
            </a:r>
            <a:r>
              <a:rPr dirty="0" sz="950" spc="5">
                <a:solidFill>
                  <a:srgbClr val="0462C1"/>
                </a:solidFill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|</a:t>
            </a:r>
            <a:r>
              <a:rPr dirty="0" sz="950" spc="10">
                <a:latin typeface="Times New Roman"/>
                <a:cs typeface="Times New Roman"/>
              </a:rPr>
              <a:t> </a:t>
            </a:r>
            <a:r>
              <a:rPr dirty="0" u="sng" sz="95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4"/>
              </a:rPr>
              <a:t>LinkedIn</a:t>
            </a:r>
            <a:r>
              <a:rPr dirty="0" u="sng" sz="950" spc="15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|</a:t>
            </a:r>
            <a:r>
              <a:rPr dirty="0" sz="950" spc="35">
                <a:latin typeface="Times New Roman"/>
                <a:cs typeface="Times New Roman"/>
              </a:rPr>
              <a:t> </a:t>
            </a:r>
            <a:r>
              <a:rPr dirty="0" u="sng" sz="950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5"/>
              </a:rPr>
              <a:t>GitHub</a:t>
            </a:r>
            <a:endParaRPr sz="9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715"/>
              </a:spcBef>
            </a:pPr>
            <a:r>
              <a:rPr dirty="0" sz="1400" spc="-10" b="1">
                <a:latin typeface="Times New Roman"/>
                <a:cs typeface="Times New Roman"/>
              </a:rPr>
              <a:t>ПРОФИЛЬ</a:t>
            </a:r>
            <a:endParaRPr sz="1400">
              <a:latin typeface="Times New Roman"/>
              <a:cs typeface="Times New Roman"/>
            </a:endParaRPr>
          </a:p>
          <a:p>
            <a:pPr algn="just" marL="12700" marR="8255">
              <a:lnSpc>
                <a:spcPct val="96500"/>
              </a:lnSpc>
              <a:spcBef>
                <a:spcPts val="300"/>
              </a:spcBef>
            </a:pPr>
            <a:r>
              <a:rPr dirty="0" sz="1100" spc="-10">
                <a:latin typeface="Times New Roman"/>
                <a:cs typeface="Times New Roman"/>
              </a:rPr>
              <a:t>Angular-</a:t>
            </a:r>
            <a:r>
              <a:rPr dirty="0" sz="1100">
                <a:latin typeface="Times New Roman"/>
                <a:cs typeface="Times New Roman"/>
              </a:rPr>
              <a:t>разработчик</a:t>
            </a:r>
            <a:r>
              <a:rPr dirty="0" sz="1100" spc="30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с</a:t>
            </a:r>
            <a:r>
              <a:rPr dirty="0" sz="1100" spc="3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опытом</a:t>
            </a:r>
            <a:r>
              <a:rPr dirty="0" sz="1100" spc="3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создания</a:t>
            </a:r>
            <a:r>
              <a:rPr dirty="0" sz="1100" spc="3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интерфейсов,</a:t>
            </a:r>
            <a:r>
              <a:rPr dirty="0" sz="1100" spc="3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админ-панелей</a:t>
            </a:r>
            <a:r>
              <a:rPr dirty="0" sz="1100" spc="3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и</a:t>
            </a:r>
            <a:r>
              <a:rPr dirty="0" sz="1100" spc="3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кастомизации</a:t>
            </a:r>
            <a:r>
              <a:rPr dirty="0" sz="1100" spc="300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веб-платформ. </a:t>
            </a:r>
            <a:r>
              <a:rPr dirty="0" sz="1100">
                <a:latin typeface="Times New Roman"/>
                <a:cs typeface="Times New Roman"/>
              </a:rPr>
              <a:t>Участвую</a:t>
            </a:r>
            <a:r>
              <a:rPr dirty="0" sz="1100" spc="17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в</a:t>
            </a:r>
            <a:r>
              <a:rPr dirty="0" sz="1100" spc="204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планировании,</a:t>
            </a:r>
            <a:r>
              <a:rPr dirty="0" sz="1100" spc="18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проработке</a:t>
            </a:r>
            <a:r>
              <a:rPr dirty="0" sz="1100" spc="15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требований</a:t>
            </a:r>
            <a:r>
              <a:rPr dirty="0" sz="1100" spc="2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и</a:t>
            </a:r>
            <a:r>
              <a:rPr dirty="0" sz="1100" spc="17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взаимодействии</a:t>
            </a:r>
            <a:r>
              <a:rPr dirty="0" sz="1100" spc="19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между</a:t>
            </a:r>
            <a:r>
              <a:rPr dirty="0" sz="1100" spc="17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командами.</a:t>
            </a:r>
            <a:r>
              <a:rPr dirty="0" sz="1100" spc="19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Представляю </a:t>
            </a:r>
            <a:r>
              <a:rPr dirty="0" sz="1100">
                <a:latin typeface="Times New Roman"/>
                <a:cs typeface="Times New Roman"/>
              </a:rPr>
              <a:t>фронтенд</a:t>
            </a:r>
            <a:r>
              <a:rPr dirty="0" sz="1100" spc="-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на</a:t>
            </a:r>
            <a:r>
              <a:rPr dirty="0" sz="1100" spc="-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дейликах,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участвую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в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релизах</a:t>
            </a:r>
            <a:r>
              <a:rPr dirty="0" sz="1100" spc="-4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и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код-ревью.</a:t>
            </a: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40"/>
              </a:spcBef>
            </a:pPr>
            <a:r>
              <a:rPr dirty="0" sz="1400" b="1">
                <a:latin typeface="Times New Roman"/>
                <a:cs typeface="Times New Roman"/>
              </a:rPr>
              <a:t>КЛЮЧЕВЫЕ</a:t>
            </a:r>
            <a:r>
              <a:rPr dirty="0" sz="1400" spc="-85" b="1">
                <a:latin typeface="Times New Roman"/>
                <a:cs typeface="Times New Roman"/>
              </a:rPr>
              <a:t> </a:t>
            </a:r>
            <a:r>
              <a:rPr dirty="0" sz="1400" spc="-10" b="1">
                <a:latin typeface="Times New Roman"/>
                <a:cs typeface="Times New Roman"/>
              </a:rPr>
              <a:t>ДОСТИЖЕНИЯ</a:t>
            </a:r>
            <a:endParaRPr sz="14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320"/>
              </a:spcBef>
              <a:buFont typeface="Symbol"/>
              <a:buChar char=""/>
              <a:tabLst>
                <a:tab pos="469265" algn="l"/>
              </a:tabLst>
            </a:pPr>
            <a:r>
              <a:rPr dirty="0" sz="1100">
                <a:latin typeface="Times New Roman"/>
                <a:cs typeface="Times New Roman"/>
              </a:rPr>
              <a:t>Реализовал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40+</a:t>
            </a:r>
            <a:r>
              <a:rPr dirty="0" sz="1100" spc="-4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фич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(профили,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чаты,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мероприятия,</a:t>
            </a:r>
            <a:r>
              <a:rPr dirty="0" sz="1100" spc="-4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биллинг,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админки).</a:t>
            </a:r>
            <a:endParaRPr sz="11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25"/>
              </a:spcBef>
              <a:buFont typeface="Symbol"/>
              <a:buChar char=""/>
              <a:tabLst>
                <a:tab pos="469265" algn="l"/>
              </a:tabLst>
            </a:pPr>
            <a:r>
              <a:rPr dirty="0" sz="1100">
                <a:latin typeface="Times New Roman"/>
                <a:cs typeface="Times New Roman"/>
              </a:rPr>
              <a:t>Исправил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80+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багов,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значительно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улучшив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стабильность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платформы.</a:t>
            </a:r>
            <a:endParaRPr sz="11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25"/>
              </a:spcBef>
              <a:buFont typeface="Symbol"/>
              <a:buChar char=""/>
              <a:tabLst>
                <a:tab pos="469265" algn="l"/>
              </a:tabLst>
            </a:pPr>
            <a:r>
              <a:rPr dirty="0" sz="1100">
                <a:latin typeface="Times New Roman"/>
                <a:cs typeface="Times New Roman"/>
              </a:rPr>
              <a:t>Выполнил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9</a:t>
            </a:r>
            <a:r>
              <a:rPr dirty="0" sz="1100" spc="-4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кастомизаций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веб-</a:t>
            </a:r>
            <a:r>
              <a:rPr dirty="0" sz="1100">
                <a:latin typeface="Times New Roman"/>
                <a:cs typeface="Times New Roman"/>
              </a:rPr>
              <a:t>приложений</a:t>
            </a:r>
            <a:r>
              <a:rPr dirty="0" sz="1100" spc="-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под</a:t>
            </a:r>
            <a:r>
              <a:rPr dirty="0" sz="1100" spc="-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брендинг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разных</a:t>
            </a:r>
            <a:r>
              <a:rPr dirty="0" sz="1100" spc="-40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клиентов.</a:t>
            </a:r>
            <a:endParaRPr sz="11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25"/>
              </a:spcBef>
              <a:buFont typeface="Symbol"/>
              <a:buChar char=""/>
              <a:tabLst>
                <a:tab pos="469265" algn="l"/>
              </a:tabLst>
            </a:pPr>
            <a:r>
              <a:rPr dirty="0" sz="1100">
                <a:latin typeface="Times New Roman"/>
                <a:cs typeface="Times New Roman"/>
              </a:rPr>
              <a:t>Оптимизировал</a:t>
            </a:r>
            <a:r>
              <a:rPr dirty="0" sz="1100" spc="-5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загрузку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модулей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за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счёт</a:t>
            </a:r>
            <a:r>
              <a:rPr dirty="0" sz="1100" spc="-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lazy-loading</a:t>
            </a:r>
            <a:r>
              <a:rPr dirty="0" sz="1100" spc="-4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(ускорение</a:t>
            </a:r>
            <a:r>
              <a:rPr dirty="0" sz="1100" spc="-4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более</a:t>
            </a:r>
            <a:r>
              <a:rPr dirty="0" sz="1100" spc="-50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20%).</a:t>
            </a:r>
            <a:endParaRPr sz="1100">
              <a:latin typeface="Times New Roman"/>
              <a:cs typeface="Times New Roman"/>
            </a:endParaRPr>
          </a:p>
          <a:p>
            <a:pPr marL="469265" marR="5080" indent="-228600">
              <a:lnSpc>
                <a:spcPts val="1270"/>
              </a:lnSpc>
              <a:spcBef>
                <a:spcPts val="110"/>
              </a:spcBef>
              <a:buFont typeface="Symbol"/>
              <a:buChar char=""/>
              <a:tabLst>
                <a:tab pos="469265" algn="l"/>
              </a:tabLst>
            </a:pPr>
            <a:r>
              <a:rPr dirty="0" sz="1100">
                <a:latin typeface="Times New Roman"/>
                <a:cs typeface="Times New Roman"/>
              </a:rPr>
              <a:t>Участвовал</a:t>
            </a:r>
            <a:r>
              <a:rPr dirty="0" sz="1100" spc="38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в</a:t>
            </a:r>
            <a:r>
              <a:rPr dirty="0" sz="1100" spc="39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миграции</a:t>
            </a:r>
            <a:r>
              <a:rPr dirty="0" sz="1100" spc="38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фронтенда</a:t>
            </a:r>
            <a:r>
              <a:rPr dirty="0" sz="1100" spc="4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в</a:t>
            </a:r>
            <a:r>
              <a:rPr dirty="0" sz="1100" spc="409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монорепозиторий</a:t>
            </a:r>
            <a:r>
              <a:rPr dirty="0" sz="1100" spc="45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-</a:t>
            </a:r>
            <a:r>
              <a:rPr dirty="0" sz="1100" spc="39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сокращение</a:t>
            </a:r>
            <a:r>
              <a:rPr dirty="0" sz="1100" spc="37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дублирования</a:t>
            </a:r>
            <a:r>
              <a:rPr dirty="0" sz="1100" spc="37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кода</a:t>
            </a:r>
            <a:r>
              <a:rPr dirty="0" sz="1100" spc="440">
                <a:latin typeface="Times New Roman"/>
                <a:cs typeface="Times New Roman"/>
              </a:rPr>
              <a:t> </a:t>
            </a:r>
            <a:r>
              <a:rPr dirty="0" sz="1100" spc="-50">
                <a:latin typeface="Times New Roman"/>
                <a:cs typeface="Times New Roman"/>
              </a:rPr>
              <a:t>и </a:t>
            </a:r>
            <a:r>
              <a:rPr dirty="0" sz="1100">
                <a:latin typeface="Times New Roman"/>
                <a:cs typeface="Times New Roman"/>
              </a:rPr>
              <a:t>ускорение</a:t>
            </a:r>
            <a:r>
              <a:rPr dirty="0" sz="1100" spc="-4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интеграции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на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30-</a:t>
            </a:r>
            <a:r>
              <a:rPr dirty="0" sz="1100" spc="-20">
                <a:latin typeface="Times New Roman"/>
                <a:cs typeface="Times New Roman"/>
              </a:rPr>
              <a:t>40%.</a:t>
            </a: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dirty="0" sz="1400" b="1">
                <a:latin typeface="Times New Roman"/>
                <a:cs typeface="Times New Roman"/>
              </a:rPr>
              <a:t>ОПЫТ</a:t>
            </a:r>
            <a:r>
              <a:rPr dirty="0" sz="1400" spc="-25" b="1">
                <a:latin typeface="Times New Roman"/>
                <a:cs typeface="Times New Roman"/>
              </a:rPr>
              <a:t> </a:t>
            </a:r>
            <a:r>
              <a:rPr dirty="0" sz="1400" b="1">
                <a:latin typeface="Times New Roman"/>
                <a:cs typeface="Times New Roman"/>
              </a:rPr>
              <a:t>РАБОТЫ</a:t>
            </a:r>
            <a:r>
              <a:rPr dirty="0" sz="1400" spc="-20" b="1">
                <a:latin typeface="Times New Roman"/>
                <a:cs typeface="Times New Roman"/>
              </a:rPr>
              <a:t> </a:t>
            </a:r>
            <a:r>
              <a:rPr dirty="0" sz="1200">
                <a:latin typeface="Times New Roman"/>
                <a:cs typeface="Times New Roman"/>
              </a:rPr>
              <a:t>(2+</a:t>
            </a:r>
            <a:r>
              <a:rPr dirty="0" sz="1200" spc="-30">
                <a:latin typeface="Times New Roman"/>
                <a:cs typeface="Times New Roman"/>
              </a:rPr>
              <a:t> </a:t>
            </a:r>
            <a:r>
              <a:rPr dirty="0" sz="1200" spc="-20">
                <a:latin typeface="Times New Roman"/>
                <a:cs typeface="Times New Roman"/>
              </a:rPr>
              <a:t>года)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3" name="object 3" descr=""/>
          <p:cNvGraphicFramePr>
            <a:graphicFrameLocks noGrp="1"/>
          </p:cNvGraphicFramePr>
          <p:nvPr/>
        </p:nvGraphicFramePr>
        <p:xfrm>
          <a:off x="575106" y="3516587"/>
          <a:ext cx="6579234" cy="4265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7080"/>
                <a:gridCol w="1925954"/>
              </a:tblGrid>
              <a:tr h="200660">
                <a:tc>
                  <a:txBody>
                    <a:bodyPr/>
                    <a:lstStyle/>
                    <a:p>
                      <a:pPr marL="31750">
                        <a:lnSpc>
                          <a:spcPts val="1310"/>
                        </a:lnSpc>
                      </a:pP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CommunityTech</a:t>
                      </a:r>
                      <a:r>
                        <a:rPr dirty="0" u="sng" sz="1200" spc="-2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Group –</a:t>
                      </a:r>
                      <a:r>
                        <a:rPr dirty="0" u="sng" sz="1200" spc="-4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Middle</a:t>
                      </a:r>
                      <a:r>
                        <a:rPr dirty="0" u="sng" sz="1200" spc="-2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spc="-1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Front-</a:t>
                      </a: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end</a:t>
                      </a:r>
                      <a:r>
                        <a:rPr dirty="0" u="sng" sz="1200" spc="-1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разработчик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310"/>
                        </a:lnSpc>
                      </a:pPr>
                      <a:r>
                        <a:rPr dirty="0" sz="1200" b="1">
                          <a:latin typeface="Times New Roman"/>
                          <a:cs typeface="Times New Roman"/>
                        </a:rPr>
                        <a:t>06.2024</a:t>
                      </a:r>
                      <a:r>
                        <a:rPr dirty="0" sz="1200" spc="15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200" b="1">
                          <a:latin typeface="Times New Roman"/>
                          <a:cs typeface="Times New Roman"/>
                        </a:rPr>
                        <a:t>–</a:t>
                      </a:r>
                      <a:r>
                        <a:rPr dirty="0" sz="1200" spc="-10" b="1">
                          <a:latin typeface="Times New Roman"/>
                          <a:cs typeface="Times New Roman"/>
                        </a:rPr>
                        <a:t> 12.2025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</a:tr>
              <a:tr h="2926080">
                <a:tc gridSpan="2">
                  <a:txBody>
                    <a:bodyPr/>
                    <a:lstStyle/>
                    <a:p>
                      <a:pPr marL="31750" marR="26034">
                        <a:lnSpc>
                          <a:spcPts val="1270"/>
                        </a:lnSpc>
                        <a:spcBef>
                          <a:spcPts val="220"/>
                        </a:spcBef>
                      </a:pPr>
                      <a:r>
                        <a:rPr dirty="0" sz="1100" spc="-10" b="1">
                          <a:latin typeface="Times New Roman"/>
                          <a:cs typeface="Times New Roman"/>
                        </a:rPr>
                        <a:t>Проекты:</a:t>
                      </a:r>
                      <a:r>
                        <a:rPr dirty="0" sz="1100" spc="-45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ClubFirst,</a:t>
                      </a:r>
                      <a:r>
                        <a:rPr dirty="0" sz="1100" spc="-5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ClubFirts</a:t>
                      </a:r>
                      <a:r>
                        <a:rPr dirty="0" sz="1100" spc="-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Ladies,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ClubFirst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Future,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Opora,</a:t>
                      </a:r>
                      <a:r>
                        <a:rPr dirty="0" sz="1100" spc="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Фонд</a:t>
                      </a:r>
                      <a:r>
                        <a:rPr dirty="0" sz="1100" spc="-5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Будущих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Лидеров,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НАУЗ,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CTG,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VQ,</a:t>
                      </a:r>
                      <a:r>
                        <a:rPr dirty="0" sz="1100" spc="-5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ТНЭ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team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1750">
                        <a:lnSpc>
                          <a:spcPts val="1190"/>
                        </a:lnSpc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Описание: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Web-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приложения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бизнес-сообществ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1750" marR="31750">
                        <a:lnSpc>
                          <a:spcPts val="1270"/>
                        </a:lnSpc>
                        <a:spcBef>
                          <a:spcPts val="60"/>
                        </a:spcBef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Технологический</a:t>
                      </a:r>
                      <a:r>
                        <a:rPr dirty="0" sz="1100" spc="175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b="1">
                          <a:latin typeface="Times New Roman"/>
                          <a:cs typeface="Times New Roman"/>
                        </a:rPr>
                        <a:t>стек:</a:t>
                      </a:r>
                      <a:r>
                        <a:rPr dirty="0" sz="1100" spc="17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Angular,</a:t>
                      </a:r>
                      <a:r>
                        <a:rPr dirty="0" sz="1100" spc="14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TypeScript,</a:t>
                      </a:r>
                      <a:r>
                        <a:rPr dirty="0" sz="1100" spc="18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RxJS,</a:t>
                      </a:r>
                      <a:r>
                        <a:rPr dirty="0" sz="1100" spc="16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NgRX,</a:t>
                      </a:r>
                      <a:r>
                        <a:rPr dirty="0" sz="1100" spc="18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Angular</a:t>
                      </a:r>
                      <a:r>
                        <a:rPr dirty="0" sz="1100" spc="19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Material,</a:t>
                      </a:r>
                      <a:r>
                        <a:rPr dirty="0" sz="1100" spc="17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SCSS,</a:t>
                      </a:r>
                      <a:r>
                        <a:rPr dirty="0" sz="1100" spc="19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REST</a:t>
                      </a:r>
                      <a:r>
                        <a:rPr dirty="0" sz="1100" spc="18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API,</a:t>
                      </a:r>
                      <a:r>
                        <a:rPr dirty="0" sz="1100" spc="17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Swagger,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Webpack,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Npm,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CI/CD</a:t>
                      </a:r>
                      <a:r>
                        <a:rPr dirty="0" sz="1100" spc="-5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Gitlab,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Agile,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Scrum,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Kanban,</a:t>
                      </a:r>
                      <a:r>
                        <a:rPr dirty="0" sz="1100" spc="-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Jira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1750">
                        <a:lnSpc>
                          <a:spcPts val="1240"/>
                        </a:lnSpc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Команда:</a:t>
                      </a:r>
                      <a:r>
                        <a:rPr dirty="0" sz="1100" spc="-2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14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человек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11480" marR="27940" indent="-179070">
                        <a:lnSpc>
                          <a:spcPts val="1270"/>
                        </a:lnSpc>
                        <a:spcBef>
                          <a:spcPts val="280"/>
                        </a:spcBef>
                        <a:buFont typeface="Symbol"/>
                        <a:buChar char=""/>
                        <a:tabLst>
                          <a:tab pos="4127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Проектировал</a:t>
                      </a:r>
                      <a:r>
                        <a:rPr dirty="0" sz="1100" spc="16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dirty="0" sz="1100" spc="15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реализовывал</a:t>
                      </a:r>
                      <a:r>
                        <a:rPr dirty="0" sz="1100" spc="15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пользовательские</a:t>
                      </a:r>
                      <a:r>
                        <a:rPr dirty="0" sz="1100" spc="16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интерфейсы</a:t>
                      </a:r>
                      <a:r>
                        <a:rPr dirty="0" sz="1100" spc="165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(профили,</a:t>
                      </a:r>
                      <a:r>
                        <a:rPr dirty="0" sz="1100" spc="155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чаты,</a:t>
                      </a:r>
                      <a:r>
                        <a:rPr dirty="0" sz="1100" spc="15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мероприятия,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бронирования,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биллинг)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с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улучшенной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валидацией,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обработкой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ошибок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удобным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UX.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11480" marR="27940" indent="-179070">
                        <a:lnSpc>
                          <a:spcPts val="1270"/>
                        </a:lnSpc>
                        <a:spcBef>
                          <a:spcPts val="75"/>
                        </a:spcBef>
                        <a:buFont typeface="Symbol"/>
                        <a:buChar char=""/>
                        <a:tabLst>
                          <a:tab pos="4127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Разрабатывал</a:t>
                      </a:r>
                      <a:r>
                        <a:rPr dirty="0" sz="1100" spc="29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dirty="0" sz="1100" spc="28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настраивал</a:t>
                      </a:r>
                      <a:r>
                        <a:rPr dirty="0" sz="1100" spc="27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админ-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панели</a:t>
                      </a:r>
                      <a:r>
                        <a:rPr dirty="0" sz="1100" spc="30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с</a:t>
                      </a:r>
                      <a:r>
                        <a:rPr dirty="0" sz="1100" spc="28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использованием</a:t>
                      </a:r>
                      <a:r>
                        <a:rPr dirty="0" sz="1100" spc="3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feature-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флагов</a:t>
                      </a:r>
                      <a:r>
                        <a:rPr dirty="0" sz="1100" spc="30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dirty="0" sz="1100" spc="30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ролевого</a:t>
                      </a:r>
                      <a:r>
                        <a:rPr dirty="0" sz="1100" spc="27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доступа,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обеспечивая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гибкое</a:t>
                      </a:r>
                      <a:r>
                        <a:rPr dirty="0" sz="1100" spc="-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управление</a:t>
                      </a:r>
                      <a:r>
                        <a:rPr dirty="0" sz="1100" spc="-4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функциональностью.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11480" marR="25400" indent="-179070">
                        <a:lnSpc>
                          <a:spcPts val="1250"/>
                        </a:lnSpc>
                        <a:spcBef>
                          <a:spcPts val="95"/>
                        </a:spcBef>
                        <a:buFont typeface="Symbol"/>
                        <a:buChar char=""/>
                        <a:tabLst>
                          <a:tab pos="4127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Выполнил</a:t>
                      </a:r>
                      <a:r>
                        <a:rPr dirty="0" sz="1100" spc="15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9</a:t>
                      </a:r>
                      <a:r>
                        <a:rPr dirty="0" sz="1100" spc="1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кастомизаций</a:t>
                      </a:r>
                      <a:r>
                        <a:rPr dirty="0" sz="1100" spc="1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платформы</a:t>
                      </a:r>
                      <a:r>
                        <a:rPr dirty="0" sz="1100" spc="1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под</a:t>
                      </a:r>
                      <a:r>
                        <a:rPr dirty="0" sz="1100" spc="14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разных</a:t>
                      </a:r>
                      <a:r>
                        <a:rPr dirty="0" sz="1100" spc="15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клиентов</a:t>
                      </a:r>
                      <a:r>
                        <a:rPr dirty="0" sz="1100" spc="15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(UI/UX</a:t>
                      </a:r>
                      <a:r>
                        <a:rPr dirty="0" sz="1100" spc="14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адаптация,</a:t>
                      </a:r>
                      <a:r>
                        <a:rPr dirty="0" sz="1100" spc="14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брендирование)</a:t>
                      </a:r>
                      <a:r>
                        <a:rPr dirty="0" sz="1100" spc="18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50">
                          <a:latin typeface="Times New Roman"/>
                          <a:cs typeface="Times New Roman"/>
                        </a:rPr>
                        <a:t>с </a:t>
                      </a:r>
                      <a:r>
                        <a:rPr dirty="0" sz="1100" spc="-5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адаптацией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под</a:t>
                      </a:r>
                      <a:r>
                        <a:rPr dirty="0" sz="1100" spc="-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фирменный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стиль.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11480" marR="40005" indent="-179070">
                        <a:lnSpc>
                          <a:spcPts val="1270"/>
                        </a:lnSpc>
                        <a:spcBef>
                          <a:spcPts val="75"/>
                        </a:spcBef>
                        <a:buFont typeface="Symbol"/>
                        <a:buChar char=""/>
                        <a:tabLst>
                          <a:tab pos="4127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Участвовал</a:t>
                      </a:r>
                      <a:r>
                        <a:rPr dirty="0" sz="1100" spc="7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dirty="0" sz="1100" spc="10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интеграции</a:t>
                      </a:r>
                      <a:r>
                        <a:rPr dirty="0" sz="1100" spc="10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проектов</a:t>
                      </a:r>
                      <a:r>
                        <a:rPr dirty="0" sz="1100" spc="10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dirty="0" sz="1100" spc="10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монорепозиторий:</a:t>
                      </a:r>
                      <a:r>
                        <a:rPr dirty="0" sz="1100" spc="8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упрощение</a:t>
                      </a:r>
                      <a:r>
                        <a:rPr dirty="0" sz="1100" spc="6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разработки,</a:t>
                      </a:r>
                      <a:r>
                        <a:rPr dirty="0" sz="1100" spc="10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ускорение</a:t>
                      </a:r>
                      <a:r>
                        <a:rPr dirty="0" sz="1100" spc="6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релизов 	(30–40%).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11480" indent="-179070">
                        <a:lnSpc>
                          <a:spcPts val="1310"/>
                        </a:lnSpc>
                        <a:buFont typeface="Symbol"/>
                        <a:buChar char=""/>
                        <a:tabLst>
                          <a:tab pos="41148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Участвовал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code-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review, проработке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UI-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kit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процессов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разработки.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11480" marR="29209" indent="-179070">
                        <a:lnSpc>
                          <a:spcPts val="1270"/>
                        </a:lnSpc>
                        <a:spcBef>
                          <a:spcPts val="110"/>
                        </a:spcBef>
                        <a:buFont typeface="Symbol"/>
                        <a:buChar char=""/>
                        <a:tabLst>
                          <a:tab pos="4127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Представлял</a:t>
                      </a:r>
                      <a:r>
                        <a:rPr dirty="0" sz="1100" spc="4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фронтенд-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команду</a:t>
                      </a:r>
                      <a:r>
                        <a:rPr dirty="0" sz="1100" spc="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на</a:t>
                      </a:r>
                      <a:r>
                        <a:rPr dirty="0" sz="1100" spc="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дейликах,</a:t>
                      </a:r>
                      <a:r>
                        <a:rPr dirty="0" sz="1100" spc="5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выполнял</a:t>
                      </a:r>
                      <a:r>
                        <a:rPr dirty="0" sz="1100" spc="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релизы,</a:t>
                      </a:r>
                      <a:r>
                        <a:rPr dirty="0" sz="1100" spc="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участвовал</a:t>
                      </a:r>
                      <a:r>
                        <a:rPr dirty="0" sz="1100" spc="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dirty="0" sz="1100" spc="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планировании,</a:t>
                      </a:r>
                      <a:r>
                        <a:rPr dirty="0" sz="1100" spc="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оценке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задач,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обеспечивал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синхронизацию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с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другими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командами.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2794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28702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520"/>
                        </a:spcBef>
                      </a:pP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Фриланс</a:t>
                      </a:r>
                      <a:r>
                        <a:rPr dirty="0" u="sng" sz="1200" spc="-25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–</a:t>
                      </a:r>
                      <a:r>
                        <a:rPr dirty="0" u="sng" sz="1200" spc="-2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Frontend</a:t>
                      </a:r>
                      <a:r>
                        <a:rPr dirty="0" u="sng" sz="1200" spc="-15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spc="-1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разработчик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66040"/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dirty="0" sz="1200" b="1">
                          <a:latin typeface="Times New Roman"/>
                          <a:cs typeface="Times New Roman"/>
                        </a:rPr>
                        <a:t>12.2023</a:t>
                      </a:r>
                      <a:r>
                        <a:rPr dirty="0" sz="1200" spc="2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200" b="1">
                          <a:latin typeface="Times New Roman"/>
                          <a:cs typeface="Times New Roman"/>
                        </a:rPr>
                        <a:t>–</a:t>
                      </a:r>
                      <a:r>
                        <a:rPr dirty="0" sz="1200" spc="-10" b="1">
                          <a:latin typeface="Times New Roman"/>
                          <a:cs typeface="Times New Roman"/>
                        </a:rPr>
                        <a:t> 06.2024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69215"/>
                </a:tc>
              </a:tr>
              <a:tr h="852169">
                <a:tc gridSpan="2">
                  <a:txBody>
                    <a:bodyPr/>
                    <a:lstStyle/>
                    <a:p>
                      <a:pPr marL="31750">
                        <a:lnSpc>
                          <a:spcPts val="1285"/>
                        </a:lnSpc>
                        <a:spcBef>
                          <a:spcPts val="140"/>
                        </a:spcBef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Проект:</a:t>
                      </a:r>
                      <a:r>
                        <a:rPr dirty="0" sz="1100" spc="-15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10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Times New Roman"/>
                          <a:cs typeface="Times New Roman"/>
                          <a:hlinkClick r:id="rId6"/>
                        </a:rPr>
                        <a:t>cctv-</a:t>
                      </a:r>
                      <a:r>
                        <a:rPr dirty="0" u="sng" sz="1100" spc="-1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Times New Roman"/>
                          <a:cs typeface="Times New Roman"/>
                          <a:hlinkClick r:id="rId6"/>
                        </a:rPr>
                        <a:t>montaj.ru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1750">
                        <a:lnSpc>
                          <a:spcPts val="1260"/>
                        </a:lnSpc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Описание:</a:t>
                      </a:r>
                      <a:r>
                        <a:rPr dirty="0" sz="1100" spc="-5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Сайт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компании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по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установке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систем</a:t>
                      </a:r>
                      <a:r>
                        <a:rPr dirty="0" sz="1100" spc="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видеонаблюдения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1750">
                        <a:lnSpc>
                          <a:spcPts val="1295"/>
                        </a:lnSpc>
                      </a:pPr>
                      <a:r>
                        <a:rPr dirty="0" sz="1100" spc="-10" b="1">
                          <a:latin typeface="Times New Roman"/>
                          <a:cs typeface="Times New Roman"/>
                        </a:rPr>
                        <a:t>Технологический</a:t>
                      </a:r>
                      <a:r>
                        <a:rPr dirty="0" sz="1100" spc="-25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b="1">
                          <a:latin typeface="Times New Roman"/>
                          <a:cs typeface="Times New Roman"/>
                        </a:rPr>
                        <a:t>стек:</a:t>
                      </a:r>
                      <a:r>
                        <a:rPr dirty="0" sz="1100" spc="-5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HTML5,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CSS3,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SCSS,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JS, jQuery,</a:t>
                      </a:r>
                      <a:r>
                        <a:rPr dirty="0" sz="1100" spc="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PHP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88950" marR="425450" indent="-228600">
                        <a:lnSpc>
                          <a:spcPts val="1250"/>
                        </a:lnSpc>
                        <a:spcBef>
                          <a:spcPts val="130"/>
                        </a:spcBef>
                        <a:buSzPct val="90909"/>
                        <a:buFont typeface="Symbol"/>
                        <a:buChar char=""/>
                        <a:tabLst>
                          <a:tab pos="4889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Реализовал</a:t>
                      </a:r>
                      <a:r>
                        <a:rPr dirty="0" sz="1100" spc="-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адаптивную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верстку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интерактивные</a:t>
                      </a:r>
                      <a:r>
                        <a:rPr dirty="0" sz="1100" spc="-4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элементы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(бургер-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меню,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поп-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апы, формы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50">
                          <a:latin typeface="Times New Roman"/>
                          <a:cs typeface="Times New Roman"/>
                        </a:rPr>
                        <a:t>с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валидацией)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1778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</a:tbl>
          </a:graphicData>
        </a:graphic>
      </p:graphicFrame>
      <p:sp>
        <p:nvSpPr>
          <p:cNvPr id="4" name="object 4" descr=""/>
          <p:cNvSpPr txBox="1"/>
          <p:nvPr/>
        </p:nvSpPr>
        <p:spPr>
          <a:xfrm>
            <a:off x="618540" y="7935848"/>
            <a:ext cx="6415405" cy="22148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10" b="1">
                <a:latin typeface="Times New Roman"/>
                <a:cs typeface="Times New Roman"/>
              </a:rPr>
              <a:t>ОБРАЗОВАНИЕ</a:t>
            </a:r>
            <a:endParaRPr sz="1400">
              <a:latin typeface="Times New Roman"/>
              <a:cs typeface="Times New Roman"/>
            </a:endParaRPr>
          </a:p>
          <a:p>
            <a:pPr marL="12700" marR="600710">
              <a:lnSpc>
                <a:spcPts val="1270"/>
              </a:lnSpc>
              <a:spcBef>
                <a:spcPts val="145"/>
              </a:spcBef>
            </a:pPr>
            <a:r>
              <a:rPr dirty="0" sz="1100" b="1">
                <a:latin typeface="Times New Roman"/>
                <a:cs typeface="Times New Roman"/>
              </a:rPr>
              <a:t>Гомельский</a:t>
            </a:r>
            <a:r>
              <a:rPr dirty="0" sz="1100" spc="-10" b="1">
                <a:latin typeface="Times New Roman"/>
                <a:cs typeface="Times New Roman"/>
              </a:rPr>
              <a:t> государственный</a:t>
            </a:r>
            <a:r>
              <a:rPr dirty="0" sz="1100" spc="20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технический</a:t>
            </a:r>
            <a:r>
              <a:rPr dirty="0" sz="1100" spc="-5" b="1">
                <a:latin typeface="Times New Roman"/>
                <a:cs typeface="Times New Roman"/>
              </a:rPr>
              <a:t> </a:t>
            </a:r>
            <a:r>
              <a:rPr dirty="0" sz="1100" spc="-10" b="1">
                <a:latin typeface="Times New Roman"/>
                <a:cs typeface="Times New Roman"/>
              </a:rPr>
              <a:t>университет</a:t>
            </a:r>
            <a:r>
              <a:rPr dirty="0" sz="1100" spc="-5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имени</a:t>
            </a:r>
            <a:r>
              <a:rPr dirty="0" sz="1100" spc="-5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П.О.Сухого, </a:t>
            </a:r>
            <a:r>
              <a:rPr dirty="0" sz="1100" spc="-10">
                <a:latin typeface="Times New Roman"/>
                <a:cs typeface="Times New Roman"/>
              </a:rPr>
              <a:t>«Организация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 spc="-50">
                <a:latin typeface="Times New Roman"/>
                <a:cs typeface="Times New Roman"/>
              </a:rPr>
              <a:t>и </a:t>
            </a:r>
            <a:r>
              <a:rPr dirty="0" sz="1100">
                <a:latin typeface="Times New Roman"/>
                <a:cs typeface="Times New Roman"/>
              </a:rPr>
              <a:t>управление</a:t>
            </a:r>
            <a:r>
              <a:rPr dirty="0" sz="1100" spc="-40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производством»,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Инженер</a:t>
            </a:r>
            <a:r>
              <a:rPr dirty="0" sz="1100" spc="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(2008 –</a:t>
            </a:r>
            <a:r>
              <a:rPr dirty="0" sz="1100" spc="-5">
                <a:latin typeface="Times New Roman"/>
                <a:cs typeface="Times New Roman"/>
              </a:rPr>
              <a:t> </a:t>
            </a:r>
            <a:r>
              <a:rPr dirty="0" sz="1100" spc="-20">
                <a:latin typeface="Times New Roman"/>
                <a:cs typeface="Times New Roman"/>
              </a:rPr>
              <a:t>2013)</a:t>
            </a: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ts val="1215"/>
              </a:lnSpc>
            </a:pPr>
            <a:r>
              <a:rPr dirty="0" sz="1100" b="1">
                <a:latin typeface="Times New Roman"/>
                <a:cs typeface="Times New Roman"/>
              </a:rPr>
              <a:t>«RS</a:t>
            </a:r>
            <a:r>
              <a:rPr dirty="0" sz="1100" spc="-20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School»</a:t>
            </a:r>
            <a:r>
              <a:rPr dirty="0" sz="1100">
                <a:latin typeface="Times New Roman"/>
                <a:cs typeface="Times New Roman"/>
              </a:rPr>
              <a:t>,</a:t>
            </a:r>
            <a:r>
              <a:rPr dirty="0" sz="1100" spc="1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онлайн-</a:t>
            </a:r>
            <a:r>
              <a:rPr dirty="0" sz="1100">
                <a:latin typeface="Times New Roman"/>
                <a:cs typeface="Times New Roman"/>
              </a:rPr>
              <a:t>курс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«UpSkill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Me»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(JS/Front-</a:t>
            </a:r>
            <a:r>
              <a:rPr dirty="0" sz="1100">
                <a:latin typeface="Times New Roman"/>
                <a:cs typeface="Times New Roman"/>
              </a:rPr>
              <a:t>End)</a:t>
            </a:r>
            <a:r>
              <a:rPr dirty="0" sz="1100" spc="-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(Декабрь,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2022—Август,</a:t>
            </a:r>
            <a:r>
              <a:rPr dirty="0" sz="1100" spc="10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2023)</a:t>
            </a: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ts val="1295"/>
              </a:lnSpc>
            </a:pPr>
            <a:r>
              <a:rPr dirty="0" sz="1100" b="1">
                <a:latin typeface="Times New Roman"/>
                <a:cs typeface="Times New Roman"/>
              </a:rPr>
              <a:t>«EPAM</a:t>
            </a:r>
            <a:r>
              <a:rPr dirty="0" sz="1100" spc="-40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Learn</a:t>
            </a:r>
            <a:r>
              <a:rPr dirty="0" sz="1100" spc="-35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Platform»</a:t>
            </a:r>
            <a:r>
              <a:rPr dirty="0" sz="1100">
                <a:latin typeface="Times New Roman"/>
                <a:cs typeface="Times New Roman"/>
              </a:rPr>
              <a:t>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онлайн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курс</a:t>
            </a:r>
            <a:r>
              <a:rPr dirty="0" sz="1100" spc="-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«IT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Fundamentals»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(Ноябрь,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2022)</a:t>
            </a: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dirty="0" sz="1400" spc="-10" b="1">
                <a:latin typeface="Times New Roman"/>
                <a:cs typeface="Times New Roman"/>
              </a:rPr>
              <a:t>НАВЫКИ</a:t>
            </a:r>
            <a:endParaRPr sz="1400">
              <a:latin typeface="Times New Roman"/>
              <a:cs typeface="Times New Roman"/>
            </a:endParaRPr>
          </a:p>
          <a:p>
            <a:pPr algn="just" marL="12700" marR="5080">
              <a:lnSpc>
                <a:spcPct val="95400"/>
              </a:lnSpc>
              <a:spcBef>
                <a:spcPts val="145"/>
              </a:spcBef>
            </a:pPr>
            <a:r>
              <a:rPr dirty="0" sz="1100">
                <a:latin typeface="Times New Roman"/>
                <a:cs typeface="Times New Roman"/>
              </a:rPr>
              <a:t>HTML5,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CSS3</a:t>
            </a:r>
            <a:r>
              <a:rPr dirty="0" sz="1100" spc="19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(SCSS,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SASS,</a:t>
            </a:r>
            <a:r>
              <a:rPr dirty="0" sz="1100" spc="204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LESS),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JavaScript,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Angular</a:t>
            </a:r>
            <a:r>
              <a:rPr dirty="0" sz="1100" spc="229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2+,</a:t>
            </a:r>
            <a:r>
              <a:rPr dirty="0" sz="1100" spc="18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TypeScript,</a:t>
            </a:r>
            <a:r>
              <a:rPr dirty="0" sz="1100" spc="2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RxJS,</a:t>
            </a:r>
            <a:r>
              <a:rPr dirty="0" sz="1100" spc="2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NgRX,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Angular</a:t>
            </a:r>
            <a:r>
              <a:rPr dirty="0" sz="1100" spc="210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Material, </a:t>
            </a:r>
            <a:r>
              <a:rPr dirty="0" sz="1100">
                <a:latin typeface="Times New Roman"/>
                <a:cs typeface="Times New Roman"/>
              </a:rPr>
              <a:t>WebSocket,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Git,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Webpack,</a:t>
            </a:r>
            <a:r>
              <a:rPr dirty="0" sz="1100" spc="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GitLab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CI/CD,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Swagger,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Npm,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BEM,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ООП,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SOLID,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FIRST,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Agile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(Scrum,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Kanban), </a:t>
            </a:r>
            <a:r>
              <a:rPr dirty="0" sz="1100">
                <a:latin typeface="Times New Roman"/>
                <a:cs typeface="Times New Roman"/>
              </a:rPr>
              <a:t>Figma,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Photoshop</a:t>
            </a: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ts val="1650"/>
              </a:lnSpc>
              <a:spcBef>
                <a:spcPts val="540"/>
              </a:spcBef>
            </a:pPr>
            <a:r>
              <a:rPr dirty="0" sz="1400" spc="-10" b="1">
                <a:latin typeface="Times New Roman"/>
                <a:cs typeface="Times New Roman"/>
              </a:rPr>
              <a:t>ЯЗЫКИ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ts val="1290"/>
              </a:lnSpc>
            </a:pPr>
            <a:r>
              <a:rPr dirty="0" sz="1100" b="1">
                <a:latin typeface="Times New Roman"/>
                <a:cs typeface="Times New Roman"/>
              </a:rPr>
              <a:t>Русский</a:t>
            </a:r>
            <a:r>
              <a:rPr dirty="0" sz="1100" spc="-20" b="1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–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родной, </a:t>
            </a:r>
            <a:r>
              <a:rPr dirty="0" sz="1100" spc="-10" b="1">
                <a:latin typeface="Times New Roman"/>
                <a:cs typeface="Times New Roman"/>
              </a:rPr>
              <a:t>Английский</a:t>
            </a:r>
            <a:r>
              <a:rPr dirty="0" sz="1100" spc="-15" b="1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-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B1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(Средний</a:t>
            </a:r>
            <a:r>
              <a:rPr dirty="0" sz="1100" spc="-10">
                <a:latin typeface="Times New Roman"/>
                <a:cs typeface="Times New Roman"/>
              </a:rPr>
              <a:t> уровень)</a:t>
            </a:r>
            <a:endParaRPr sz="11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"/>
          <p:cNvSpPr txBox="1"/>
          <p:nvPr/>
        </p:nvSpPr>
        <p:spPr>
          <a:xfrm>
            <a:off x="618540" y="331977"/>
            <a:ext cx="6415405" cy="31464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ts val="2110"/>
              </a:lnSpc>
              <a:spcBef>
                <a:spcPts val="100"/>
              </a:spcBef>
            </a:pPr>
            <a:r>
              <a:rPr dirty="0" sz="1800" b="1">
                <a:latin typeface="Times New Roman"/>
                <a:cs typeface="Times New Roman"/>
              </a:rPr>
              <a:t>Mikita</a:t>
            </a:r>
            <a:r>
              <a:rPr dirty="0" sz="1800" spc="-60" b="1">
                <a:latin typeface="Times New Roman"/>
                <a:cs typeface="Times New Roman"/>
              </a:rPr>
              <a:t> </a:t>
            </a:r>
            <a:r>
              <a:rPr dirty="0" sz="1800" spc="-10" b="1">
                <a:latin typeface="Times New Roman"/>
                <a:cs typeface="Times New Roman"/>
              </a:rPr>
              <a:t>Kanstantsinau</a:t>
            </a:r>
            <a:endParaRPr sz="1800">
              <a:latin typeface="Times New Roman"/>
              <a:cs typeface="Times New Roman"/>
            </a:endParaRPr>
          </a:p>
          <a:p>
            <a:pPr marL="12700">
              <a:lnSpc>
                <a:spcPts val="1390"/>
              </a:lnSpc>
            </a:pPr>
            <a:r>
              <a:rPr dirty="0" sz="1200">
                <a:latin typeface="Times New Roman"/>
                <a:cs typeface="Times New Roman"/>
              </a:rPr>
              <a:t>Angular</a:t>
            </a:r>
            <a:r>
              <a:rPr dirty="0" sz="1200" spc="-30">
                <a:latin typeface="Times New Roman"/>
                <a:cs typeface="Times New Roman"/>
              </a:rPr>
              <a:t> </a:t>
            </a:r>
            <a:r>
              <a:rPr dirty="0" sz="1200">
                <a:latin typeface="Times New Roman"/>
                <a:cs typeface="Times New Roman"/>
              </a:rPr>
              <a:t>Frontend</a:t>
            </a:r>
            <a:r>
              <a:rPr dirty="0" sz="1200" spc="-35">
                <a:latin typeface="Times New Roman"/>
                <a:cs typeface="Times New Roman"/>
              </a:rPr>
              <a:t> </a:t>
            </a:r>
            <a:r>
              <a:rPr dirty="0" sz="1200" spc="-10">
                <a:latin typeface="Times New Roman"/>
                <a:cs typeface="Times New Roman"/>
              </a:rPr>
              <a:t>developer</a:t>
            </a:r>
            <a:endParaRPr sz="1200">
              <a:latin typeface="Times New Roman"/>
              <a:cs typeface="Times New Roman"/>
            </a:endParaRPr>
          </a:p>
          <a:p>
            <a:pPr algn="just" marL="12700">
              <a:lnSpc>
                <a:spcPct val="100000"/>
              </a:lnSpc>
              <a:spcBef>
                <a:spcPts val="680"/>
              </a:spcBef>
            </a:pPr>
            <a:r>
              <a:rPr dirty="0" sz="950">
                <a:latin typeface="Times New Roman"/>
                <a:cs typeface="Times New Roman"/>
              </a:rPr>
              <a:t>Batumi,</a:t>
            </a:r>
            <a:r>
              <a:rPr dirty="0" sz="950" spc="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Georgia</a:t>
            </a:r>
            <a:r>
              <a:rPr dirty="0" sz="950" spc="1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|</a:t>
            </a:r>
            <a:r>
              <a:rPr dirty="0" sz="950" spc="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+</a:t>
            </a:r>
            <a:r>
              <a:rPr dirty="0" sz="950" spc="20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995</a:t>
            </a:r>
            <a:r>
              <a:rPr dirty="0" sz="950" spc="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591</a:t>
            </a:r>
            <a:r>
              <a:rPr dirty="0" sz="950" spc="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94</a:t>
            </a:r>
            <a:r>
              <a:rPr dirty="0" sz="950" spc="-1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89</a:t>
            </a:r>
            <a:r>
              <a:rPr dirty="0" sz="950" spc="5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92</a:t>
            </a:r>
            <a:r>
              <a:rPr dirty="0" sz="950" spc="10"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|</a:t>
            </a:r>
            <a:r>
              <a:rPr dirty="0" sz="950" spc="-20">
                <a:latin typeface="Times New Roman"/>
                <a:cs typeface="Times New Roman"/>
              </a:rPr>
              <a:t> </a:t>
            </a:r>
            <a:r>
              <a:rPr dirty="0" u="sng" sz="95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2"/>
              </a:rPr>
              <a:t>Telegram</a:t>
            </a:r>
            <a:r>
              <a:rPr dirty="0" sz="950" spc="15">
                <a:solidFill>
                  <a:srgbClr val="0462C1"/>
                </a:solidFill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|</a:t>
            </a:r>
            <a:r>
              <a:rPr dirty="0" sz="950" spc="5">
                <a:latin typeface="Times New Roman"/>
                <a:cs typeface="Times New Roman"/>
              </a:rPr>
              <a:t> </a:t>
            </a:r>
            <a:r>
              <a:rPr dirty="0" u="sng" sz="950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3"/>
              </a:rPr>
              <a:t>nick.konstantinov.job@gmail.com</a:t>
            </a:r>
            <a:r>
              <a:rPr dirty="0" sz="950">
                <a:solidFill>
                  <a:srgbClr val="0462C1"/>
                </a:solidFill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|</a:t>
            </a:r>
            <a:r>
              <a:rPr dirty="0" sz="950" spc="10">
                <a:latin typeface="Times New Roman"/>
                <a:cs typeface="Times New Roman"/>
              </a:rPr>
              <a:t> </a:t>
            </a:r>
            <a:r>
              <a:rPr dirty="0" u="sng" sz="95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4"/>
              </a:rPr>
              <a:t>LinkedIn</a:t>
            </a:r>
            <a:r>
              <a:rPr dirty="0" u="sng" sz="950" spc="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</a:rPr>
              <a:t> </a:t>
            </a:r>
            <a:r>
              <a:rPr dirty="0" sz="950">
                <a:latin typeface="Times New Roman"/>
                <a:cs typeface="Times New Roman"/>
              </a:rPr>
              <a:t>|</a:t>
            </a:r>
            <a:r>
              <a:rPr dirty="0" sz="950" spc="30">
                <a:latin typeface="Times New Roman"/>
                <a:cs typeface="Times New Roman"/>
              </a:rPr>
              <a:t> </a:t>
            </a:r>
            <a:r>
              <a:rPr dirty="0" u="sng" sz="950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5"/>
              </a:rPr>
              <a:t>GitHub</a:t>
            </a:r>
            <a:endParaRPr sz="9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715"/>
              </a:spcBef>
            </a:pPr>
            <a:r>
              <a:rPr dirty="0" sz="1400" spc="-10" b="1">
                <a:latin typeface="Times New Roman"/>
                <a:cs typeface="Times New Roman"/>
              </a:rPr>
              <a:t>PROFILE</a:t>
            </a:r>
            <a:endParaRPr sz="1400">
              <a:latin typeface="Times New Roman"/>
              <a:cs typeface="Times New Roman"/>
            </a:endParaRPr>
          </a:p>
          <a:p>
            <a:pPr algn="just" marL="12700" marR="5080">
              <a:lnSpc>
                <a:spcPct val="96500"/>
              </a:lnSpc>
              <a:spcBef>
                <a:spcPts val="300"/>
              </a:spcBef>
            </a:pPr>
            <a:r>
              <a:rPr dirty="0" sz="1100">
                <a:latin typeface="Times New Roman"/>
                <a:cs typeface="Times New Roman"/>
              </a:rPr>
              <a:t>Angular</a:t>
            </a:r>
            <a:r>
              <a:rPr dirty="0" sz="1100" spc="17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developer</a:t>
            </a:r>
            <a:r>
              <a:rPr dirty="0" sz="1100" spc="18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with</a:t>
            </a:r>
            <a:r>
              <a:rPr dirty="0" sz="1100" spc="15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experience</a:t>
            </a:r>
            <a:r>
              <a:rPr dirty="0" sz="1100" spc="14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in</a:t>
            </a:r>
            <a:r>
              <a:rPr dirty="0" sz="1100" spc="15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building</a:t>
            </a:r>
            <a:r>
              <a:rPr dirty="0" sz="1100" spc="15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user</a:t>
            </a:r>
            <a:r>
              <a:rPr dirty="0" sz="1100" spc="19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interfaces,</a:t>
            </a:r>
            <a:r>
              <a:rPr dirty="0" sz="1100" spc="16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admin</a:t>
            </a:r>
            <a:r>
              <a:rPr dirty="0" sz="1100" spc="15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panels,</a:t>
            </a:r>
            <a:r>
              <a:rPr dirty="0" sz="1100" spc="19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and</a:t>
            </a:r>
            <a:r>
              <a:rPr dirty="0" sz="1100" spc="15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customized</a:t>
            </a:r>
            <a:r>
              <a:rPr dirty="0" sz="1100" spc="17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web</a:t>
            </a:r>
            <a:r>
              <a:rPr dirty="0" sz="1100" spc="17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platforms. </a:t>
            </a:r>
            <a:r>
              <a:rPr dirty="0" sz="1100">
                <a:latin typeface="Times New Roman"/>
                <a:cs typeface="Times New Roman"/>
              </a:rPr>
              <a:t>Participate</a:t>
            </a:r>
            <a:r>
              <a:rPr dirty="0" sz="1100" spc="-6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in</a:t>
            </a:r>
            <a:r>
              <a:rPr dirty="0" sz="1100" spc="-5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planning,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requirement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refinement,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and</a:t>
            </a:r>
            <a:r>
              <a:rPr dirty="0" sz="1100" spc="-5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cross-team</a:t>
            </a:r>
            <a:r>
              <a:rPr dirty="0" sz="1100" spc="-6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collaboration.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Represent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the</a:t>
            </a:r>
            <a:r>
              <a:rPr dirty="0" sz="1100" spc="-6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frontend</a:t>
            </a:r>
            <a:r>
              <a:rPr dirty="0" sz="1100" spc="-5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team</a:t>
            </a:r>
            <a:r>
              <a:rPr dirty="0" sz="1100" spc="-6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in</a:t>
            </a:r>
            <a:r>
              <a:rPr dirty="0" sz="1100" spc="-50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daily stand-</a:t>
            </a:r>
            <a:r>
              <a:rPr dirty="0" sz="1100">
                <a:latin typeface="Times New Roman"/>
                <a:cs typeface="Times New Roman"/>
              </a:rPr>
              <a:t>ups</a:t>
            </a:r>
            <a:r>
              <a:rPr dirty="0" sz="1100" spc="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and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take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part</a:t>
            </a:r>
            <a:r>
              <a:rPr dirty="0" sz="1100" spc="-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in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releases</a:t>
            </a:r>
            <a:r>
              <a:rPr dirty="0" sz="1100" spc="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and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code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reviews.</a:t>
            </a: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40"/>
              </a:spcBef>
            </a:pPr>
            <a:r>
              <a:rPr dirty="0" sz="1400" b="1">
                <a:latin typeface="Times New Roman"/>
                <a:cs typeface="Times New Roman"/>
              </a:rPr>
              <a:t>KEY</a:t>
            </a:r>
            <a:r>
              <a:rPr dirty="0" sz="1400" spc="-25" b="1">
                <a:latin typeface="Times New Roman"/>
                <a:cs typeface="Times New Roman"/>
              </a:rPr>
              <a:t> </a:t>
            </a:r>
            <a:r>
              <a:rPr dirty="0" sz="1400" spc="-10" b="1">
                <a:latin typeface="Times New Roman"/>
                <a:cs typeface="Times New Roman"/>
              </a:rPr>
              <a:t>ACHIEVEMENTS</a:t>
            </a:r>
            <a:endParaRPr sz="14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320"/>
              </a:spcBef>
              <a:buFont typeface="Symbol"/>
              <a:buChar char=""/>
              <a:tabLst>
                <a:tab pos="469265" algn="l"/>
              </a:tabLst>
            </a:pPr>
            <a:r>
              <a:rPr dirty="0" sz="1100">
                <a:latin typeface="Times New Roman"/>
                <a:cs typeface="Times New Roman"/>
              </a:rPr>
              <a:t>Delivered</a:t>
            </a:r>
            <a:r>
              <a:rPr dirty="0" sz="1100" spc="-4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40+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features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(profiles, chats, eventsы,</a:t>
            </a:r>
            <a:r>
              <a:rPr dirty="0" sz="1100" spc="-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billing,</a:t>
            </a:r>
            <a:r>
              <a:rPr dirty="0" sz="1100" spc="-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admin</a:t>
            </a:r>
            <a:r>
              <a:rPr dirty="0" sz="1100" spc="-40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panels).</a:t>
            </a:r>
            <a:endParaRPr sz="11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25"/>
              </a:spcBef>
              <a:buFont typeface="Symbol"/>
              <a:buChar char=""/>
              <a:tabLst>
                <a:tab pos="469265" algn="l"/>
              </a:tabLst>
            </a:pPr>
            <a:r>
              <a:rPr dirty="0" sz="1100">
                <a:latin typeface="Times New Roman"/>
                <a:cs typeface="Times New Roman"/>
              </a:rPr>
              <a:t>Fixed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80+ bugs,</a:t>
            </a:r>
            <a:r>
              <a:rPr dirty="0" sz="1100" spc="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significantly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improving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platform</a:t>
            </a:r>
            <a:r>
              <a:rPr dirty="0" sz="1100" spc="-4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stability.</a:t>
            </a:r>
            <a:endParaRPr sz="11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25"/>
              </a:spcBef>
              <a:buFont typeface="Symbol"/>
              <a:buChar char=""/>
              <a:tabLst>
                <a:tab pos="469265" algn="l"/>
              </a:tabLst>
            </a:pPr>
            <a:r>
              <a:rPr dirty="0" sz="1100">
                <a:latin typeface="Times New Roman"/>
                <a:cs typeface="Times New Roman"/>
              </a:rPr>
              <a:t>Completed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9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customizations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of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web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applications</a:t>
            </a:r>
            <a:r>
              <a:rPr dirty="0" sz="1100" spc="-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to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match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the</a:t>
            </a:r>
            <a:r>
              <a:rPr dirty="0" sz="1100" spc="-4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branding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of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various</a:t>
            </a:r>
            <a:r>
              <a:rPr dirty="0" sz="1100" spc="-10">
                <a:latin typeface="Times New Roman"/>
                <a:cs typeface="Times New Roman"/>
              </a:rPr>
              <a:t> clients.</a:t>
            </a:r>
            <a:endParaRPr sz="11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25"/>
              </a:spcBef>
              <a:buFont typeface="Symbol"/>
              <a:buChar char=""/>
              <a:tabLst>
                <a:tab pos="469265" algn="l"/>
              </a:tabLst>
            </a:pPr>
            <a:r>
              <a:rPr dirty="0" sz="1100">
                <a:latin typeface="Times New Roman"/>
                <a:cs typeface="Times New Roman"/>
              </a:rPr>
              <a:t>Optimized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module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loading</a:t>
            </a:r>
            <a:r>
              <a:rPr dirty="0" sz="1100" spc="-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through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lazy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loading, achieving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over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 20%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performance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improvement.</a:t>
            </a:r>
            <a:endParaRPr sz="1100">
              <a:latin typeface="Times New Roman"/>
              <a:cs typeface="Times New Roman"/>
            </a:endParaRPr>
          </a:p>
          <a:p>
            <a:pPr marL="469265" marR="7620" indent="-228600">
              <a:lnSpc>
                <a:spcPts val="1270"/>
              </a:lnSpc>
              <a:spcBef>
                <a:spcPts val="110"/>
              </a:spcBef>
              <a:buFont typeface="Symbol"/>
              <a:buChar char=""/>
              <a:tabLst>
                <a:tab pos="469265" algn="l"/>
              </a:tabLst>
            </a:pPr>
            <a:r>
              <a:rPr dirty="0" sz="1100">
                <a:latin typeface="Times New Roman"/>
                <a:cs typeface="Times New Roman"/>
              </a:rPr>
              <a:t>Contributed to frontend</a:t>
            </a:r>
            <a:r>
              <a:rPr dirty="0" sz="1100" spc="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migration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to a</a:t>
            </a:r>
            <a:r>
              <a:rPr dirty="0" sz="1100" spc="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monorepo</a:t>
            </a:r>
            <a:r>
              <a:rPr dirty="0" sz="1100" spc="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—</a:t>
            </a:r>
            <a:r>
              <a:rPr dirty="0" sz="1100" spc="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reduced code</a:t>
            </a:r>
            <a:r>
              <a:rPr dirty="0" sz="1100" spc="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duplication and accelerated </a:t>
            </a:r>
            <a:r>
              <a:rPr dirty="0" sz="1100" spc="-10">
                <a:latin typeface="Times New Roman"/>
                <a:cs typeface="Times New Roman"/>
              </a:rPr>
              <a:t>integration </a:t>
            </a:r>
            <a:r>
              <a:rPr dirty="0" sz="1100">
                <a:latin typeface="Times New Roman"/>
                <a:cs typeface="Times New Roman"/>
              </a:rPr>
              <a:t>by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30–40%.</a:t>
            </a: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dirty="0" sz="1400" b="1">
                <a:latin typeface="Times New Roman"/>
                <a:cs typeface="Times New Roman"/>
              </a:rPr>
              <a:t>WORK</a:t>
            </a:r>
            <a:r>
              <a:rPr dirty="0" sz="1400" spc="-35" b="1">
                <a:latin typeface="Times New Roman"/>
                <a:cs typeface="Times New Roman"/>
              </a:rPr>
              <a:t> </a:t>
            </a:r>
            <a:r>
              <a:rPr dirty="0" sz="1400" b="1">
                <a:latin typeface="Times New Roman"/>
                <a:cs typeface="Times New Roman"/>
              </a:rPr>
              <a:t>EXPERIENCE</a:t>
            </a:r>
            <a:r>
              <a:rPr dirty="0" sz="1400" spc="-5" b="1">
                <a:latin typeface="Times New Roman"/>
                <a:cs typeface="Times New Roman"/>
              </a:rPr>
              <a:t> </a:t>
            </a:r>
            <a:r>
              <a:rPr dirty="0" sz="1200">
                <a:latin typeface="Times New Roman"/>
                <a:cs typeface="Times New Roman"/>
              </a:rPr>
              <a:t>(2+</a:t>
            </a:r>
            <a:r>
              <a:rPr dirty="0" sz="1200" spc="-25">
                <a:latin typeface="Times New Roman"/>
                <a:cs typeface="Times New Roman"/>
              </a:rPr>
              <a:t> </a:t>
            </a:r>
            <a:r>
              <a:rPr dirty="0" sz="1200" spc="-10">
                <a:latin typeface="Times New Roman"/>
                <a:cs typeface="Times New Roman"/>
              </a:rPr>
              <a:t>years)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3" name="object 3" descr=""/>
          <p:cNvGraphicFramePr>
            <a:graphicFrameLocks noGrp="1"/>
          </p:cNvGraphicFramePr>
          <p:nvPr/>
        </p:nvGraphicFramePr>
        <p:xfrm>
          <a:off x="575106" y="3516587"/>
          <a:ext cx="6579234" cy="39458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58970"/>
                <a:gridCol w="2044064"/>
              </a:tblGrid>
              <a:tr h="200660">
                <a:tc>
                  <a:txBody>
                    <a:bodyPr/>
                    <a:lstStyle/>
                    <a:p>
                      <a:pPr marL="31750">
                        <a:lnSpc>
                          <a:spcPts val="1310"/>
                        </a:lnSpc>
                      </a:pP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CommunityTech</a:t>
                      </a:r>
                      <a:r>
                        <a:rPr dirty="0" u="sng" sz="1200" spc="-2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Group –</a:t>
                      </a:r>
                      <a:r>
                        <a:rPr dirty="0" u="sng" sz="1200" spc="-4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Middle</a:t>
                      </a:r>
                      <a:r>
                        <a:rPr dirty="0" u="sng" sz="1200" spc="-2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spc="-1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Front-</a:t>
                      </a: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end</a:t>
                      </a:r>
                      <a:r>
                        <a:rPr dirty="0" u="sng" sz="1200" spc="-1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developer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310"/>
                        </a:lnSpc>
                      </a:pPr>
                      <a:r>
                        <a:rPr dirty="0" sz="1200" b="1">
                          <a:latin typeface="Times New Roman"/>
                          <a:cs typeface="Times New Roman"/>
                        </a:rPr>
                        <a:t>06.2024</a:t>
                      </a:r>
                      <a:r>
                        <a:rPr dirty="0" sz="1200" spc="2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200" b="1">
                          <a:latin typeface="Times New Roman"/>
                          <a:cs typeface="Times New Roman"/>
                        </a:rPr>
                        <a:t>–</a:t>
                      </a:r>
                      <a:r>
                        <a:rPr dirty="0" sz="1200" spc="-10" b="1">
                          <a:latin typeface="Times New Roman"/>
                          <a:cs typeface="Times New Roman"/>
                        </a:rPr>
                        <a:t> 12.2025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/>
                </a:tc>
              </a:tr>
              <a:tr h="2766060">
                <a:tc gridSpan="2">
                  <a:txBody>
                    <a:bodyPr/>
                    <a:lstStyle/>
                    <a:p>
                      <a:pPr marL="31750">
                        <a:lnSpc>
                          <a:spcPts val="1295"/>
                        </a:lnSpc>
                        <a:spcBef>
                          <a:spcPts val="140"/>
                        </a:spcBef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Projects:</a:t>
                      </a:r>
                      <a:r>
                        <a:rPr dirty="0" sz="1100" spc="-25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ClubFirst,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ClubFirts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Ladies,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ClubFirst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Future,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Opora, Future</a:t>
                      </a:r>
                      <a:r>
                        <a:rPr dirty="0" sz="1100" spc="-5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Leaders,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AUZ,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CTG,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VQ,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TNE</a:t>
                      </a:r>
                      <a:r>
                        <a:rPr dirty="0" sz="1100" spc="-4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team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1750">
                        <a:lnSpc>
                          <a:spcPts val="1260"/>
                        </a:lnSpc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Description:</a:t>
                      </a:r>
                      <a:r>
                        <a:rPr dirty="0" sz="1100" spc="-3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Web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applications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business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communities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1750" marR="33655">
                        <a:lnSpc>
                          <a:spcPts val="1270"/>
                        </a:lnSpc>
                        <a:spcBef>
                          <a:spcPts val="45"/>
                        </a:spcBef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Tech</a:t>
                      </a:r>
                      <a:r>
                        <a:rPr dirty="0" sz="1100" spc="1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b="1">
                          <a:latin typeface="Times New Roman"/>
                          <a:cs typeface="Times New Roman"/>
                        </a:rPr>
                        <a:t>stack:</a:t>
                      </a:r>
                      <a:r>
                        <a:rPr dirty="0" sz="1100" spc="6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Angular,</a:t>
                      </a:r>
                      <a:r>
                        <a:rPr dirty="0" sz="1100" spc="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TypeScript,</a:t>
                      </a:r>
                      <a:r>
                        <a:rPr dirty="0" sz="1100" spc="5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RxJS,</a:t>
                      </a:r>
                      <a:r>
                        <a:rPr dirty="0" sz="1100" spc="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NgRX,</a:t>
                      </a:r>
                      <a:r>
                        <a:rPr dirty="0" sz="1100" spc="5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Angular</a:t>
                      </a:r>
                      <a:r>
                        <a:rPr dirty="0" sz="1100" spc="6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Material,</a:t>
                      </a:r>
                      <a:r>
                        <a:rPr dirty="0" sz="1100" spc="5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SCSS,</a:t>
                      </a:r>
                      <a:r>
                        <a:rPr dirty="0" sz="1100" spc="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REST</a:t>
                      </a:r>
                      <a:r>
                        <a:rPr dirty="0" sz="1100" spc="6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API,</a:t>
                      </a:r>
                      <a:r>
                        <a:rPr dirty="0" sz="1100" spc="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Swagger,</a:t>
                      </a:r>
                      <a:r>
                        <a:rPr dirty="0" sz="1100" spc="5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Webpack,</a:t>
                      </a:r>
                      <a:r>
                        <a:rPr dirty="0" sz="1100" spc="5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Npm,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CI/CD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Gitlab,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Agile,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Scrum,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Kanban,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Jira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1750">
                        <a:lnSpc>
                          <a:spcPts val="1240"/>
                        </a:lnSpc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Team:</a:t>
                      </a:r>
                      <a:r>
                        <a:rPr dirty="0" sz="1100" spc="-2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14</a:t>
                      </a:r>
                      <a:r>
                        <a:rPr dirty="0" sz="1100" spc="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members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88950" marR="35560" indent="-228600">
                        <a:lnSpc>
                          <a:spcPts val="1250"/>
                        </a:lnSpc>
                        <a:spcBef>
                          <a:spcPts val="315"/>
                        </a:spcBef>
                        <a:buFont typeface="Symbol"/>
                        <a:buChar char=""/>
                        <a:tabLst>
                          <a:tab pos="4889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Designed</a:t>
                      </a:r>
                      <a:r>
                        <a:rPr dirty="0" sz="1100" spc="27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dirty="0" sz="1100" spc="30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implemented</a:t>
                      </a:r>
                      <a:r>
                        <a:rPr dirty="0" sz="1100" spc="27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dirty="0" sz="1100" spc="3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interfaces</a:t>
                      </a:r>
                      <a:r>
                        <a:rPr dirty="0" sz="1100" spc="30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(profiles,</a:t>
                      </a:r>
                      <a:r>
                        <a:rPr dirty="0" sz="1100" spc="3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chats,</a:t>
                      </a:r>
                      <a:r>
                        <a:rPr dirty="0" sz="1100" spc="3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events,</a:t>
                      </a:r>
                      <a:r>
                        <a:rPr dirty="0" sz="1100" spc="3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booking,</a:t>
                      </a:r>
                      <a:r>
                        <a:rPr dirty="0" sz="1100" spc="3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billing)</a:t>
                      </a:r>
                      <a:r>
                        <a:rPr dirty="0" sz="1100" spc="3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with</a:t>
                      </a:r>
                      <a:r>
                        <a:rPr dirty="0" sz="1100" spc="27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improved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validation, error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handling,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enhanced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UX.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88950" marR="27305" indent="-228600">
                        <a:lnSpc>
                          <a:spcPts val="1270"/>
                        </a:lnSpc>
                        <a:spcBef>
                          <a:spcPts val="80"/>
                        </a:spcBef>
                        <a:buFont typeface="Symbol"/>
                        <a:buChar char=""/>
                        <a:tabLst>
                          <a:tab pos="4889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Developed</a:t>
                      </a:r>
                      <a:r>
                        <a:rPr dirty="0" sz="1100" spc="2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dirty="0" sz="1100" spc="2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configured</a:t>
                      </a:r>
                      <a:r>
                        <a:rPr dirty="0" sz="1100" spc="2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admin</a:t>
                      </a:r>
                      <a:r>
                        <a:rPr dirty="0" sz="1100" spc="2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panels</a:t>
                      </a:r>
                      <a:r>
                        <a:rPr dirty="0" sz="1100" spc="26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using</a:t>
                      </a:r>
                      <a:r>
                        <a:rPr dirty="0" sz="1100" spc="2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feature</a:t>
                      </a:r>
                      <a:r>
                        <a:rPr dirty="0" sz="1100" spc="229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flags</a:t>
                      </a:r>
                      <a:r>
                        <a:rPr dirty="0" sz="1100" spc="26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dirty="0" sz="1100" spc="2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role-based</a:t>
                      </a:r>
                      <a:r>
                        <a:rPr dirty="0" sz="1100" spc="2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access,</a:t>
                      </a:r>
                      <a:r>
                        <a:rPr dirty="0" sz="1100" spc="27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ensuring</a:t>
                      </a:r>
                      <a:r>
                        <a:rPr dirty="0" sz="1100" spc="2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flexible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functionality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management.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88950" marR="34290" indent="-228600">
                        <a:lnSpc>
                          <a:spcPts val="1270"/>
                        </a:lnSpc>
                        <a:spcBef>
                          <a:spcPts val="75"/>
                        </a:spcBef>
                        <a:buFont typeface="Symbol"/>
                        <a:buChar char=""/>
                        <a:tabLst>
                          <a:tab pos="4889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Delivered</a:t>
                      </a:r>
                      <a:r>
                        <a:rPr dirty="0" sz="1100" spc="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9</a:t>
                      </a:r>
                      <a:r>
                        <a:rPr dirty="0" sz="1100" spc="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customized</a:t>
                      </a:r>
                      <a:r>
                        <a:rPr dirty="0" sz="1100" spc="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platform</a:t>
                      </a:r>
                      <a:r>
                        <a:rPr dirty="0" sz="1100" spc="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versions</a:t>
                      </a:r>
                      <a:r>
                        <a:rPr dirty="0" sz="1100" spc="5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dirty="0" sz="1100" spc="6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different</a:t>
                      </a:r>
                      <a:r>
                        <a:rPr dirty="0" sz="1100" spc="7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clients</a:t>
                      </a:r>
                      <a:r>
                        <a:rPr dirty="0" sz="1100" spc="5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(UI/UX</a:t>
                      </a:r>
                      <a:r>
                        <a:rPr dirty="0" sz="1100" spc="4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adaptation,</a:t>
                      </a:r>
                      <a:r>
                        <a:rPr dirty="0" sz="1100" spc="6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branding)</a:t>
                      </a:r>
                      <a:r>
                        <a:rPr dirty="0" sz="1100" spc="4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aligned</a:t>
                      </a:r>
                      <a:r>
                        <a:rPr dirty="0" sz="1100" spc="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with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corporate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styles.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88950" marR="34290" indent="-228600">
                        <a:lnSpc>
                          <a:spcPts val="1250"/>
                        </a:lnSpc>
                        <a:spcBef>
                          <a:spcPts val="95"/>
                        </a:spcBef>
                        <a:buFont typeface="Symbol"/>
                        <a:buChar char=""/>
                        <a:tabLst>
                          <a:tab pos="4889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Contributed</a:t>
                      </a:r>
                      <a:r>
                        <a:rPr dirty="0" sz="1100" spc="9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dirty="0" sz="1100" spc="1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integrating</a:t>
                      </a:r>
                      <a:r>
                        <a:rPr dirty="0" sz="1100" spc="1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multiple</a:t>
                      </a:r>
                      <a:r>
                        <a:rPr dirty="0" sz="1100" spc="8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projects</a:t>
                      </a:r>
                      <a:r>
                        <a:rPr dirty="0" sz="1100" spc="1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into</a:t>
                      </a:r>
                      <a:r>
                        <a:rPr dirty="0" sz="1100" spc="9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</a:t>
                      </a:r>
                      <a:r>
                        <a:rPr dirty="0" sz="1100" spc="15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monorepo,</a:t>
                      </a:r>
                      <a:r>
                        <a:rPr dirty="0" sz="1100" spc="1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simplifying</a:t>
                      </a:r>
                      <a:r>
                        <a:rPr dirty="0" sz="1100" spc="12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development</a:t>
                      </a:r>
                      <a:r>
                        <a:rPr dirty="0" sz="1100" spc="1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dirty="0" sz="1100" spc="9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accelerating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releases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(by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30–40%).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88315" indent="-227965">
                        <a:lnSpc>
                          <a:spcPts val="1315"/>
                        </a:lnSpc>
                        <a:buFont typeface="Symbol"/>
                        <a:buChar char=""/>
                        <a:tabLst>
                          <a:tab pos="488315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Participated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code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reviews,</a:t>
                      </a:r>
                      <a:r>
                        <a:rPr dirty="0" sz="1100" spc="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UI-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kit development,</a:t>
                      </a:r>
                      <a:r>
                        <a:rPr dirty="0" sz="1100" spc="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improving development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processes.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88950" marR="30480" indent="-228600">
                        <a:lnSpc>
                          <a:spcPts val="1270"/>
                        </a:lnSpc>
                        <a:spcBef>
                          <a:spcPts val="105"/>
                        </a:spcBef>
                        <a:buFont typeface="Symbol"/>
                        <a:buChar char=""/>
                        <a:tabLst>
                          <a:tab pos="488950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Represented</a:t>
                      </a:r>
                      <a:r>
                        <a:rPr dirty="0" sz="1100" spc="19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dirty="0" sz="1100" spc="18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frontend</a:t>
                      </a:r>
                      <a:r>
                        <a:rPr dirty="0" sz="1100" spc="19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team</a:t>
                      </a:r>
                      <a:r>
                        <a:rPr dirty="0" sz="1100" spc="18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dirty="0" sz="1100" spc="19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daily</a:t>
                      </a:r>
                      <a:r>
                        <a:rPr dirty="0" sz="1100" spc="19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stand-ups,</a:t>
                      </a:r>
                      <a:r>
                        <a:rPr dirty="0" sz="1100" spc="2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handled</a:t>
                      </a:r>
                      <a:r>
                        <a:rPr dirty="0" sz="1100" spc="19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releases,</a:t>
                      </a:r>
                      <a:r>
                        <a:rPr dirty="0" sz="1100" spc="2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participated</a:t>
                      </a:r>
                      <a:r>
                        <a:rPr dirty="0" sz="1100" spc="20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dirty="0" sz="1100" spc="19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planning</a:t>
                      </a:r>
                      <a:r>
                        <a:rPr dirty="0" sz="1100" spc="19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dirty="0" sz="1100" spc="20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0">
                          <a:latin typeface="Times New Roman"/>
                          <a:cs typeface="Times New Roman"/>
                        </a:rPr>
                        <a:t>task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estimation,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coordinated</a:t>
                      </a:r>
                      <a:r>
                        <a:rPr dirty="0" sz="1100" spc="-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work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with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other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teams.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1778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28702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535"/>
                        </a:spcBef>
                      </a:pP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Freelance</a:t>
                      </a:r>
                      <a:r>
                        <a:rPr dirty="0" u="sng" sz="1200" spc="-35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–</a:t>
                      </a:r>
                      <a:r>
                        <a:rPr dirty="0" u="sng" sz="1200" spc="-3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Frontend</a:t>
                      </a:r>
                      <a:r>
                        <a:rPr dirty="0" u="sng" sz="1200" spc="-25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200" spc="-10" b="1">
                          <a:uFill>
                            <a:solidFill>
                              <a:srgbClr val="000000"/>
                            </a:solidFill>
                          </a:uFill>
                          <a:latin typeface="Times New Roman"/>
                          <a:cs typeface="Times New Roman"/>
                        </a:rPr>
                        <a:t>developer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67945"/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dirty="0" sz="1200" b="1">
                          <a:latin typeface="Times New Roman"/>
                          <a:cs typeface="Times New Roman"/>
                        </a:rPr>
                        <a:t>12.2023</a:t>
                      </a:r>
                      <a:r>
                        <a:rPr dirty="0" sz="1200" spc="2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200" b="1">
                          <a:latin typeface="Times New Roman"/>
                          <a:cs typeface="Times New Roman"/>
                        </a:rPr>
                        <a:t>–</a:t>
                      </a:r>
                      <a:r>
                        <a:rPr dirty="0" sz="1200" spc="-10" b="1">
                          <a:latin typeface="Times New Roman"/>
                          <a:cs typeface="Times New Roman"/>
                        </a:rPr>
                        <a:t> 06.2024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71120"/>
                </a:tc>
              </a:tr>
              <a:tr h="692150">
                <a:tc gridSpan="2">
                  <a:txBody>
                    <a:bodyPr/>
                    <a:lstStyle/>
                    <a:p>
                      <a:pPr marL="31750">
                        <a:lnSpc>
                          <a:spcPts val="1295"/>
                        </a:lnSpc>
                        <a:spcBef>
                          <a:spcPts val="125"/>
                        </a:spcBef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Project:</a:t>
                      </a:r>
                      <a:r>
                        <a:rPr dirty="0" sz="1100" spc="-25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u="sng" sz="110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Times New Roman"/>
                          <a:cs typeface="Times New Roman"/>
                          <a:hlinkClick r:id="rId6"/>
                        </a:rPr>
                        <a:t>cctv-</a:t>
                      </a:r>
                      <a:r>
                        <a:rPr dirty="0" u="sng" sz="1100" spc="-1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Times New Roman"/>
                          <a:cs typeface="Times New Roman"/>
                          <a:hlinkClick r:id="rId6"/>
                        </a:rPr>
                        <a:t>montaj.ru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1750">
                        <a:lnSpc>
                          <a:spcPts val="1270"/>
                        </a:lnSpc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Description:</a:t>
                      </a:r>
                      <a:r>
                        <a:rPr dirty="0" sz="1100" spc="-1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Website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dirty="0" sz="1100" spc="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</a:t>
                      </a:r>
                      <a:r>
                        <a:rPr dirty="0" sz="1100" spc="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company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specializing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CCTV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installation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1750">
                        <a:lnSpc>
                          <a:spcPts val="1295"/>
                        </a:lnSpc>
                      </a:pPr>
                      <a:r>
                        <a:rPr dirty="0" sz="1100" b="1">
                          <a:latin typeface="Times New Roman"/>
                          <a:cs typeface="Times New Roman"/>
                        </a:rPr>
                        <a:t>Tech</a:t>
                      </a:r>
                      <a:r>
                        <a:rPr dirty="0" sz="1100" spc="-60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b="1">
                          <a:latin typeface="Times New Roman"/>
                          <a:cs typeface="Times New Roman"/>
                        </a:rPr>
                        <a:t>stack:</a:t>
                      </a:r>
                      <a:r>
                        <a:rPr dirty="0" sz="1100" spc="-25" b="1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HTML5,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CSS3,</a:t>
                      </a:r>
                      <a:r>
                        <a:rPr dirty="0" sz="1100" spc="-3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SCSS,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JS,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jQuery,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PHP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488315" indent="-227965">
                        <a:lnSpc>
                          <a:spcPts val="1240"/>
                        </a:lnSpc>
                        <a:spcBef>
                          <a:spcPts val="120"/>
                        </a:spcBef>
                        <a:buSzPct val="90909"/>
                        <a:buFont typeface="Symbol"/>
                        <a:buChar char=""/>
                        <a:tabLst>
                          <a:tab pos="488315" algn="l"/>
                        </a:tabLst>
                      </a:pPr>
                      <a:r>
                        <a:rPr dirty="0" sz="1100">
                          <a:latin typeface="Times New Roman"/>
                          <a:cs typeface="Times New Roman"/>
                        </a:rPr>
                        <a:t>Implemented</a:t>
                      </a:r>
                      <a:r>
                        <a:rPr dirty="0" sz="1100" spc="-3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responsive</a:t>
                      </a:r>
                      <a:r>
                        <a:rPr dirty="0" sz="1100" spc="-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layouts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dirty="0" sz="1100" spc="-2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interactive</a:t>
                      </a:r>
                      <a:r>
                        <a:rPr dirty="0" sz="1100" spc="-1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elements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(burger</a:t>
                      </a:r>
                      <a:r>
                        <a:rPr dirty="0" sz="1100" spc="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menus,</a:t>
                      </a:r>
                      <a:r>
                        <a:rPr dirty="0" sz="1100" spc="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pop-ups,</a:t>
                      </a:r>
                      <a:r>
                        <a:rPr dirty="0" sz="1100" spc="1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forms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>
                          <a:latin typeface="Times New Roman"/>
                          <a:cs typeface="Times New Roman"/>
                        </a:rPr>
                        <a:t>with</a:t>
                      </a:r>
                      <a:r>
                        <a:rPr dirty="0" sz="1100" spc="-5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dirty="0" sz="1100" spc="-10">
                          <a:latin typeface="Times New Roman"/>
                          <a:cs typeface="Times New Roman"/>
                        </a:rPr>
                        <a:t>validation)</a:t>
                      </a: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15875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</a:tbl>
          </a:graphicData>
        </a:graphic>
      </p:graphicFrame>
      <p:sp>
        <p:nvSpPr>
          <p:cNvPr id="4" name="object 4" descr=""/>
          <p:cNvSpPr txBox="1"/>
          <p:nvPr/>
        </p:nvSpPr>
        <p:spPr>
          <a:xfrm>
            <a:off x="618540" y="7615554"/>
            <a:ext cx="6415405" cy="223075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10" b="1">
                <a:latin typeface="Times New Roman"/>
                <a:cs typeface="Times New Roman"/>
              </a:rPr>
              <a:t>EDUCATION</a:t>
            </a:r>
            <a:endParaRPr sz="1400">
              <a:latin typeface="Times New Roman"/>
              <a:cs typeface="Times New Roman"/>
            </a:endParaRPr>
          </a:p>
          <a:p>
            <a:pPr marL="12700" marR="255270">
              <a:lnSpc>
                <a:spcPts val="1270"/>
              </a:lnSpc>
              <a:spcBef>
                <a:spcPts val="145"/>
              </a:spcBef>
            </a:pPr>
            <a:r>
              <a:rPr dirty="0" sz="1100" b="1">
                <a:latin typeface="Times New Roman"/>
                <a:cs typeface="Times New Roman"/>
              </a:rPr>
              <a:t>Gomel</a:t>
            </a:r>
            <a:r>
              <a:rPr dirty="0" sz="1100" spc="-30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State</a:t>
            </a:r>
            <a:r>
              <a:rPr dirty="0" sz="1100" spc="-25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Technical</a:t>
            </a:r>
            <a:r>
              <a:rPr dirty="0" sz="1100" spc="-30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University</a:t>
            </a:r>
            <a:r>
              <a:rPr dirty="0" sz="1100" spc="15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named</a:t>
            </a:r>
            <a:r>
              <a:rPr dirty="0" sz="1100" spc="-25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after P.O.</a:t>
            </a:r>
            <a:r>
              <a:rPr dirty="0" sz="1100" spc="-25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Sukhoi,</a:t>
            </a:r>
            <a:r>
              <a:rPr dirty="0" sz="1100" spc="5" b="1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«Production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Organization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and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Management», </a:t>
            </a:r>
            <a:r>
              <a:rPr dirty="0" sz="1100">
                <a:latin typeface="Times New Roman"/>
                <a:cs typeface="Times New Roman"/>
              </a:rPr>
              <a:t>Bachelor`s</a:t>
            </a:r>
            <a:r>
              <a:rPr dirty="0" sz="1100" spc="-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degree</a:t>
            </a:r>
            <a:r>
              <a:rPr dirty="0" sz="1100" spc="-3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(2008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–</a:t>
            </a:r>
            <a:r>
              <a:rPr dirty="0" sz="1100" spc="-5">
                <a:latin typeface="Times New Roman"/>
                <a:cs typeface="Times New Roman"/>
              </a:rPr>
              <a:t> </a:t>
            </a:r>
            <a:r>
              <a:rPr dirty="0" sz="1100" spc="-20">
                <a:latin typeface="Times New Roman"/>
                <a:cs typeface="Times New Roman"/>
              </a:rPr>
              <a:t>2013)</a:t>
            </a: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ts val="1190"/>
              </a:lnSpc>
            </a:pPr>
            <a:r>
              <a:rPr dirty="0" sz="1100" b="1">
                <a:latin typeface="Times New Roman"/>
                <a:cs typeface="Times New Roman"/>
              </a:rPr>
              <a:t>«RS</a:t>
            </a:r>
            <a:r>
              <a:rPr dirty="0" sz="1100" spc="-20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School»</a:t>
            </a:r>
            <a:r>
              <a:rPr dirty="0" sz="1100">
                <a:latin typeface="Times New Roman"/>
                <a:cs typeface="Times New Roman"/>
              </a:rPr>
              <a:t>,</a:t>
            </a:r>
            <a:r>
              <a:rPr dirty="0" sz="1100" spc="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online</a:t>
            </a:r>
            <a:r>
              <a:rPr dirty="0" sz="1100" spc="-4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training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course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«UpSkill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Me»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(JS/Front-</a:t>
            </a:r>
            <a:r>
              <a:rPr dirty="0" sz="1100">
                <a:latin typeface="Times New Roman"/>
                <a:cs typeface="Times New Roman"/>
              </a:rPr>
              <a:t>End)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(Dec,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2022—Aug,</a:t>
            </a:r>
            <a:r>
              <a:rPr dirty="0" sz="1100" spc="10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2023)</a:t>
            </a: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ts val="1295"/>
              </a:lnSpc>
            </a:pPr>
            <a:r>
              <a:rPr dirty="0" sz="1100" b="1">
                <a:latin typeface="Times New Roman"/>
                <a:cs typeface="Times New Roman"/>
              </a:rPr>
              <a:t>«EPAM</a:t>
            </a:r>
            <a:r>
              <a:rPr dirty="0" sz="1100" spc="-25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Learn</a:t>
            </a:r>
            <a:r>
              <a:rPr dirty="0" sz="1100" spc="-30" b="1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Platform»</a:t>
            </a:r>
            <a:r>
              <a:rPr dirty="0" sz="1100">
                <a:latin typeface="Times New Roman"/>
                <a:cs typeface="Times New Roman"/>
              </a:rPr>
              <a:t>, online</a:t>
            </a:r>
            <a:r>
              <a:rPr dirty="0" sz="1100" spc="-4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training</a:t>
            </a:r>
            <a:r>
              <a:rPr dirty="0" sz="1100" spc="-3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course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«IT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Fundamentals»</a:t>
            </a:r>
            <a:r>
              <a:rPr dirty="0" sz="1100" spc="-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(Nov,</a:t>
            </a:r>
            <a:r>
              <a:rPr dirty="0" sz="1100" spc="-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2022)</a:t>
            </a: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dirty="0" sz="1400" spc="-10" b="1">
                <a:latin typeface="Times New Roman"/>
                <a:cs typeface="Times New Roman"/>
              </a:rPr>
              <a:t>SKILLS</a:t>
            </a:r>
            <a:endParaRPr sz="1400">
              <a:latin typeface="Times New Roman"/>
              <a:cs typeface="Times New Roman"/>
            </a:endParaRPr>
          </a:p>
          <a:p>
            <a:pPr algn="just" marL="12700" marR="5080">
              <a:lnSpc>
                <a:spcPct val="96500"/>
              </a:lnSpc>
              <a:spcBef>
                <a:spcPts val="105"/>
              </a:spcBef>
            </a:pPr>
            <a:r>
              <a:rPr dirty="0" sz="1100">
                <a:latin typeface="Times New Roman"/>
                <a:cs typeface="Times New Roman"/>
              </a:rPr>
              <a:t>HTML5,</a:t>
            </a:r>
            <a:r>
              <a:rPr dirty="0" sz="1100" spc="19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CSS3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(SCSS,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SASS,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LESS),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JavaScript,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Angular</a:t>
            </a:r>
            <a:r>
              <a:rPr dirty="0" sz="1100" spc="2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2+,</a:t>
            </a:r>
            <a:r>
              <a:rPr dirty="0" sz="1100" spc="18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TypeScript,</a:t>
            </a:r>
            <a:r>
              <a:rPr dirty="0" sz="1100" spc="22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RxJS,</a:t>
            </a:r>
            <a:r>
              <a:rPr dirty="0" sz="1100" spc="22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NgRX,</a:t>
            </a:r>
            <a:r>
              <a:rPr dirty="0" sz="1100" spc="20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Angular</a:t>
            </a:r>
            <a:r>
              <a:rPr dirty="0" sz="1100" spc="204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Material, </a:t>
            </a:r>
            <a:r>
              <a:rPr dirty="0" sz="1100">
                <a:latin typeface="Times New Roman"/>
                <a:cs typeface="Times New Roman"/>
              </a:rPr>
              <a:t>WebSocket,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Git,</a:t>
            </a:r>
            <a:r>
              <a:rPr dirty="0" sz="1100" spc="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Webpack,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GitLab CI/CD,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Swagger,</a:t>
            </a:r>
            <a:r>
              <a:rPr dirty="0" sz="1100" spc="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Npm,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BEM,</a:t>
            </a:r>
            <a:r>
              <a:rPr dirty="0" sz="1100" spc="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OOP,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SOLID,</a:t>
            </a:r>
            <a:r>
              <a:rPr dirty="0" sz="1100" spc="-15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FIRST,</a:t>
            </a:r>
            <a:r>
              <a:rPr dirty="0" sz="1100" spc="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Agile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(Scrum,</a:t>
            </a:r>
            <a:r>
              <a:rPr dirty="0" sz="1100" spc="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Kanban), </a:t>
            </a:r>
            <a:r>
              <a:rPr dirty="0" sz="1100">
                <a:latin typeface="Times New Roman"/>
                <a:cs typeface="Times New Roman"/>
              </a:rPr>
              <a:t>Figma,</a:t>
            </a:r>
            <a:r>
              <a:rPr dirty="0" sz="1100" spc="-2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Photoshop</a:t>
            </a:r>
            <a:endParaRPr sz="11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40"/>
              </a:spcBef>
            </a:pPr>
            <a:r>
              <a:rPr dirty="0" sz="1400" spc="-10" b="1">
                <a:latin typeface="Times New Roman"/>
                <a:cs typeface="Times New Roman"/>
              </a:rPr>
              <a:t>LANGUAGES</a:t>
            </a:r>
            <a:endParaRPr sz="1400">
              <a:latin typeface="Times New Roman"/>
              <a:cs typeface="Times New Roman"/>
            </a:endParaRPr>
          </a:p>
          <a:p>
            <a:pPr algn="just" marL="12700">
              <a:lnSpc>
                <a:spcPct val="100000"/>
              </a:lnSpc>
              <a:spcBef>
                <a:spcPts val="60"/>
              </a:spcBef>
            </a:pPr>
            <a:r>
              <a:rPr dirty="0" sz="1100" b="1">
                <a:latin typeface="Times New Roman"/>
                <a:cs typeface="Times New Roman"/>
              </a:rPr>
              <a:t>Russian</a:t>
            </a:r>
            <a:r>
              <a:rPr dirty="0" sz="1100" spc="-40" b="1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– native,</a:t>
            </a:r>
            <a:r>
              <a:rPr dirty="0" sz="1100" spc="10">
                <a:latin typeface="Times New Roman"/>
                <a:cs typeface="Times New Roman"/>
              </a:rPr>
              <a:t> </a:t>
            </a:r>
            <a:r>
              <a:rPr dirty="0" sz="1100" b="1">
                <a:latin typeface="Times New Roman"/>
                <a:cs typeface="Times New Roman"/>
              </a:rPr>
              <a:t>English</a:t>
            </a:r>
            <a:r>
              <a:rPr dirty="0" sz="1100" spc="-30" b="1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-</a:t>
            </a:r>
            <a:r>
              <a:rPr dirty="0" sz="1100" spc="-10">
                <a:latin typeface="Times New Roman"/>
                <a:cs typeface="Times New Roman"/>
              </a:rPr>
              <a:t> </a:t>
            </a:r>
            <a:r>
              <a:rPr dirty="0" sz="1100">
                <a:latin typeface="Times New Roman"/>
                <a:cs typeface="Times New Roman"/>
              </a:rPr>
              <a:t>B1</a:t>
            </a:r>
            <a:r>
              <a:rPr dirty="0" sz="1100" spc="-5">
                <a:latin typeface="Times New Roman"/>
                <a:cs typeface="Times New Roman"/>
              </a:rPr>
              <a:t> </a:t>
            </a:r>
            <a:r>
              <a:rPr dirty="0" sz="1100" spc="-10">
                <a:latin typeface="Times New Roman"/>
                <a:cs typeface="Times New Roman"/>
              </a:rPr>
              <a:t>(Intermediate)</a:t>
            </a:r>
            <a:endParaRPr sz="11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3ebr0met@gmail.com</dc:creator>
  <dcterms:created xsi:type="dcterms:W3CDTF">2026-01-13T16:12:16Z</dcterms:created>
  <dcterms:modified xsi:type="dcterms:W3CDTF">2026-01-13T16:12:16Z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2025-12-08T00:00:00Z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2026-01-13T00:00:00Z</vt:filetime>
  </property>
  <property fmtid="{D5CDD505-2E9C-101B-9397-08002B2CF9AE}" pid="5" name="Producer">
    <vt:lpwstr>ABBYY FineReader PDF</vt:lpwstr>
  </property>
</Properties>
</file>