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12952" y="1039621"/>
            <a:ext cx="6428105" cy="9525"/>
          </a:xfrm>
          <a:custGeom>
            <a:avLst/>
            <a:gdLst/>
            <a:ahLst/>
            <a:cxnLst/>
            <a:rect l="l" t="t" r="r" b="b"/>
            <a:pathLst>
              <a:path w="6428105" h="9525">
                <a:moveTo>
                  <a:pt x="6427597" y="0"/>
                </a:moveTo>
                <a:lnTo>
                  <a:pt x="0" y="0"/>
                </a:lnTo>
                <a:lnTo>
                  <a:pt x="0" y="9144"/>
                </a:lnTo>
                <a:lnTo>
                  <a:pt x="6427597" y="9144"/>
                </a:lnTo>
                <a:lnTo>
                  <a:pt x="64275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t.me/nick_konstantinov" TargetMode="External"/><Relationship Id="rId3" Type="http://schemas.openxmlformats.org/officeDocument/2006/relationships/hyperlink" Target="mailto:nick.konstantinov.job@gmail.com" TargetMode="External"/><Relationship Id="rId4" Type="http://schemas.openxmlformats.org/officeDocument/2006/relationships/hyperlink" Target="http://www.linkedin.com/in/mikita-kanstantsinau-81b656262" TargetMode="External"/><Relationship Id="rId5" Type="http://schemas.openxmlformats.org/officeDocument/2006/relationships/hyperlink" Target="https://github.com/nick-konstantinov" TargetMode="External"/><Relationship Id="rId6" Type="http://schemas.openxmlformats.org/officeDocument/2006/relationships/hyperlink" Target="https://github.com/ShareBookCode/FrontEnd" TargetMode="External"/><Relationship Id="rId7" Type="http://schemas.openxmlformats.org/officeDocument/2006/relationships/hyperlink" Target="https://cctv-montaj.ru/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t.me/nick_konstantinov" TargetMode="External"/><Relationship Id="rId3" Type="http://schemas.openxmlformats.org/officeDocument/2006/relationships/hyperlink" Target="mailto:nick.konstantinov.job@gmail.com" TargetMode="External"/><Relationship Id="rId4" Type="http://schemas.openxmlformats.org/officeDocument/2006/relationships/hyperlink" Target="http://www.linkedin.com/in/mikita-kanstantsinau-81b656262" TargetMode="External"/><Relationship Id="rId5" Type="http://schemas.openxmlformats.org/officeDocument/2006/relationships/hyperlink" Target="https://github.com/nick-konstantinov" TargetMode="External"/><Relationship Id="rId6" Type="http://schemas.openxmlformats.org/officeDocument/2006/relationships/hyperlink" Target="https://github.com/ShareBookCode/FrontEnd" TargetMode="External"/><Relationship Id="rId7" Type="http://schemas.openxmlformats.org/officeDocument/2006/relationships/hyperlink" Target="https://cctv-montaj.ru/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8540" y="331977"/>
            <a:ext cx="6418580" cy="3146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11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Никита</a:t>
            </a:r>
            <a:r>
              <a:rPr dirty="0" sz="1800" spc="-8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Константинов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ts val="1390"/>
              </a:lnSpc>
            </a:pPr>
            <a:r>
              <a:rPr dirty="0" sz="1200" spc="-10">
                <a:latin typeface="Times New Roman"/>
                <a:cs typeface="Times New Roman"/>
              </a:rPr>
              <a:t>Frontend-</a:t>
            </a:r>
            <a:r>
              <a:rPr dirty="0" sz="1200">
                <a:latin typeface="Times New Roman"/>
                <a:cs typeface="Times New Roman"/>
              </a:rPr>
              <a:t>разработчик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(Angular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|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React)</a:t>
            </a: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dirty="0" sz="950">
                <a:latin typeface="Times New Roman"/>
                <a:cs typeface="Times New Roman"/>
              </a:rPr>
              <a:t>Гомель,</a:t>
            </a:r>
            <a:r>
              <a:rPr dirty="0" sz="950" spc="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Беларусь</a:t>
            </a:r>
            <a:r>
              <a:rPr dirty="0" sz="950" spc="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|</a:t>
            </a:r>
            <a:r>
              <a:rPr dirty="0" sz="950" spc="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+</a:t>
            </a:r>
            <a:r>
              <a:rPr dirty="0" sz="950" spc="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375</a:t>
            </a:r>
            <a:r>
              <a:rPr dirty="0" sz="950" spc="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29</a:t>
            </a:r>
            <a:r>
              <a:rPr dirty="0" sz="950" spc="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113</a:t>
            </a:r>
            <a:r>
              <a:rPr dirty="0" sz="950" spc="-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79</a:t>
            </a:r>
            <a:r>
              <a:rPr dirty="0" sz="950" spc="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14</a:t>
            </a:r>
            <a:r>
              <a:rPr dirty="0" sz="950" spc="-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|</a:t>
            </a:r>
            <a:r>
              <a:rPr dirty="0" sz="950" spc="5">
                <a:latin typeface="Times New Roman"/>
                <a:cs typeface="Times New Roman"/>
              </a:rPr>
              <a:t> </a:t>
            </a:r>
            <a:r>
              <a:rPr dirty="0" u="sng" sz="95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Telegram</a:t>
            </a:r>
            <a:r>
              <a:rPr dirty="0" u="sng" sz="950" spc="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|</a:t>
            </a:r>
            <a:r>
              <a:rPr dirty="0" sz="950" spc="5">
                <a:latin typeface="Times New Roman"/>
                <a:cs typeface="Times New Roman"/>
              </a:rPr>
              <a:t> </a:t>
            </a:r>
            <a:r>
              <a:rPr dirty="0" u="sng" sz="95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3"/>
              </a:rPr>
              <a:t>nick.konstantinov.job@gmail.com</a:t>
            </a:r>
            <a:r>
              <a:rPr dirty="0" sz="950" spc="5">
                <a:solidFill>
                  <a:srgbClr val="0462C1"/>
                </a:solidFill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|</a:t>
            </a:r>
            <a:r>
              <a:rPr dirty="0" sz="950" spc="5">
                <a:latin typeface="Times New Roman"/>
                <a:cs typeface="Times New Roman"/>
              </a:rPr>
              <a:t> </a:t>
            </a:r>
            <a:r>
              <a:rPr dirty="0" u="sng" sz="95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LinkedIn</a:t>
            </a:r>
            <a:r>
              <a:rPr dirty="0" u="sng" sz="950" spc="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|</a:t>
            </a:r>
            <a:r>
              <a:rPr dirty="0" sz="950" spc="5">
                <a:latin typeface="Times New Roman"/>
                <a:cs typeface="Times New Roman"/>
              </a:rPr>
              <a:t> </a:t>
            </a:r>
            <a:r>
              <a:rPr dirty="0" u="sng" sz="95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5"/>
              </a:rPr>
              <a:t>GitHub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1400" spc="-10" b="1">
                <a:latin typeface="Times New Roman"/>
                <a:cs typeface="Times New Roman"/>
              </a:rPr>
              <a:t>ПРОФИЛЬ</a:t>
            </a:r>
            <a:endParaRPr sz="1400">
              <a:latin typeface="Times New Roman"/>
              <a:cs typeface="Times New Roman"/>
            </a:endParaRPr>
          </a:p>
          <a:p>
            <a:pPr algn="just" marL="12700" marR="8255">
              <a:lnSpc>
                <a:spcPct val="96500"/>
              </a:lnSpc>
              <a:spcBef>
                <a:spcPts val="300"/>
              </a:spcBef>
            </a:pPr>
            <a:r>
              <a:rPr dirty="0" sz="1100" spc="-10">
                <a:latin typeface="Times New Roman"/>
                <a:cs typeface="Times New Roman"/>
              </a:rPr>
              <a:t>Angular-</a:t>
            </a:r>
            <a:r>
              <a:rPr dirty="0" sz="1100">
                <a:latin typeface="Times New Roman"/>
                <a:cs typeface="Times New Roman"/>
              </a:rPr>
              <a:t>разработчик</a:t>
            </a:r>
            <a:r>
              <a:rPr dirty="0" sz="1100" spc="3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с</a:t>
            </a:r>
            <a:r>
              <a:rPr dirty="0" sz="1100" spc="3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опытом</a:t>
            </a:r>
            <a:r>
              <a:rPr dirty="0" sz="1100" spc="3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создания</a:t>
            </a:r>
            <a:r>
              <a:rPr dirty="0" sz="1100" spc="3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интерфейсов,</a:t>
            </a:r>
            <a:r>
              <a:rPr dirty="0" sz="1100" spc="3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админ-панелей</a:t>
            </a:r>
            <a:r>
              <a:rPr dirty="0" sz="1100" spc="3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и</a:t>
            </a:r>
            <a:r>
              <a:rPr dirty="0" sz="1100" spc="3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кастомизации</a:t>
            </a:r>
            <a:r>
              <a:rPr dirty="0" sz="1100" spc="3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веб-платформ. </a:t>
            </a:r>
            <a:r>
              <a:rPr dirty="0" sz="1100">
                <a:latin typeface="Times New Roman"/>
                <a:cs typeface="Times New Roman"/>
              </a:rPr>
              <a:t>Участвую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в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планировании,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проработке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требований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и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взаимодействии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между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командами.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Представляю </a:t>
            </a:r>
            <a:r>
              <a:rPr dirty="0" sz="1100">
                <a:latin typeface="Times New Roman"/>
                <a:cs typeface="Times New Roman"/>
              </a:rPr>
              <a:t>фронтенд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на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дейликах,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участвую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в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релизах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и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код-ревью.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400" b="1">
                <a:latin typeface="Times New Roman"/>
                <a:cs typeface="Times New Roman"/>
              </a:rPr>
              <a:t>КЛЮЧЕВЫЕ</a:t>
            </a:r>
            <a:r>
              <a:rPr dirty="0" sz="1400" spc="-8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ДОСТИЖЕНИЯ</a:t>
            </a:r>
            <a:endParaRPr sz="14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320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Реализовал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40+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фич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(профили,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чаты,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мероприятия,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биллинг,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админки).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Исправил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80+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багов,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значительно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улучшив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стабильность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платформы.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Выполнил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9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кастомизаций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веб-</a:t>
            </a:r>
            <a:r>
              <a:rPr dirty="0" sz="1100">
                <a:latin typeface="Times New Roman"/>
                <a:cs typeface="Times New Roman"/>
              </a:rPr>
              <a:t>приложений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под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брендинг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разных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клиентов.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Оптимизировал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загрузку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модулей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за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счёт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lazy-loading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(ускорение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более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20%).</a:t>
            </a:r>
            <a:endParaRPr sz="1100">
              <a:latin typeface="Times New Roman"/>
              <a:cs typeface="Times New Roman"/>
            </a:endParaRPr>
          </a:p>
          <a:p>
            <a:pPr marL="469265" marR="5080" indent="-228600">
              <a:lnSpc>
                <a:spcPts val="1270"/>
              </a:lnSpc>
              <a:spcBef>
                <a:spcPts val="110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Участвовал</a:t>
            </a:r>
            <a:r>
              <a:rPr dirty="0" sz="1100" spc="3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в</a:t>
            </a:r>
            <a:r>
              <a:rPr dirty="0" sz="1100" spc="3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миграции</a:t>
            </a:r>
            <a:r>
              <a:rPr dirty="0" sz="1100" spc="3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фронтенда</a:t>
            </a:r>
            <a:r>
              <a:rPr dirty="0" sz="1100" spc="4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в</a:t>
            </a:r>
            <a:r>
              <a:rPr dirty="0" sz="1100" spc="40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монорепозиторий</a:t>
            </a:r>
            <a:r>
              <a:rPr dirty="0" sz="1100" spc="4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3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сокращение</a:t>
            </a:r>
            <a:r>
              <a:rPr dirty="0" sz="1100" spc="3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дублирования</a:t>
            </a:r>
            <a:r>
              <a:rPr dirty="0" sz="1100" spc="3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кода</a:t>
            </a:r>
            <a:r>
              <a:rPr dirty="0" sz="1100" spc="440">
                <a:latin typeface="Times New Roman"/>
                <a:cs typeface="Times New Roman"/>
              </a:rPr>
              <a:t> </a:t>
            </a:r>
            <a:r>
              <a:rPr dirty="0" sz="1100" spc="-50">
                <a:latin typeface="Times New Roman"/>
                <a:cs typeface="Times New Roman"/>
              </a:rPr>
              <a:t>и </a:t>
            </a:r>
            <a:r>
              <a:rPr dirty="0" sz="1100">
                <a:latin typeface="Times New Roman"/>
                <a:cs typeface="Times New Roman"/>
              </a:rPr>
              <a:t>ускорение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интеграции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на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30-</a:t>
            </a:r>
            <a:r>
              <a:rPr dirty="0" sz="1100" spc="-20">
                <a:latin typeface="Times New Roman"/>
                <a:cs typeface="Times New Roman"/>
              </a:rPr>
              <a:t>40%.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400" b="1">
                <a:latin typeface="Times New Roman"/>
                <a:cs typeface="Times New Roman"/>
              </a:rPr>
              <a:t>ОПЫТ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РАБОТЫ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(2,5+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года)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575106" y="3516587"/>
          <a:ext cx="6579234" cy="6249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7080"/>
                <a:gridCol w="1925954"/>
              </a:tblGrid>
              <a:tr h="200660">
                <a:tc>
                  <a:txBody>
                    <a:bodyPr/>
                    <a:lstStyle/>
                    <a:p>
                      <a:pPr marL="31750">
                        <a:lnSpc>
                          <a:spcPts val="1310"/>
                        </a:lnSpc>
                      </a:pPr>
                      <a:r>
                        <a:rPr dirty="0" u="sng" sz="120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ShareBook</a:t>
                      </a:r>
                      <a:r>
                        <a:rPr dirty="0" u="sng" sz="1200" spc="-15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20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– </a:t>
                      </a:r>
                      <a:r>
                        <a:rPr dirty="0" u="sng" sz="12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Front-</a:t>
                      </a:r>
                      <a:r>
                        <a:rPr dirty="0" u="sng" sz="120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u="sng" sz="1200" spc="5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2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разработчик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5400">
                        <a:lnSpc>
                          <a:spcPts val="1310"/>
                        </a:lnSpc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04.2026</a:t>
                      </a:r>
                      <a:r>
                        <a:rPr dirty="0" sz="12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по</a:t>
                      </a:r>
                      <a:r>
                        <a:rPr dirty="0" sz="120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 b="1">
                          <a:latin typeface="Times New Roman"/>
                          <a:cs typeface="Times New Roman"/>
                        </a:rPr>
                        <a:t>н.в.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821180">
                <a:tc gridSpan="2">
                  <a:txBody>
                    <a:bodyPr/>
                    <a:lstStyle/>
                    <a:p>
                      <a:pPr marL="31750">
                        <a:lnSpc>
                          <a:spcPts val="1295"/>
                        </a:lnSpc>
                        <a:spcBef>
                          <a:spcPts val="140"/>
                        </a:spcBef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Проект: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Times New Roman"/>
                          <a:cs typeface="Times New Roman"/>
                          <a:hlinkClick r:id="rId6"/>
                        </a:rPr>
                        <a:t>ShareBook</a:t>
                      </a:r>
                      <a:r>
                        <a:rPr dirty="0" sz="1100" spc="-15">
                          <a:solidFill>
                            <a:srgbClr val="0462C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(open-source)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1750" marR="28575">
                        <a:lnSpc>
                          <a:spcPct val="95500"/>
                        </a:lnSpc>
                        <a:spcBef>
                          <a:spcPts val="35"/>
                        </a:spcBef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Описание: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Платформа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для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обмена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книгами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(буккроссинг):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обмен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безвозмездная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отдача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книг 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Технологический</a:t>
                      </a:r>
                      <a:r>
                        <a:rPr dirty="0" sz="11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стек:</a:t>
                      </a:r>
                      <a:r>
                        <a:rPr dirty="0" sz="11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Next.js,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React,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TypeScript,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Redux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Toolkit,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RTK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Query,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SCSS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Modules,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next-intl,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MSW,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Zod,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SVGR,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Feature-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Sliced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Design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1270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Команда: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человек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88315" indent="-227965">
                        <a:lnSpc>
                          <a:spcPct val="100000"/>
                        </a:lnSpc>
                        <a:spcBef>
                          <a:spcPts val="215"/>
                        </a:spcBef>
                        <a:buFont typeface="Symbol"/>
                        <a:buChar char=""/>
                        <a:tabLst>
                          <a:tab pos="48831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Перенёс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страницы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профиля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Next.js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Server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Components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интеграцией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реального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бэкенда.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88950" marR="29209" indent="-228600">
                        <a:lnSpc>
                          <a:spcPts val="1250"/>
                        </a:lnSpc>
                        <a:spcBef>
                          <a:spcPts val="125"/>
                        </a:spcBef>
                        <a:buFont typeface="Symbol"/>
                        <a:buChar char=""/>
                        <a:tabLst>
                          <a:tab pos="488950" algn="l"/>
                          <a:tab pos="1307465" algn="l"/>
                          <a:tab pos="2577465" algn="l"/>
                          <a:tab pos="3262629" algn="l"/>
                          <a:tab pos="3798570" algn="l"/>
                          <a:tab pos="4234180" algn="l"/>
                          <a:tab pos="4453255" algn="l"/>
                          <a:tab pos="5467350" algn="l"/>
                          <a:tab pos="5701665" algn="l"/>
                        </a:tabLst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Разработал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переиспользуемые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виджеты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(лента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книг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грид-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версткой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состояниями загрузки/ошибки/пустоты,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шапка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профиля)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по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методологии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Feature-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Sliced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Design.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88315" indent="-227965">
                        <a:lnSpc>
                          <a:spcPts val="1310"/>
                        </a:lnSpc>
                        <a:buFont typeface="Symbol"/>
                        <a:buChar char=""/>
                        <a:tabLst>
                          <a:tab pos="48831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Реализовал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загрузку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данных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через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RTK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Query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моки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MSW,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вынес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общие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утилиты.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88315" indent="-227965">
                        <a:lnSpc>
                          <a:spcPct val="100000"/>
                        </a:lnSpc>
                        <a:spcBef>
                          <a:spcPts val="25"/>
                        </a:spcBef>
                        <a:buFont typeface="Symbol"/>
                        <a:buChar char=""/>
                        <a:tabLst>
                          <a:tab pos="48831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Заменил</a:t>
                      </a:r>
                      <a:r>
                        <a:rPr dirty="0" sz="110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сторонние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normalize/adaptive-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библиотеки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собственными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SCSS-решениями.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78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232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u="sng" sz="120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CommunityTech</a:t>
                      </a:r>
                      <a:r>
                        <a:rPr dirty="0" u="sng" sz="1200" spc="-2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20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Group –</a:t>
                      </a:r>
                      <a:r>
                        <a:rPr dirty="0" u="sng" sz="1200" spc="-4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20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Middle</a:t>
                      </a:r>
                      <a:r>
                        <a:rPr dirty="0" u="sng" sz="1200" spc="-2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2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Front-</a:t>
                      </a:r>
                      <a:r>
                        <a:rPr dirty="0" u="sng" sz="120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u="sng" sz="12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разработчик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314"/>
                </a:tc>
                <a:tc>
                  <a:txBody>
                    <a:bodyPr/>
                    <a:lstStyle/>
                    <a:p>
                      <a:pPr algn="r" marR="254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06.2024</a:t>
                      </a:r>
                      <a:r>
                        <a:rPr dirty="0" sz="12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по</a:t>
                      </a:r>
                      <a:r>
                        <a:rPr dirty="0" sz="120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 b="1">
                          <a:latin typeface="Times New Roman"/>
                          <a:cs typeface="Times New Roman"/>
                        </a:rPr>
                        <a:t>н.в.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314"/>
                </a:tc>
              </a:tr>
              <a:tr h="2844800">
                <a:tc gridSpan="2">
                  <a:txBody>
                    <a:bodyPr/>
                    <a:lstStyle/>
                    <a:p>
                      <a:pPr marL="31750" marR="26034">
                        <a:lnSpc>
                          <a:spcPts val="1270"/>
                        </a:lnSpc>
                        <a:spcBef>
                          <a:spcPts val="210"/>
                        </a:spcBef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Проекты:</a:t>
                      </a:r>
                      <a:r>
                        <a:rPr dirty="0" sz="1100" spc="-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ClubFirst,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ClubFirts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Ladies,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ClubFirst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Future,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Opora,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Фонд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Будущих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Лидеров,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НАУЗ,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CTG,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VQ,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ТНЭ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team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1205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Описание: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Web-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приложения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для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бизнес-сообществ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1750" marR="36830">
                        <a:lnSpc>
                          <a:spcPts val="1270"/>
                        </a:lnSpc>
                        <a:spcBef>
                          <a:spcPts val="50"/>
                        </a:spcBef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Технологический</a:t>
                      </a:r>
                      <a:r>
                        <a:rPr dirty="0" sz="1100" spc="17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стек:</a:t>
                      </a:r>
                      <a:r>
                        <a:rPr dirty="0" sz="1100" spc="17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Angular,</a:t>
                      </a:r>
                      <a:r>
                        <a:rPr dirty="0" sz="110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TypeScript,</a:t>
                      </a:r>
                      <a:r>
                        <a:rPr dirty="0" sz="110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RxJS,</a:t>
                      </a:r>
                      <a:r>
                        <a:rPr dirty="0" sz="110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NgRX,</a:t>
                      </a:r>
                      <a:r>
                        <a:rPr dirty="0" sz="110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Angular</a:t>
                      </a:r>
                      <a:r>
                        <a:rPr dirty="0" sz="1100" spc="1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Material,</a:t>
                      </a:r>
                      <a:r>
                        <a:rPr dirty="0" sz="110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SCSS,</a:t>
                      </a:r>
                      <a:r>
                        <a:rPr dirty="0" sz="110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REST</a:t>
                      </a:r>
                      <a:r>
                        <a:rPr dirty="0" sz="110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API,</a:t>
                      </a:r>
                      <a:r>
                        <a:rPr dirty="0" sz="110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Swagger,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Webpack,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Npm,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CI/CD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Gitlab,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Agile,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Scrum,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Kanban,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Jira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1240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Команда: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14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человек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11480" marR="27940" indent="-179070">
                        <a:lnSpc>
                          <a:spcPts val="1250"/>
                        </a:lnSpc>
                        <a:spcBef>
                          <a:spcPts val="315"/>
                        </a:spcBef>
                        <a:buFont typeface="Symbol"/>
                        <a:buChar char=""/>
                        <a:tabLst>
                          <a:tab pos="41275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Проектировал</a:t>
                      </a:r>
                      <a:r>
                        <a:rPr dirty="0" sz="1100" spc="16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1100" spc="15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реализовывал</a:t>
                      </a:r>
                      <a:r>
                        <a:rPr dirty="0" sz="1100" spc="15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пользовательские</a:t>
                      </a:r>
                      <a:r>
                        <a:rPr dirty="0" sz="1100" spc="16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интерфейсы</a:t>
                      </a:r>
                      <a:r>
                        <a:rPr dirty="0" sz="1100" spc="165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(профили,</a:t>
                      </a:r>
                      <a:r>
                        <a:rPr dirty="0" sz="1100" spc="155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чаты,</a:t>
                      </a:r>
                      <a:r>
                        <a:rPr dirty="0" sz="1100" spc="15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мероприятия,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бронирования,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биллинг)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улучшенной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валидацией,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обработкой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ошибок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удобным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UX.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11480" marR="27940" indent="-179070">
                        <a:lnSpc>
                          <a:spcPts val="1270"/>
                        </a:lnSpc>
                        <a:spcBef>
                          <a:spcPts val="80"/>
                        </a:spcBef>
                        <a:buFont typeface="Symbol"/>
                        <a:buChar char=""/>
                        <a:tabLst>
                          <a:tab pos="41275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Разрабатывал</a:t>
                      </a:r>
                      <a:r>
                        <a:rPr dirty="0" sz="1100" spc="2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1100" spc="2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настраивал</a:t>
                      </a:r>
                      <a:r>
                        <a:rPr dirty="0" sz="1100" spc="2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админ-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панели</a:t>
                      </a:r>
                      <a:r>
                        <a:rPr dirty="0" sz="1100" spc="3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dirty="0" sz="1100" spc="2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использованием</a:t>
                      </a:r>
                      <a:r>
                        <a:rPr dirty="0" sz="1100" spc="3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feature-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флагов</a:t>
                      </a:r>
                      <a:r>
                        <a:rPr dirty="0" sz="1100" spc="3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1100" spc="3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ролевого</a:t>
                      </a:r>
                      <a:r>
                        <a:rPr dirty="0" sz="11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доступа,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обеспечивая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гибкое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управление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функциональностью.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11480" marR="24765" indent="-179070">
                        <a:lnSpc>
                          <a:spcPts val="1270"/>
                        </a:lnSpc>
                        <a:spcBef>
                          <a:spcPts val="75"/>
                        </a:spcBef>
                        <a:buFont typeface="Symbol"/>
                        <a:buChar char=""/>
                        <a:tabLst>
                          <a:tab pos="41275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Выполнил</a:t>
                      </a:r>
                      <a:r>
                        <a:rPr dirty="0" sz="110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9</a:t>
                      </a:r>
                      <a:r>
                        <a:rPr dirty="0" sz="110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кастомизаций</a:t>
                      </a:r>
                      <a:r>
                        <a:rPr dirty="0" sz="110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платформы</a:t>
                      </a:r>
                      <a:r>
                        <a:rPr dirty="0" sz="110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под</a:t>
                      </a:r>
                      <a:r>
                        <a:rPr dirty="0" sz="110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разных</a:t>
                      </a:r>
                      <a:r>
                        <a:rPr dirty="0" sz="110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клиентов</a:t>
                      </a:r>
                      <a:r>
                        <a:rPr dirty="0" sz="110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(UI/UX</a:t>
                      </a:r>
                      <a:r>
                        <a:rPr dirty="0" sz="110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адаптация,</a:t>
                      </a:r>
                      <a:r>
                        <a:rPr dirty="0" sz="110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брендирование)</a:t>
                      </a:r>
                      <a:r>
                        <a:rPr dirty="0" sz="110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с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адаптацией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под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фирменный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стиль.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11480" marR="31115" indent="-179070">
                        <a:lnSpc>
                          <a:spcPts val="1250"/>
                        </a:lnSpc>
                        <a:spcBef>
                          <a:spcPts val="95"/>
                        </a:spcBef>
                        <a:buFont typeface="Symbol"/>
                        <a:buChar char=""/>
                        <a:tabLst>
                          <a:tab pos="41275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Участвовал</a:t>
                      </a:r>
                      <a:r>
                        <a:rPr dirty="0" sz="110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dirty="0" sz="110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интеграции</a:t>
                      </a:r>
                      <a:r>
                        <a:rPr dirty="0" sz="110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проектов</a:t>
                      </a:r>
                      <a:r>
                        <a:rPr dirty="0" sz="110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dirty="0" sz="110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монорепозиторий:</a:t>
                      </a:r>
                      <a:r>
                        <a:rPr dirty="0" sz="110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упрощение</a:t>
                      </a:r>
                      <a:r>
                        <a:rPr dirty="0" sz="110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разработки,</a:t>
                      </a:r>
                      <a:r>
                        <a:rPr dirty="0" sz="110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ускорение</a:t>
                      </a:r>
                      <a:r>
                        <a:rPr dirty="0" sz="110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релизов 	(30–40%).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11480" indent="-179070">
                        <a:lnSpc>
                          <a:spcPts val="1310"/>
                        </a:lnSpc>
                        <a:buFont typeface="Symbol"/>
                        <a:buChar char=""/>
                        <a:tabLst>
                          <a:tab pos="41148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Участвовал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code-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review, проработке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UI-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kit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процессов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разработки.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11480" marR="32384" indent="-179070">
                        <a:lnSpc>
                          <a:spcPts val="1270"/>
                        </a:lnSpc>
                        <a:spcBef>
                          <a:spcPts val="20"/>
                        </a:spcBef>
                        <a:buFont typeface="Symbol"/>
                        <a:buChar char=""/>
                        <a:tabLst>
                          <a:tab pos="41275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Представлял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фронтенд-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команду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dirty="0" sz="110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дейликах,</a:t>
                      </a:r>
                      <a:r>
                        <a:rPr dirty="0" sz="11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выполнял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релизы,</a:t>
                      </a:r>
                      <a:r>
                        <a:rPr dirty="0" sz="11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участвовал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планировании,</a:t>
                      </a:r>
                      <a:r>
                        <a:rPr dirty="0" sz="110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оценке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задач,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обеспечивал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синхронизацию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другими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командами.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7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06375">
                <a:tc>
                  <a:txBody>
                    <a:bodyPr/>
                    <a:lstStyle/>
                    <a:p>
                      <a:pPr marL="31750">
                        <a:lnSpc>
                          <a:spcPts val="1340"/>
                        </a:lnSpc>
                      </a:pPr>
                      <a:r>
                        <a:rPr dirty="0" u="sng" sz="120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Фриланс</a:t>
                      </a:r>
                      <a:r>
                        <a:rPr dirty="0" u="sng" sz="1200" spc="-25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20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u="sng" sz="1200" spc="-2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20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Frontend</a:t>
                      </a:r>
                      <a:r>
                        <a:rPr dirty="0" u="sng" sz="1200" spc="-15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2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разработчик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365"/>
                        </a:lnSpc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12.2023</a:t>
                      </a:r>
                      <a:r>
                        <a:rPr dirty="0" sz="1200" spc="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 06.2024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853440">
                <a:tc gridSpan="2">
                  <a:txBody>
                    <a:bodyPr/>
                    <a:lstStyle/>
                    <a:p>
                      <a:pPr marL="31750">
                        <a:lnSpc>
                          <a:spcPts val="1295"/>
                        </a:lnSpc>
                        <a:spcBef>
                          <a:spcPts val="125"/>
                        </a:spcBef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Проект:</a:t>
                      </a:r>
                      <a:r>
                        <a:rPr dirty="0" sz="11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Times New Roman"/>
                          <a:cs typeface="Times New Roman"/>
                          <a:hlinkClick r:id="rId7"/>
                        </a:rPr>
                        <a:t>cctv-</a:t>
                      </a:r>
                      <a:r>
                        <a:rPr dirty="0" u="sng" sz="110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Times New Roman"/>
                          <a:cs typeface="Times New Roman"/>
                          <a:hlinkClick r:id="rId7"/>
                        </a:rPr>
                        <a:t>montaj.ru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1270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Описание: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Сайт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для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компании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по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установке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систем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видеонаблюдения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1295"/>
                        </a:lnSpc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Технологический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стек: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HTML5,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CSS3,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SCSS,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JS, jQuery,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PHP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88950" marR="426084" indent="-228600">
                        <a:lnSpc>
                          <a:spcPts val="1270"/>
                        </a:lnSpc>
                        <a:spcBef>
                          <a:spcPts val="90"/>
                        </a:spcBef>
                        <a:buSzPct val="90909"/>
                        <a:buFont typeface="Symbol"/>
                        <a:buChar char=""/>
                        <a:tabLst>
                          <a:tab pos="48895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Реализовал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адаптивную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верстку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интерактивные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элементы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(бургер-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меню,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поп-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апы,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формы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с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валидацией)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87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8540" y="335025"/>
            <a:ext cx="6414135" cy="23736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latin typeface="Times New Roman"/>
                <a:cs typeface="Times New Roman"/>
              </a:rPr>
              <a:t>ОБРАЗОВАНИЕ</a:t>
            </a:r>
            <a:r>
              <a:rPr dirty="0" sz="1400" spc="-6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(ВЫСШЕЕ)</a:t>
            </a:r>
            <a:endParaRPr sz="1400">
              <a:latin typeface="Times New Roman"/>
              <a:cs typeface="Times New Roman"/>
            </a:endParaRPr>
          </a:p>
          <a:p>
            <a:pPr marL="12700" marR="599440">
              <a:lnSpc>
                <a:spcPts val="1270"/>
              </a:lnSpc>
              <a:spcBef>
                <a:spcPts val="145"/>
              </a:spcBef>
            </a:pPr>
            <a:r>
              <a:rPr dirty="0" sz="1100" b="1">
                <a:latin typeface="Times New Roman"/>
                <a:cs typeface="Times New Roman"/>
              </a:rPr>
              <a:t>Гомельский</a:t>
            </a:r>
            <a:r>
              <a:rPr dirty="0" sz="1100" spc="-10" b="1">
                <a:latin typeface="Times New Roman"/>
                <a:cs typeface="Times New Roman"/>
              </a:rPr>
              <a:t> государственный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технический</a:t>
            </a:r>
            <a:r>
              <a:rPr dirty="0" sz="1100" spc="-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университет</a:t>
            </a:r>
            <a:r>
              <a:rPr dirty="0" sz="1100" spc="-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имени</a:t>
            </a:r>
            <a:r>
              <a:rPr dirty="0" sz="1100" spc="-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П.О.Сухого, </a:t>
            </a:r>
            <a:r>
              <a:rPr dirty="0" sz="1100" spc="-10">
                <a:latin typeface="Times New Roman"/>
                <a:cs typeface="Times New Roman"/>
              </a:rPr>
              <a:t>«Организация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0">
                <a:latin typeface="Times New Roman"/>
                <a:cs typeface="Times New Roman"/>
              </a:rPr>
              <a:t>и </a:t>
            </a:r>
            <a:r>
              <a:rPr dirty="0" sz="1100">
                <a:latin typeface="Times New Roman"/>
                <a:cs typeface="Times New Roman"/>
              </a:rPr>
              <a:t>управление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производством»,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Инженер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(2008 –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2013)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05"/>
              </a:lnSpc>
            </a:pPr>
            <a:r>
              <a:rPr dirty="0" sz="1100" b="1">
                <a:latin typeface="Times New Roman"/>
                <a:cs typeface="Times New Roman"/>
              </a:rPr>
              <a:t>«RS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School»</a:t>
            </a:r>
            <a:r>
              <a:rPr dirty="0" sz="1100">
                <a:latin typeface="Times New Roman"/>
                <a:cs typeface="Times New Roman"/>
              </a:rPr>
              <a:t>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онлайн-</a:t>
            </a:r>
            <a:r>
              <a:rPr dirty="0" sz="1100">
                <a:latin typeface="Times New Roman"/>
                <a:cs typeface="Times New Roman"/>
              </a:rPr>
              <a:t>курс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«UpSkill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Me»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(JS/Front-</a:t>
            </a:r>
            <a:r>
              <a:rPr dirty="0" sz="1100">
                <a:latin typeface="Times New Roman"/>
                <a:cs typeface="Times New Roman"/>
              </a:rPr>
              <a:t>End)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(Декабрь,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2022—Август,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2023)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85"/>
              </a:lnSpc>
            </a:pPr>
            <a:r>
              <a:rPr dirty="0" sz="1100" b="1">
                <a:latin typeface="Times New Roman"/>
                <a:cs typeface="Times New Roman"/>
              </a:rPr>
              <a:t>«EPAM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Learn</a:t>
            </a:r>
            <a:r>
              <a:rPr dirty="0" sz="1100" spc="-4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Platform»</a:t>
            </a:r>
            <a:r>
              <a:rPr dirty="0" sz="1100">
                <a:latin typeface="Times New Roman"/>
                <a:cs typeface="Times New Roman"/>
              </a:rPr>
              <a:t>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онлайн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курс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«IT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Fundamentals»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(Ноябрь,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2022)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spc="-10" b="1">
                <a:latin typeface="Times New Roman"/>
                <a:cs typeface="Times New Roman"/>
              </a:rPr>
              <a:t>НАВЫКИ</a:t>
            </a: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ts val="1295"/>
              </a:lnSpc>
              <a:spcBef>
                <a:spcPts val="60"/>
              </a:spcBef>
            </a:pPr>
            <a:r>
              <a:rPr dirty="0" sz="1100" spc="-10">
                <a:latin typeface="Times New Roman"/>
                <a:cs typeface="Times New Roman"/>
              </a:rPr>
              <a:t>HTML5,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CSS3,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JavaScript,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TypeScript,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Angular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2+,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Angular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Material,</a:t>
            </a:r>
            <a:r>
              <a:rPr dirty="0" sz="1100" spc="-10">
                <a:latin typeface="Times New Roman"/>
                <a:cs typeface="Times New Roman"/>
              </a:rPr>
              <a:t> React,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Next.js,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RxJS,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NgRX,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Redux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Toolkit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70"/>
              </a:lnSpc>
              <a:spcBef>
                <a:spcPts val="60"/>
              </a:spcBef>
            </a:pPr>
            <a:r>
              <a:rPr dirty="0" sz="1100">
                <a:latin typeface="Times New Roman"/>
                <a:cs typeface="Times New Roman"/>
              </a:rPr>
              <a:t>/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RTK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Query,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Zod,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WebSocket,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Swagger,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MSW,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SCSS,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Tailwind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CSS,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SVGR,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next-intl,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Vitest,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Jest,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React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Testing </a:t>
            </a:r>
            <a:r>
              <a:rPr dirty="0" sz="1100">
                <a:latin typeface="Times New Roman"/>
                <a:cs typeface="Times New Roman"/>
              </a:rPr>
              <a:t>Library,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Git,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Vite,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Webpack,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Npm,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GitLab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CI/CD,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Accessibility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(a11y),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Performance,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Figma,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Photoshop, </a:t>
            </a:r>
            <a:r>
              <a:rPr dirty="0" sz="1100">
                <a:latin typeface="Times New Roman"/>
                <a:cs typeface="Times New Roman"/>
              </a:rPr>
              <a:t>Claude,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Cursor,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BEM, </a:t>
            </a:r>
            <a:r>
              <a:rPr dirty="0" sz="1100" spc="-10">
                <a:latin typeface="Times New Roman"/>
                <a:cs typeface="Times New Roman"/>
              </a:rPr>
              <a:t>ООП,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SOLID,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FIRST,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FSD,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Agile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(Scrum,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Kanban)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650"/>
              </a:lnSpc>
              <a:spcBef>
                <a:spcPts val="484"/>
              </a:spcBef>
            </a:pPr>
            <a:r>
              <a:rPr dirty="0" sz="1400" spc="-10" b="1">
                <a:latin typeface="Times New Roman"/>
                <a:cs typeface="Times New Roman"/>
              </a:rPr>
              <a:t>ЯЗЫКИ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b="1">
                <a:latin typeface="Times New Roman"/>
                <a:cs typeface="Times New Roman"/>
              </a:rPr>
              <a:t>Русский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родной, </a:t>
            </a:r>
            <a:r>
              <a:rPr dirty="0" sz="1100" spc="-10" b="1">
                <a:latin typeface="Times New Roman"/>
                <a:cs typeface="Times New Roman"/>
              </a:rPr>
              <a:t>Английский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B1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(Средний</a:t>
            </a:r>
            <a:r>
              <a:rPr dirty="0" sz="1100" spc="-10">
                <a:latin typeface="Times New Roman"/>
                <a:cs typeface="Times New Roman"/>
              </a:rPr>
              <a:t> уровень)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8540" y="331977"/>
            <a:ext cx="6415405" cy="3146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11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Mikita</a:t>
            </a:r>
            <a:r>
              <a:rPr dirty="0" sz="1800" spc="-6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Kanstantsinau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ts val="1390"/>
              </a:lnSpc>
            </a:pPr>
            <a:r>
              <a:rPr dirty="0" sz="1200">
                <a:latin typeface="Times New Roman"/>
                <a:cs typeface="Times New Roman"/>
              </a:rPr>
              <a:t>Front-End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Developer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(Angular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|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React)</a:t>
            </a: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dirty="0" sz="950">
                <a:latin typeface="Times New Roman"/>
                <a:cs typeface="Times New Roman"/>
              </a:rPr>
              <a:t>Gomel,</a:t>
            </a:r>
            <a:r>
              <a:rPr dirty="0" sz="950" spc="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Belarus</a:t>
            </a:r>
            <a:r>
              <a:rPr dirty="0" sz="950" spc="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|</a:t>
            </a:r>
            <a:r>
              <a:rPr dirty="0" sz="950" spc="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+</a:t>
            </a:r>
            <a:r>
              <a:rPr dirty="0" sz="950" spc="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375</a:t>
            </a:r>
            <a:r>
              <a:rPr dirty="0" sz="950" spc="-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29</a:t>
            </a:r>
            <a:r>
              <a:rPr dirty="0" sz="950" spc="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113</a:t>
            </a:r>
            <a:r>
              <a:rPr dirty="0" sz="950" spc="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79</a:t>
            </a:r>
            <a:r>
              <a:rPr dirty="0" sz="950" spc="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14</a:t>
            </a:r>
            <a:r>
              <a:rPr dirty="0" sz="950" spc="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|</a:t>
            </a:r>
            <a:r>
              <a:rPr dirty="0" sz="950" spc="10">
                <a:latin typeface="Times New Roman"/>
                <a:cs typeface="Times New Roman"/>
              </a:rPr>
              <a:t> </a:t>
            </a:r>
            <a:r>
              <a:rPr dirty="0" u="sng" sz="95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Telegram</a:t>
            </a:r>
            <a:r>
              <a:rPr dirty="0" u="sng" sz="950" spc="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|</a:t>
            </a:r>
            <a:r>
              <a:rPr dirty="0" sz="950" spc="10">
                <a:latin typeface="Times New Roman"/>
                <a:cs typeface="Times New Roman"/>
              </a:rPr>
              <a:t> </a:t>
            </a:r>
            <a:r>
              <a:rPr dirty="0" u="sng" sz="95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3"/>
              </a:rPr>
              <a:t>nick.konstantinov.job@gmail.com</a:t>
            </a:r>
            <a:r>
              <a:rPr dirty="0" sz="950" spc="5">
                <a:solidFill>
                  <a:srgbClr val="0462C1"/>
                </a:solidFill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|</a:t>
            </a:r>
            <a:r>
              <a:rPr dirty="0" sz="950" spc="10">
                <a:latin typeface="Times New Roman"/>
                <a:cs typeface="Times New Roman"/>
              </a:rPr>
              <a:t> </a:t>
            </a:r>
            <a:r>
              <a:rPr dirty="0" u="sng" sz="95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LinkedIn</a:t>
            </a:r>
            <a:r>
              <a:rPr dirty="0" u="sng" sz="950" spc="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|</a:t>
            </a:r>
            <a:r>
              <a:rPr dirty="0" sz="950" spc="35">
                <a:latin typeface="Times New Roman"/>
                <a:cs typeface="Times New Roman"/>
              </a:rPr>
              <a:t> </a:t>
            </a:r>
            <a:r>
              <a:rPr dirty="0" u="sng" sz="95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5"/>
              </a:rPr>
              <a:t>GitHub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1400" spc="-10" b="1">
                <a:latin typeface="Times New Roman"/>
                <a:cs typeface="Times New Roman"/>
              </a:rPr>
              <a:t>PROFILE</a:t>
            </a:r>
            <a:endParaRPr sz="14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6500"/>
              </a:lnSpc>
              <a:spcBef>
                <a:spcPts val="300"/>
              </a:spcBef>
            </a:pPr>
            <a:r>
              <a:rPr dirty="0" sz="1100">
                <a:latin typeface="Times New Roman"/>
                <a:cs typeface="Times New Roman"/>
              </a:rPr>
              <a:t>Angular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developer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experience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building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interfaces,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panels,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customized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platforms. </a:t>
            </a:r>
            <a:r>
              <a:rPr dirty="0" sz="1100">
                <a:latin typeface="Times New Roman"/>
                <a:cs typeface="Times New Roman"/>
              </a:rPr>
              <a:t>Participate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planning,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refinement,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cross-team</a:t>
            </a:r>
            <a:r>
              <a:rPr dirty="0" sz="1100" spc="-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collaboration.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Represent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frontend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team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daily stand-</a:t>
            </a:r>
            <a:r>
              <a:rPr dirty="0" sz="1100">
                <a:latin typeface="Times New Roman"/>
                <a:cs typeface="Times New Roman"/>
              </a:rPr>
              <a:t>ups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take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releases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reviews.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400" b="1">
                <a:latin typeface="Times New Roman"/>
                <a:cs typeface="Times New Roman"/>
              </a:rPr>
              <a:t>KEY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ACHIEVEMENTS</a:t>
            </a:r>
            <a:endParaRPr sz="14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320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Delivered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40+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(profiles,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chats, events,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billing,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panels).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Fixed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80+ bugs,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significantly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improving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platform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stability.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Completed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9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customizations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match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branding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various</a:t>
            </a:r>
            <a:r>
              <a:rPr dirty="0" sz="1100" spc="-10">
                <a:latin typeface="Times New Roman"/>
                <a:cs typeface="Times New Roman"/>
              </a:rPr>
              <a:t> clients.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Optimized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module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loading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through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lazy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loading, achieving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20%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performance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improvement.</a:t>
            </a:r>
            <a:endParaRPr sz="1100">
              <a:latin typeface="Times New Roman"/>
              <a:cs typeface="Times New Roman"/>
            </a:endParaRPr>
          </a:p>
          <a:p>
            <a:pPr marL="469265" marR="7620" indent="-228600">
              <a:lnSpc>
                <a:spcPts val="1270"/>
              </a:lnSpc>
              <a:spcBef>
                <a:spcPts val="110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Contributed to frontend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migration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a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monorepo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—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reduced code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duplication and accelerated </a:t>
            </a:r>
            <a:r>
              <a:rPr dirty="0" sz="1100" spc="-10">
                <a:latin typeface="Times New Roman"/>
                <a:cs typeface="Times New Roman"/>
              </a:rPr>
              <a:t>integration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30–40%.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400" b="1">
                <a:latin typeface="Times New Roman"/>
                <a:cs typeface="Times New Roman"/>
              </a:rPr>
              <a:t>WORK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EXPERIENCE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(2,5+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years)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575106" y="3516587"/>
          <a:ext cx="6579234" cy="6088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58970"/>
                <a:gridCol w="2044064"/>
              </a:tblGrid>
              <a:tr h="200660">
                <a:tc>
                  <a:txBody>
                    <a:bodyPr/>
                    <a:lstStyle/>
                    <a:p>
                      <a:pPr marL="31750">
                        <a:lnSpc>
                          <a:spcPts val="1310"/>
                        </a:lnSpc>
                      </a:pPr>
                      <a:r>
                        <a:rPr dirty="0" u="sng" sz="120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ShareBook</a:t>
                      </a:r>
                      <a:r>
                        <a:rPr dirty="0" u="sng" sz="1200" spc="-15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20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u="sng" sz="1200" spc="5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2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Front-</a:t>
                      </a:r>
                      <a:r>
                        <a:rPr dirty="0" u="sng" sz="120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u="sng" sz="1200" spc="5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2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developer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ts val="1310"/>
                        </a:lnSpc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04.2026</a:t>
                      </a:r>
                      <a:r>
                        <a:rPr dirty="0" sz="1200" spc="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 Present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821180">
                <a:tc gridSpan="2">
                  <a:txBody>
                    <a:bodyPr/>
                    <a:lstStyle/>
                    <a:p>
                      <a:pPr marL="31750">
                        <a:lnSpc>
                          <a:spcPts val="1295"/>
                        </a:lnSpc>
                        <a:spcBef>
                          <a:spcPts val="140"/>
                        </a:spcBef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Projects: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Times New Roman"/>
                          <a:cs typeface="Times New Roman"/>
                          <a:hlinkClick r:id="rId6"/>
                        </a:rPr>
                        <a:t>ShareBook</a:t>
                      </a:r>
                      <a:r>
                        <a:rPr dirty="0" sz="1100" spc="-20">
                          <a:solidFill>
                            <a:srgbClr val="0462C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(open-source)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1260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Description: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Book-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sharing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(bookcrossing)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platform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exchanging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giving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away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books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1750" marR="29845">
                        <a:lnSpc>
                          <a:spcPts val="1270"/>
                        </a:lnSpc>
                        <a:spcBef>
                          <a:spcPts val="45"/>
                        </a:spcBef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Tech</a:t>
                      </a:r>
                      <a:r>
                        <a:rPr dirty="0" sz="1100" spc="-6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stack: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Next.js,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React,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TypeScript,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Redux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Toolkit,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RTK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Query,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SCSS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Modules,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next-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intl,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MSW,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Zod,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SVGR, Feature-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Sliced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Design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1240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Team: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members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88315" indent="-227965">
                        <a:lnSpc>
                          <a:spcPct val="100000"/>
                        </a:lnSpc>
                        <a:spcBef>
                          <a:spcPts val="215"/>
                        </a:spcBef>
                        <a:buFont typeface="Symbol"/>
                        <a:buChar char=""/>
                        <a:tabLst>
                          <a:tab pos="48831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Migrated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profile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pages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Next.js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Server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Components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integrated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real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backend.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88950" marR="28575" indent="-228600">
                        <a:lnSpc>
                          <a:spcPts val="1250"/>
                        </a:lnSpc>
                        <a:spcBef>
                          <a:spcPts val="130"/>
                        </a:spcBef>
                        <a:buFont typeface="Symbol"/>
                        <a:buChar char=""/>
                        <a:tabLst>
                          <a:tab pos="48895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Built</a:t>
                      </a:r>
                      <a:r>
                        <a:rPr dirty="0" sz="1100" spc="2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reusable</a:t>
                      </a:r>
                      <a:r>
                        <a:rPr dirty="0" sz="110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widgets</a:t>
                      </a:r>
                      <a:r>
                        <a:rPr dirty="0" sz="11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(book</a:t>
                      </a:r>
                      <a:r>
                        <a:rPr dirty="0" sz="1100" spc="1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feed</a:t>
                      </a:r>
                      <a:r>
                        <a:rPr dirty="0" sz="1100" spc="2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100" spc="2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grid</a:t>
                      </a:r>
                      <a:r>
                        <a:rPr dirty="0" sz="110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loading/error/empty</a:t>
                      </a:r>
                      <a:r>
                        <a:rPr dirty="0" sz="110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states,</a:t>
                      </a:r>
                      <a:r>
                        <a:rPr dirty="0" sz="1100" spc="2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profile</a:t>
                      </a:r>
                      <a:r>
                        <a:rPr dirty="0" sz="110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header)</a:t>
                      </a:r>
                      <a:r>
                        <a:rPr dirty="0" sz="110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following Feature-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Sliced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Design.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88315" indent="-227965">
                        <a:lnSpc>
                          <a:spcPts val="1310"/>
                        </a:lnSpc>
                        <a:buFont typeface="Symbol"/>
                        <a:buChar char=""/>
                        <a:tabLst>
                          <a:tab pos="48831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Implemented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fetching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RTK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Query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MSW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mocks,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extracted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shared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utilities.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88315" indent="-227965">
                        <a:lnSpc>
                          <a:spcPct val="100000"/>
                        </a:lnSpc>
                        <a:spcBef>
                          <a:spcPts val="20"/>
                        </a:spcBef>
                        <a:buFont typeface="Symbol"/>
                        <a:buChar char=""/>
                        <a:tabLst>
                          <a:tab pos="48831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Replaced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third-party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normalize/adaptive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libraries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custom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SCSS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solutions.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78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232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u="sng" sz="120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CommunityTech</a:t>
                      </a:r>
                      <a:r>
                        <a:rPr dirty="0" u="sng" sz="1200" spc="-2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20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Group –</a:t>
                      </a:r>
                      <a:r>
                        <a:rPr dirty="0" u="sng" sz="1200" spc="-4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20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Middle</a:t>
                      </a:r>
                      <a:r>
                        <a:rPr dirty="0" u="sng" sz="1200" spc="-2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2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Front-</a:t>
                      </a:r>
                      <a:r>
                        <a:rPr dirty="0" u="sng" sz="120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u="sng" sz="12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developer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314"/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06.2024</a:t>
                      </a:r>
                      <a:r>
                        <a:rPr dirty="0" sz="1200" spc="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 Present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314"/>
                </a:tc>
              </a:tr>
              <a:tr h="2764155">
                <a:tc gridSpan="2">
                  <a:txBody>
                    <a:bodyPr/>
                    <a:lstStyle/>
                    <a:p>
                      <a:pPr marL="31750">
                        <a:lnSpc>
                          <a:spcPts val="1295"/>
                        </a:lnSpc>
                        <a:spcBef>
                          <a:spcPts val="125"/>
                        </a:spcBef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Projects: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ClubFirst,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ClubFirts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Ladies,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ClubFirst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Future,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Opora, Future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Leaders,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AUZ,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CTG,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VQ,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TNE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team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1270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Description:</a:t>
                      </a:r>
                      <a:r>
                        <a:rPr dirty="0" sz="11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applications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business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communities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1750" marR="32384">
                        <a:lnSpc>
                          <a:spcPts val="1250"/>
                        </a:lnSpc>
                        <a:spcBef>
                          <a:spcPts val="75"/>
                        </a:spcBef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Tech</a:t>
                      </a:r>
                      <a:r>
                        <a:rPr dirty="0" sz="1100" spc="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stack:</a:t>
                      </a:r>
                      <a:r>
                        <a:rPr dirty="0" sz="1100" spc="5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Angular,</a:t>
                      </a:r>
                      <a:r>
                        <a:rPr dirty="0" sz="11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TypeScript,</a:t>
                      </a:r>
                      <a:r>
                        <a:rPr dirty="0" sz="1100" spc="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RxJS,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NgRX,</a:t>
                      </a:r>
                      <a:r>
                        <a:rPr dirty="0" sz="1100" spc="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Angular</a:t>
                      </a:r>
                      <a:r>
                        <a:rPr dirty="0" sz="110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Material,</a:t>
                      </a:r>
                      <a:r>
                        <a:rPr dirty="0" sz="1100" spc="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SCSS,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REST</a:t>
                      </a:r>
                      <a:r>
                        <a:rPr dirty="0" sz="110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API,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Swagger,</a:t>
                      </a:r>
                      <a:r>
                        <a:rPr dirty="0" sz="1100" spc="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Webpack,</a:t>
                      </a:r>
                      <a:r>
                        <a:rPr dirty="0" sz="110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Npm,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CI/CD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Gitlab,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Agile,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Scrum,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Kanban,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Jira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1240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Team: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14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members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88950" marR="35560" indent="-228600">
                        <a:lnSpc>
                          <a:spcPts val="1280"/>
                        </a:lnSpc>
                        <a:spcBef>
                          <a:spcPts val="295"/>
                        </a:spcBef>
                        <a:buFont typeface="Symbol"/>
                        <a:buChar char=""/>
                        <a:tabLst>
                          <a:tab pos="48895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Designed</a:t>
                      </a:r>
                      <a:r>
                        <a:rPr dirty="0" sz="1100" spc="2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3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implemented</a:t>
                      </a:r>
                      <a:r>
                        <a:rPr dirty="0" sz="1100" spc="2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dirty="0" sz="1100" spc="3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interfaces</a:t>
                      </a:r>
                      <a:r>
                        <a:rPr dirty="0" sz="1100" spc="3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(profiles,</a:t>
                      </a:r>
                      <a:r>
                        <a:rPr dirty="0" sz="1100" spc="3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chats,</a:t>
                      </a:r>
                      <a:r>
                        <a:rPr dirty="0" sz="1100" spc="3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events,</a:t>
                      </a:r>
                      <a:r>
                        <a:rPr dirty="0" sz="1100" spc="3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booking,</a:t>
                      </a:r>
                      <a:r>
                        <a:rPr dirty="0" sz="1100" spc="3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billing)</a:t>
                      </a:r>
                      <a:r>
                        <a:rPr dirty="0" sz="1100" spc="3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100" spc="2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improved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validation,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error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handling,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enhanced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UX.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88950" marR="27305" indent="-228600">
                        <a:lnSpc>
                          <a:spcPts val="1250"/>
                        </a:lnSpc>
                        <a:spcBef>
                          <a:spcPts val="80"/>
                        </a:spcBef>
                        <a:buFont typeface="Symbol"/>
                        <a:buChar char=""/>
                        <a:tabLst>
                          <a:tab pos="48895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Developed</a:t>
                      </a:r>
                      <a:r>
                        <a:rPr dirty="0" sz="1100" spc="2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configured</a:t>
                      </a:r>
                      <a:r>
                        <a:rPr dirty="0" sz="1100" spc="2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admin</a:t>
                      </a:r>
                      <a:r>
                        <a:rPr dirty="0" sz="110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panels</a:t>
                      </a:r>
                      <a:r>
                        <a:rPr dirty="0" sz="1100" spc="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10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dirty="0" sz="1100" spc="22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flags</a:t>
                      </a:r>
                      <a:r>
                        <a:rPr dirty="0" sz="1100" spc="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role-based</a:t>
                      </a:r>
                      <a:r>
                        <a:rPr dirty="0" sz="1100" spc="2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access,</a:t>
                      </a:r>
                      <a:r>
                        <a:rPr dirty="0" sz="1100" spc="2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ensuring</a:t>
                      </a:r>
                      <a:r>
                        <a:rPr dirty="0" sz="1100" spc="2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flexible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functionality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management.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88950" marR="34290" indent="-228600">
                        <a:lnSpc>
                          <a:spcPts val="1270"/>
                        </a:lnSpc>
                        <a:spcBef>
                          <a:spcPts val="80"/>
                        </a:spcBef>
                        <a:buFont typeface="Symbol"/>
                        <a:buChar char=""/>
                        <a:tabLst>
                          <a:tab pos="48895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Delivered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9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customized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platform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versions</a:t>
                      </a:r>
                      <a:r>
                        <a:rPr dirty="0" sz="110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different</a:t>
                      </a:r>
                      <a:r>
                        <a:rPr dirty="0" sz="110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clients</a:t>
                      </a:r>
                      <a:r>
                        <a:rPr dirty="0" sz="110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(UI/UX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adaptation,</a:t>
                      </a:r>
                      <a:r>
                        <a:rPr dirty="0" sz="110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branding)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aligned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corporate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styles.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88950" marR="34290" indent="-228600">
                        <a:lnSpc>
                          <a:spcPts val="1270"/>
                        </a:lnSpc>
                        <a:spcBef>
                          <a:spcPts val="75"/>
                        </a:spcBef>
                        <a:buFont typeface="Symbol"/>
                        <a:buChar char=""/>
                        <a:tabLst>
                          <a:tab pos="48895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Contributed</a:t>
                      </a:r>
                      <a:r>
                        <a:rPr dirty="0" sz="110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integrating</a:t>
                      </a:r>
                      <a:r>
                        <a:rPr dirty="0" sz="110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dirty="0" sz="110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projects</a:t>
                      </a:r>
                      <a:r>
                        <a:rPr dirty="0" sz="110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dirty="0" sz="110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monorepo,</a:t>
                      </a:r>
                      <a:r>
                        <a:rPr dirty="0" sz="110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simplifying</a:t>
                      </a:r>
                      <a:r>
                        <a:rPr dirty="0" sz="110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development</a:t>
                      </a:r>
                      <a:r>
                        <a:rPr dirty="0" sz="110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accelerating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releases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(by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30–40%).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88315" indent="-227965">
                        <a:lnSpc>
                          <a:spcPts val="1315"/>
                        </a:lnSpc>
                        <a:buFont typeface="Symbol"/>
                        <a:buChar char=""/>
                        <a:tabLst>
                          <a:tab pos="48831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Participated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reviews,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UI-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kit development,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improving development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processes.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88950" marR="30480" indent="-228600">
                        <a:lnSpc>
                          <a:spcPts val="1250"/>
                        </a:lnSpc>
                        <a:spcBef>
                          <a:spcPts val="125"/>
                        </a:spcBef>
                        <a:buFont typeface="Symbol"/>
                        <a:buChar char=""/>
                        <a:tabLst>
                          <a:tab pos="48895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Represented</a:t>
                      </a:r>
                      <a:r>
                        <a:rPr dirty="0" sz="110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frontend</a:t>
                      </a:r>
                      <a:r>
                        <a:rPr dirty="0" sz="110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team</a:t>
                      </a:r>
                      <a:r>
                        <a:rPr dirty="0" sz="110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daily</a:t>
                      </a:r>
                      <a:r>
                        <a:rPr dirty="0" sz="110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stand-ups,</a:t>
                      </a:r>
                      <a:r>
                        <a:rPr dirty="0" sz="1100" spc="2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handled</a:t>
                      </a:r>
                      <a:r>
                        <a:rPr dirty="0" sz="110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releases,</a:t>
                      </a:r>
                      <a:r>
                        <a:rPr dirty="0" sz="1100" spc="2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participated</a:t>
                      </a:r>
                      <a:r>
                        <a:rPr dirty="0" sz="110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planning</a:t>
                      </a:r>
                      <a:r>
                        <a:rPr dirty="0" sz="110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task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estimation,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coordinated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work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other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teams.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87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870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u="sng" sz="120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Freelance</a:t>
                      </a:r>
                      <a:r>
                        <a:rPr dirty="0" u="sng" sz="1200" spc="-35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20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u="sng" sz="1200" spc="-3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20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Frontend</a:t>
                      </a:r>
                      <a:r>
                        <a:rPr dirty="0" u="sng" sz="1200" spc="-25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2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developer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794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12.2023</a:t>
                      </a:r>
                      <a:r>
                        <a:rPr dirty="0" sz="1200" spc="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 06.2024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/>
                </a:tc>
              </a:tr>
              <a:tr h="692150">
                <a:tc gridSpan="2">
                  <a:txBody>
                    <a:bodyPr/>
                    <a:lstStyle/>
                    <a:p>
                      <a:pPr marL="31750">
                        <a:lnSpc>
                          <a:spcPts val="1295"/>
                        </a:lnSpc>
                        <a:spcBef>
                          <a:spcPts val="125"/>
                        </a:spcBef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Project: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Times New Roman"/>
                          <a:cs typeface="Times New Roman"/>
                          <a:hlinkClick r:id="rId7"/>
                        </a:rPr>
                        <a:t>cctv-</a:t>
                      </a:r>
                      <a:r>
                        <a:rPr dirty="0" u="sng" sz="110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Times New Roman"/>
                          <a:cs typeface="Times New Roman"/>
                          <a:hlinkClick r:id="rId7"/>
                        </a:rPr>
                        <a:t>montaj.ru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1270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Description: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Website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company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specializing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CCTV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installation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1295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Tech</a:t>
                      </a:r>
                      <a:r>
                        <a:rPr dirty="0" sz="1100" spc="-6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stack: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HTML5,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CSS3,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SCSS,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JS,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jQuery,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PHP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88315" indent="-227965">
                        <a:lnSpc>
                          <a:spcPts val="1240"/>
                        </a:lnSpc>
                        <a:spcBef>
                          <a:spcPts val="120"/>
                        </a:spcBef>
                        <a:buSzPct val="90909"/>
                        <a:buFont typeface="Symbol"/>
                        <a:buChar char=""/>
                        <a:tabLst>
                          <a:tab pos="48831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Implemented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responsive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layouts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interactive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elements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(burger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menus,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pop-ups,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forms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validation)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87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618540" y="9905186"/>
            <a:ext cx="2070735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latin typeface="Times New Roman"/>
                <a:cs typeface="Times New Roman"/>
              </a:rPr>
              <a:t>EDUCATION</a:t>
            </a:r>
            <a:r>
              <a:rPr dirty="0" sz="1400" spc="-6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(Bachelor's)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8540" y="334771"/>
            <a:ext cx="6414135" cy="216979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254000">
              <a:lnSpc>
                <a:spcPts val="1270"/>
              </a:lnSpc>
              <a:spcBef>
                <a:spcPts val="185"/>
              </a:spcBef>
            </a:pPr>
            <a:r>
              <a:rPr dirty="0" sz="1100" b="1">
                <a:latin typeface="Times New Roman"/>
                <a:cs typeface="Times New Roman"/>
              </a:rPr>
              <a:t>Gomel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State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Technical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University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named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after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P.O.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Sukhoi, </a:t>
            </a:r>
            <a:r>
              <a:rPr dirty="0" sz="1100">
                <a:latin typeface="Times New Roman"/>
                <a:cs typeface="Times New Roman"/>
              </a:rPr>
              <a:t>«Production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Organization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Management», </a:t>
            </a:r>
            <a:r>
              <a:rPr dirty="0" sz="1100">
                <a:latin typeface="Times New Roman"/>
                <a:cs typeface="Times New Roman"/>
              </a:rPr>
              <a:t>Bachelor`s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degree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(2008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2013)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195"/>
              </a:lnSpc>
            </a:pPr>
            <a:r>
              <a:rPr dirty="0" sz="1100" b="1">
                <a:latin typeface="Times New Roman"/>
                <a:cs typeface="Times New Roman"/>
              </a:rPr>
              <a:t>«RS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School»</a:t>
            </a:r>
            <a:r>
              <a:rPr dirty="0" sz="1100">
                <a:latin typeface="Times New Roman"/>
                <a:cs typeface="Times New Roman"/>
              </a:rPr>
              <a:t>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online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training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course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«UpSkill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Me»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(JS/Front-</a:t>
            </a:r>
            <a:r>
              <a:rPr dirty="0" sz="1100">
                <a:latin typeface="Times New Roman"/>
                <a:cs typeface="Times New Roman"/>
              </a:rPr>
              <a:t>End)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(Dec,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2022—Aug,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2023)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b="1">
                <a:latin typeface="Times New Roman"/>
                <a:cs typeface="Times New Roman"/>
              </a:rPr>
              <a:t>«EPAM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Learn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Platform»</a:t>
            </a:r>
            <a:r>
              <a:rPr dirty="0" sz="1100">
                <a:latin typeface="Times New Roman"/>
                <a:cs typeface="Times New Roman"/>
              </a:rPr>
              <a:t>, online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training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course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«IT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Fundamentals»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(Nov,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2022)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spc="-10" b="1">
                <a:latin typeface="Times New Roman"/>
                <a:cs typeface="Times New Roman"/>
              </a:rPr>
              <a:t>SKILLS</a:t>
            </a: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ts val="1300"/>
              </a:lnSpc>
              <a:spcBef>
                <a:spcPts val="60"/>
              </a:spcBef>
            </a:pPr>
            <a:r>
              <a:rPr dirty="0" sz="1100" spc="-10">
                <a:latin typeface="Times New Roman"/>
                <a:cs typeface="Times New Roman"/>
              </a:rPr>
              <a:t>HTML5,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CSS3,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JavaScript,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TypeScript,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Angular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2+,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Angular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Material,</a:t>
            </a:r>
            <a:r>
              <a:rPr dirty="0" sz="1100" spc="-10">
                <a:latin typeface="Times New Roman"/>
                <a:cs typeface="Times New Roman"/>
              </a:rPr>
              <a:t> React,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Next.js,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RxJS,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NgRX,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Redux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Toolkit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5500"/>
              </a:lnSpc>
              <a:spcBef>
                <a:spcPts val="35"/>
              </a:spcBef>
            </a:pPr>
            <a:r>
              <a:rPr dirty="0" sz="1100">
                <a:latin typeface="Times New Roman"/>
                <a:cs typeface="Times New Roman"/>
              </a:rPr>
              <a:t>/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RTK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Query,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Zod,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WebSocket,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Swagger,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MSW,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SCSS,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Tailwind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CSS,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SVGR,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next-intl,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Vitest,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Jest,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React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Testing </a:t>
            </a:r>
            <a:r>
              <a:rPr dirty="0" sz="1100">
                <a:latin typeface="Times New Roman"/>
                <a:cs typeface="Times New Roman"/>
              </a:rPr>
              <a:t>Library,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Git,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Vite,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Webpack,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Npm,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GitLab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CI/CD,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Accessibility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(a11y),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Performance,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Figma,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Photoshop, </a:t>
            </a:r>
            <a:r>
              <a:rPr dirty="0" sz="1100">
                <a:latin typeface="Times New Roman"/>
                <a:cs typeface="Times New Roman"/>
              </a:rPr>
              <a:t>Claude,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Cursor,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BEM,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OOP,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SOLID,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FIRST,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FSD,</a:t>
            </a:r>
            <a:r>
              <a:rPr dirty="0" sz="1100" spc="-10">
                <a:latin typeface="Times New Roman"/>
                <a:cs typeface="Times New Roman"/>
              </a:rPr>
              <a:t> Agile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(Scrum,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Kanban)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400" spc="-10" b="1">
                <a:latin typeface="Times New Roman"/>
                <a:cs typeface="Times New Roman"/>
              </a:rPr>
              <a:t>LANGUAGES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100" b="1">
                <a:latin typeface="Times New Roman"/>
                <a:cs typeface="Times New Roman"/>
              </a:rPr>
              <a:t>Russian</a:t>
            </a:r>
            <a:r>
              <a:rPr dirty="0" sz="1100" spc="-40" b="1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 native,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English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B1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(Intermediate)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3ebr0met@gmail.com</dc:creator>
  <dcterms:created xsi:type="dcterms:W3CDTF">2026-06-03T18:26:46Z</dcterms:created>
  <dcterms:modified xsi:type="dcterms:W3CDTF">2026-06-03T18:26:46Z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2026-06-03T00:00:00Z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2026-06-03T00:00:00Z</vt:filetime>
  </property>
  <property fmtid="{D5CDD505-2E9C-101B-9397-08002B2CF9AE}" pid="5" name="Producer">
    <vt:lpwstr>www.ilovepdf.com</vt:lpwstr>
  </property>
</Properties>
</file>